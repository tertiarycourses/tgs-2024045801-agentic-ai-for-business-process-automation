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Agentic AI for Business Process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TGS-2024045801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TSC: Artificial Intelligence Application  ·  AER-TEM-3026-1.1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v2.3  ·  16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82" y="1737360"/>
            <a:ext cx="8270955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32582" y="1724660"/>
            <a:ext cx="8296355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(TSC)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AER-TEM-3026-1.1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Mapped to the national framework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WSQ course is mapped to the SkillsFuture Singapore Skills Framework.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Fully assessed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assessment covers every Ability (A) and Knowledge (K) statement listed next.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Abilities and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ABILITIES (assessed by the 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A1 Implement AI applications in collaboration with technology service providers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A2 Deploy AI workflows according to plan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A3 Identify and report any issues with the AI applications and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 (assessed by the WA)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K1 Background and basics of AI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K2 Fundamental concepts and methods of statistics and programming for data science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K3 Mathematics and computing theories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K4 Machine learning techniques and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K5 Principles of data management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K6 Software development methodologies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K7 Types of AI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K8 AI implementation 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1: Why agentic AI, and why workflow first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fundamentals → Lab 1 — trigger, action and QR flyer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AI agent building blocks and webhooks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2 — Webhook and AI Agent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Loop, RAG and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2: Agentic chatbot and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3 — Chatbot webhook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4 —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3: RAG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Final Assessment (WA + PP)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 instruction, assessment to 8:45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8 instructional hours: a 1-hour lunch is excluded, and the two 15-minute tea breaks are counted within the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what n8n and AI agents are, and build workflows using triggers and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 AI agent applications triggered by webhooks and integrated with business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agentic chatbot workflows that operate within business and regulatory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human approval so that sensitive actions are authorised by a named person.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 Retrieval-Augmented Generation to ground an agent in your organisation's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Assessed Competent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Both are required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Both criteria must be met for the course fee funding to be granted.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agentic AI · Workflow first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 BRIEF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Brief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year moved the skill that matters — from the words you type to the system you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Harness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Wording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ChatGPT goes mainstream. Results depend on how well you word the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Curating the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Models call tools and MCP launches. Results depend on the documents, data and tools you supply.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Building the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Claude Code and Codex: systems that plan, act and check their own work in a loop.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Agents at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Always-on agents work 24/7 — OpenClaw, Hermes Agent and agent teams take on whole jobs.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From wording one prompt → curating context → engineering the harness → AI agents that work around the clock.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GENERATIVE VS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AGENTIC AI VS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vs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agents are a special type of agentic AI system — the kind that never switches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the broad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Any AI system that pursues a goal over many steps: plans, acts through tools, checks the result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started by a person or a trigger, and stops when the task is done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Built as a workflow with AI steps, or around an LLM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Includes the orchestration, guardrails and human approvals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a Claude Code or Codex session; an n8n workflow with AI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Agents — always-on agentic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special type of agentic AI system that exists 24/7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installed in the cloud, so it serves all the time — no laptop needs to be open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Waits for events — messages, emails, webhooks, schedules — and acts on them around the clock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Keeps its memory across conversations and days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OpenClaw, Hermes Agent, an n8n agent on a cloud instance behind a webhook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AI agent is agentic AI, but not every agentic AI is an AI agent — an AI agent is always on, serving 24/7 from the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WORKFLOW FIRST VS AGENT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Workflow first evolves rule-based (RPA) automation: the workflow owns the path, and its steps can be AI or AI agents, as in n8n.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Who decides the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317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31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— steps may be AI nodes or AI Agent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317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31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decides the steps and tools at run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7889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7889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— same input, same path,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7889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7889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Probabilistic — the path can change between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2461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2461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More effort to design every branch up front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2461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2461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Efficient — one instruction replaces many hand-built branches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Reliability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7033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7033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Easy to test, debug and certify step by step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033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7033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Harder to test; edge cases surface in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Cost &amp;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1605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160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only where needed — cheap and fast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605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160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at every step — more tokens, more latency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177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17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6177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256" y="4617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Repeatable, regulated, high-volume processes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6177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1776" y="4617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Open-ended tasks with unpredictable 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Source: n8n, In The Loop 2026 — opening keynote and product direction (youtube.com/watch?v=KQRe5UurLQ0)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first is more deterministic; agent first is more efficient. Companies make as much deterministic as they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THE MODERN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Trend: AI-Assisted Workflow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AI-powered coding has flipped the trade-off — the agent's efficiency goes into BUILDING the workflow, not running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process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n8n Assistant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or Claude Code / Codex drafts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You review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test and approve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deterministic and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and agent nodes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where judgement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Companies want determinism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Reliability, compliance and audit push businesses to make as much of a process deterministic as 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 coding made it cheap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Assistant, Claude Code and Codex are AI agents themselves — they make designing, building and changing workflows fast and cheap.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best of both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BUILDS the workflow; a deterministic workflow RUNS the process, with AI and AI Agent nodes where judgement is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trend: AI-assisted workflow creation — the AI builds the workflow, and the workflow runs the business process.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 — and AI now helps build at every one of them.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20823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Drag and drop in a fully visual builder.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Lowest.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20823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AI-assisted: n8n Assistant, Claude Code or Codex drafts the workflow on a visual canvas.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CODE WHEN NEEDED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JavaScript or Python in a Code node where a built-in node is not enough.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High.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20823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generates the code — Claude Code or Codex write it, instead of coding manually.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Highest — the most customisable tier. SDKs and frameworks such as LangChain, with real engineering effort to test and run.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" y="5230368"/>
            <a:ext cx="10634472" cy="365760"/>
          </a:xfrm>
          <a:prstGeom prst="rightArrow">
            <a:avLst/>
          </a:prstGeom>
          <a:solidFill>
            <a:srgbClr val="F5F8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3036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Less control, less effort   ·   more customisation, more engineering effort 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drafts the workflow in low-code and writes the code in full-code. n8n: analysts build it, engineers extend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Workflow-First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modern view: what a business gains when AI builds the workflow and the workflow runs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Reliable and predictable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input follows the same path every time, so the process can be tested and trusted like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step holds only the data and credentials it needs; risky actions wait at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Auditable end to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— you can explain, replay and correct any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Lower running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steps cost nothing in tokens; the LLM is called only where judgement is needed.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Faster to build and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and Codex draft the workflow in minutes; your team reviews, tests and owns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around the clock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Triggers respond in real time, 24/7 — ten times the volume costs compute, not ten more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where judgement is needed, workflow everywhere else — reliability you can audit, at a cost you can predict.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 Principles of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2075687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1620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Data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your data — public, internal, confidential — and decide exactly which data the AI may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8748" y="2075687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8748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Permission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only the rights needed — read, write, edit, delete. Ask before anything destructive.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65876" y="2075687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5876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WHO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person reviews and approves high-impact actions — payments, deletions, customer emails.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2075687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3004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HAPPENED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every prompt, tool call and change so actions can be audited, explained and rolled 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0132" y="2075687"/>
            <a:ext cx="457200" cy="457200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0132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62F2F"/>
                </a:solidFill>
                <a:latin typeface="Arial"/>
              </a:rPr>
              <a:t>Right-Sized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NOT THE MOST POWERFUL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smallest model that does the job carries less autonomy and less risk than the most powerful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n8n: scoped credentials per node, approval gates (Send and Wait), the Executions log, and a small model per AI step.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 —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fixed path limits the blast radius: a manipulated AI step cannot reach tools that are not wired 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86583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86583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8658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86583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node sees only the fields wired into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86583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86583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can reach any data its tools expose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7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98647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Permission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98647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898647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credential is scoped to one node and one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98647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898647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holds every tool's rights at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1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1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410711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410711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approval gate sits at a fixed, designed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410711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410711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Depends on the agent choosing to 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22775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22775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22775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922775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in Executions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922775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922775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Reasoning varies run to run and is harder to explain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434839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43483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Right-sized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43483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43483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model for each narrow AI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434839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43483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One capable model with broad autonomy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path is fixed, so every control is designed in rather than hoped for — that is why regulated processes stay workflow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workflow-first agentic AI platform: the workflow owns the path, and AI and AI Agent nodes sit inside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is workflow-first agentic AI — deterministic workflows with AI and agents built in, on one canvas.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TRAINING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Training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learner signs in to n8n with ONE assigned account. Use only the account your trainer gives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874519"/>
            <a:ext cx="45720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187451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874519"/>
            <a:ext cx="459943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187451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35000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6776" y="235000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n8n18oct1@tertiaryinfotech.com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350007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235000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n8n18oct7@tertiaryinfotech.com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2825495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36776" y="2825495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n8n18oct2@tertiaryinfotech.com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825495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825495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n8n18oct8@tertiaryinfotech.com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300983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6776" y="3300983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n8n18oct3@tertiaryinfotech.com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300983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0296" y="3300983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n8n18oct9@tertiaryinfotech.com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3776471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36776" y="3776471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n8n18oct4@tertiaryinfotech.com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3776471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0296" y="3776471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n8n18oct10@tertiaryinfotech.com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251959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36776" y="425195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n8n18oct5@tertiaryinfotech.com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251959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296" y="425195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n8n18oct11@tertiaryinfotech.com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4727447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36776" y="472744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n8n18oct6@tertiaryinfotech.com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877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4727447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296" y="472744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n8n18oct12@tertiaryinfotech.com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Password: provided by your trainer in class   ·   Do not change the password or save real credentials in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 In to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app.n8n.cloud/login — or open your own instance URL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assigned account email, e.g. n8n18oct5@tertiaryinfotech.com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the password your trainer gives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instance from the dashboard — a free 14-day trial, active through the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land in n8n — open Assistant or Overview to start building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account is already set up — the name is your email prefix and onboarding is done. Do not change the password.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AI-ASSISTED WORKFLOW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Assistant — Describe It, n8n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71" y="1737360"/>
            <a:ext cx="8572977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81571" y="1724660"/>
            <a:ext cx="8598377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Open Assistant in the left sidebar and answer "What do you want to automate?". It plans, builds and tests a normal n8n workflow you can inspect, edit and publish. Assistant chats use the plan's monthly Assistant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Demo: Build a Social Media Campaign Workflow with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 n8n Assistant one clear prompt — it plans and builds the workflow below, with a human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enter a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 + web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writes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email approve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Schedule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wait, then publish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80360"/>
            <a:ext cx="65836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62179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 a workflow for a social media marketing campaign: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 Start from a form where I enter a campaign topic.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 Research the topic on the web and summarise 3 key points.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 Draft a LinkedIn post under 150 words from the research.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 Email me the draft and wait for my approval before posting.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5. If approved, schedule the post for 9am the next weekday;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    if rejected, log my feedback in a Google Sheet.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Gateway credits for the AI model. Ask me before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880360"/>
            <a:ext cx="3822191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900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10128"/>
            <a:ext cx="3429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Connect Gmail and the social account when it asks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Test with a real topic and approve the draft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Publish only when the run looks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AI built it; the workflow runs it — and nothing is posted until a person approves the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published.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after you click Publish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first n8n workflow: a form emails each sign-up to the administrator, then you publish it and put its QR code on an event flyer.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copy the Production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QR code flyer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anyone scans to sign up</a:t>
            </a:r>
          </a:p>
        </p:txBody>
      </p:sp>
      <p:pic>
        <p:nvPicPr>
          <p:cNvPr id="18" name="Picture 17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→  Publish  →  QR-code flyer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1: Add the n8n Form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add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11" y="1600200"/>
            <a:ext cx="5436489" cy="40690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5911" y="1587500"/>
            <a:ext cx="5461889" cy="409447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orm-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20" y="1600200"/>
            <a:ext cx="3920921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76720" y="1587500"/>
            <a:ext cx="3946321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Click Add first step (+), search 'form' and choose n8n Form → On new n8n Form event. Then add the Name, Email, Phone and Message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2: Gmail — Send a Message with Expressions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gmail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1" y="1775445"/>
            <a:ext cx="2800121" cy="37185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1" y="1762745"/>
            <a:ext cx="2825521" cy="37439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gmail-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82" y="1775445"/>
            <a:ext cx="7560028" cy="37185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38982" y="1762745"/>
            <a:ext cx="7585428" cy="37439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Gmail → Send a message. Switch Message to Expression and drag in the form fields — the Result panel previews the email before you run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3: Publish and Copy the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first: Execute workflow, submit the test form, check the email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Click Publish (top right of the editor) — the workflow is now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Form Trigger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Switch the form URL from Test URL to Production 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Copy the Production URL — this is what the QR code will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Test URL answers one submission while you watch; a PUBLISHED workflow's Production URL works for everyone.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4: Create a Flyer with the QR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Paste the Production URL into alfredang.github.io/qrcodegenerator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QR code as a 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the flyer — Canva, PowerPoint or an AI image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QR code with a clear 'Scan to register' call-to-action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 it — classmates scan, register, and the admin is emailed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two-node workflow is now a real sign-up channel: anyone with a phone can register by scanning your flyer.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Flyers from Previous Learners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flyer-learn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2" y="2349763"/>
            <a:ext cx="1712523" cy="2569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lyer-learn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85" y="2349763"/>
            <a:ext cx="1817657" cy="2569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51385" y="2337063"/>
            <a:ext cx="1843057" cy="25953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b1-flyer-learne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062" y="2349763"/>
            <a:ext cx="1712523" cy="25699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4336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te-lab1-fl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905" y="2349763"/>
            <a:ext cx="4568805" cy="256995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30205" y="2337063"/>
            <a:ext cx="4594205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QR code encodes the form's Production URL — scan it, register, and the event administrator receives the details by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Compare with the Reference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import-from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64" y="1600200"/>
            <a:ext cx="7290624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6464" y="1587500"/>
            <a:ext cx="7316024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NEW workflow, open the '...' menu → Import → From File and pick Lab 1 - Event Flyer with QR Code.json, so your own build is not overwritten.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 1 - Event Flyer with QR Code.json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published.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Before Lab 2 — The Building Blocks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 1 was a trigger and an action. Lab 2 adds an AI Agent that decides — these six blocks are what it is made 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hub that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LLM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 &amp; MCP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may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Instructions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rules it follows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remembers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how the world calls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Lab 1 had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Form Trigger and a Gmail action. Every submission follows the same fixed path — no judgement anywhere.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What Lab 2 adds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node with a model, three tools and the bank's rules, deciding APPROVED, REJECTED, REVIEW or DUPLICATE.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changes at the front door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n8n form is replaced by a real bank website that POSTs to a Webhook and reads the decision back.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 the six blocks one at a time, then watch them work together in Lab 2.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an AI Agent? — The Agent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Given a goal, an agent does not answer once. It works in a loop until the goal is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goal, rules, memory,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decide the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call a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check against 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Repeat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until done, then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Everything the agent can see: the goal, its instructions, memory of the conversation, and what earlier tool calls returned.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2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reasons over the context and chooses the next step — which tool to call, with what input, or whether it is finished.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3 ·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calls a tool: look up a record, write a row, send an email. This is where it acts on the world.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4 · Verify and 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tool's result goes back into the context and is checked against the goal. Not done? Plan again. Done? Reply.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turn of the loop is an LLM call — so cap it (Max Iterations on the AI Agent node) and log every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node. n8n lists each provider's live models — swap the brain,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4 Argon · Gemini 3.8 Flash · Gemini 3.1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(Gemini Flash)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GPT-6 Astra · GPT-6.1 Sol · GPT-6 Luna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Newest family; GPT-5.x models remain in the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Opus 5.5 · Sonnet 5.5 · Haiku 5.5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context; Haiku is fast and cheap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4 (Scout, Maverick)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self-hosted, e.g. with Ollama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Large 4 · Mistral Medium 3.5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European option, with open-weight models too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FREE AI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Your Free AI Credits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to n8n Cloud with your training account — the free trial includes Gateway credits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 workflow and add an AI node, e.g. AI Agent → Gemini or OpenAI Chat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the node's Credential field, choose Use Gateway credits — your balance shows beside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Pick a supported model and run the node — no provider account or API key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 the balance on the node, or in Admin Panel → Gateway credits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red "Free AI credits — Enable to claim credits" toast is the legacy OpenAI offer: Gateway instances don't get it. Use Gateway credits.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course fee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published (Publish, top right).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 PUBLISHED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— How the Building Blocks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Website → Webhook → AI Agent → Respond. Every block you have just learned has one job in this 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Building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44805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1828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 this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828800"/>
            <a:ext cx="4050791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828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86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Webhook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2860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2286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Webhook — POST /marina-trust-onboarding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2860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286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website's front door; Respond to Website returns the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3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AI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7432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2743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7432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743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Applies the bank's onboarding rules and decides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004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004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004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32004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(Gateway credits)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2004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32004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LLM brain — keep the temperature low for repeatable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576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576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Tools &amp; MCP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6576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36576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 · create_customer_record · send_confirmation_email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36576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36576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agent chooses when to call each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14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1148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4114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System message: eligibility rules, age check, four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41148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4114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Where the bank's policy actually lives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5720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572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45720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8376" y="4572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None — deliberately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45720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8936" y="4572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One applicant must never influence the next decision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0292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029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50292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08376" y="5029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Decision Parser — decision, reason, riskFlags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50292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8936" y="5029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Lets the page colour the result card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Six building blocks, one workflow: the webhook brings the applicant in, the agent decides, the page shows the result.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The Onboarding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canvas. The main chain runs left to right; the agent's model, tools and parser hang beneath it.</a:t>
            </a:r>
          </a:p>
        </p:txBody>
      </p:sp>
      <p:pic>
        <p:nvPicPr>
          <p:cNvPr id="7" name="Picture 6" descr="n8n-flow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44" y="1783080"/>
            <a:ext cx="6185464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89044" y="1770380"/>
            <a:ext cx="6210864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Front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site POSTs to Onboarding Webhook; Normalise Application tidies the fields the agent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 applies the bank's rules with its chat model; Decision Parser returns decision, reason and riskFlags.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Three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check_duplicate_customer, create_customer_record and send_confirmation_email — the agent chooses when to call each.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Log and 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Log Decision appends an audit row to Google Sheets; Respond to Website sends the decision back to the page.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dashed lines are the agent's sub-nodes: it calls them when it decides to — the solid chain always runs in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Rule-Based vs Agentic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 an agentic workflow the LLM makes the routing decisions. You still design the process, the guardrails and the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RULE-BASED (RPA) — every branch wired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Predictable: the same input always takes the same path.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Easy to audit — every decision is a rule you can read.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Breaks on anything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fixed, high-volume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— the LLM chooses the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Understands free text and intent.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cases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Needs guardrails and logging to stay safe.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varied, language-driven work — like a chatbot.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What you hand over is the judgement about which path a case takes — never the design of the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Designing a Safe Agentic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design rules that turn a helpful chatbot into one a regulated firm can put on its website. This is Lab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Define the role narrowly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chatbot built for one job refuses far more reliably than a general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Write the prohibitions explicitly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recommend a product, predict a return or guarantee an outcome — spelled out, not implied.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Add a fallback sentence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'When in doubt, say less and offer a consultation' does more compliance work than clever wording.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Gate what must be collected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answer until the firm can contact the visitor — name, telephone and email.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Keep a small FAQ in the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Nine short answers a compliance officer can review in one sitting. RAG is for larger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Key memory on the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Follow-up questions keep their context, and two visitors never see each other's conversation.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system message is a compliance control. Test it with the questions you most fear, not the ones you hope for.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An HR Policy Chatbot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is a chatbot? An agent behind a chat channel. Build one on Telegram first — then Lab 3 puts one behind a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Telegram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 employee messages the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HR Agent — Ava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HR policies +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Chat 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Gateway credits, no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Reply on Telegram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back to the same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1638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Ava knows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Sample HR policies written into the system instruction — leave, sick leave, claims, hours, probation.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1638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Guardrails in the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only from the policies, never invent a number, and refer salary, medical or disciplinary questions to HR.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1638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Same agent, new front door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Telegram Trigger is the front door here. Lab 3 puts the same kind of agent behind a website.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 will: create a bot with BotFather  →  build the workflow with n8n Assistant  →  connect, publish and chat.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1: Create a Telegram Bot with BotFather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Telegram and search for BotFather (blue checkmark)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 chat and send /newbot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 a display name, e.g. My Free Helper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 unique username ending in bot, e.g. my_free_helper_bot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Copy the HTTP API token BotFather sends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token is the bot's password — never share or commit it. If it leaks, send /revoke to BotFather for a new one.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n8n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2: Build the Workflow with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a new workflow, open n8n Assistant and paste this prompt — it plans and builds the chatbot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583680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621792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a 3-node workflow: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A user posts a message to a Telegram bot.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Telegram sends the data to an HR agent.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The HR agent responds to the user on the company HR policies. Create a system instruction for the HR agent with sample company policies in it. The HR agent has a memory.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Respond to Telegram.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828800"/>
            <a:ext cx="3822191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86000"/>
            <a:ext cx="3429000" cy="3154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Read the system instruction it wrote — edit the sample policies if you like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Check a memory node is attached to the HR agent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Stuck? Import the reference solution instead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Reference solution: labs/lab3-chatbot-webhook/Lab 3 Demo - Telegram HR Policy Agent.json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The Workflow n8n Assistant 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canvas should look like this: trigger, agent, reply — with the chat model and memory hanging under the agent.</a:t>
            </a:r>
          </a:p>
        </p:txBody>
      </p:sp>
      <p:pic>
        <p:nvPicPr>
          <p:cNvPr id="7" name="Picture 6" descr="n8n-flow-telegram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51" y="1783080"/>
            <a:ext cx="525625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53651" y="1770380"/>
            <a:ext cx="5281650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Telegram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Updates: message — every message sent to the bot starts one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Ava's role, rules and sample HR policies live in the system instruction n8n Assistant wrote.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model on Gateway credits; memory keeps each employee's conversation, keyed on the Telegram chat 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Reply on Telegram sends back to the chat ID the trigger received, so the reply lands in the same chat.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Shown: the reference solution, which has no memory. Yours has a memory node — the prompt asked for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3: Connect the Bot, Publish and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Trigger → Credential → Create new → paste the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reply node → select the same credential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Chat model → Use Gateway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— n8n registers its webhook with Telegram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t.me/&lt;username&gt;, tap Start, ask about annual leave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Telegram bot has ONE webhook at a time — testing in the editor swaps in the Test URL, so publish again when you are done.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Chatting with Ava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/start opens the chat — Ava introduces herself exactly as her system message tells her 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how many days of leave you get: the answer quotes the policy — 14, 18 or 21 days by length of service.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a follow-up — memory keeps the context. Then ask about a colleague's salary: Ava must refer you to HR.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Every message is one workflow run — open Executions in n8n to watch it happen.</a:t>
            </a:r>
          </a:p>
        </p:txBody>
      </p:sp>
      <p:pic>
        <p:nvPicPr>
          <p:cNvPr id="7" name="Picture 6" descr="telegram-cha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03" y="1691640"/>
            <a:ext cx="3348745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3503" y="1678940"/>
            <a:ext cx="3374145" cy="39573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bot is only as safe as its system message. Lab 3 adds a contact gate and a refusal rule, behind a website.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2.5 Flash, temp 0.2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3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The Chatbot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canvas: webhook in, normalise, agent, shape the reply, respond. The intelligence is in the system message.</a:t>
            </a:r>
          </a:p>
        </p:txBody>
      </p:sp>
      <p:pic>
        <p:nvPicPr>
          <p:cNvPr id="7" name="Picture 6" descr="n8n-flow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75" y="1783080"/>
            <a:ext cx="6157802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02875" y="1770380"/>
            <a:ext cx="6183202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Message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Webhook receives each message from the widget; Normalize Chat Message shapes it for the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Investment Advisor AI holds the contact gate, the non-advisory rule and the nine-question FAQ.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(temperature 0.2) and Website Chat Memory keyed on the visitor's sessionId.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Response Body builds the JSON reply; Respond to Chat returns it to the widget.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warning on the Gemini node means no credential is selected yet — choosing your Gemini credential is the first fix after import.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completed answers at lms-tms.tertiaryinfotech.com.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