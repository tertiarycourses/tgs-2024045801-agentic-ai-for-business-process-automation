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Agentic AI for Business Process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TGS-2024045801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TSC: Artificial Intelligence Application  ·  AER-TEM-3026-1.1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v2.5  ·  17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AI, automation and software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agentic AI, workflow automation (n8n) and app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starting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automation or AI tools — including none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pain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business process in your work you would most like to automate.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you want to be able to build by the end of this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82" y="1737360"/>
            <a:ext cx="8270955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32582" y="1724660"/>
            <a:ext cx="8296355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registered email and click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 in the one-time password from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and download the slides +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— the assessment is open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THE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the Course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 lab ships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ready-made n8n workflow (.json) sits in each lab's folder under labs/.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n8n: Workflows → Add workflow → the '...' menu → Import from File → pick the lab 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Re-select your credentials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After importing, re-select YOUR OWN credentials on every node showing a warning.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Nothing of yours is shared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Imported workflows reference credential NAMES, not secrets — no key travels in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(TSC)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AER-TEM-3026-1.1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Mapped to the national framework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WSQ course is mapped to the SkillsFuture Singapore Skills Framework.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Fully assessed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assessment covers every Ability (A) and Knowledge (K) statement listed next.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TSC Abilities and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ABILITIES (assessed by the 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A1 Implement AI applications in collaboration with technology service providers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A2 Deploy AI workflows according to plan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A3 Identify and report any issues with the AI applications and data collected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KNOWLEDGE (assessed by the WA)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K1 Background and basics of AI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K2 Fundamental concepts and methods of statistics and programming for data science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K3 Mathematics and computing theories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K4 Machine learning techniques and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K5 Principles of data management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K6 Software development methodologies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K7 Types of AI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K8 AI implementation procedures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1 — n8n, AI Agents and Agentic Chatbots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1: Why agentic AI, and why workflow first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fundamentals → Lab 1 — trigger, action and QR flyer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AI agent building blocks and webhooks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2 — Webhook and AI Agent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2 — Human in the Loop, RAG and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2: Agentic chatbot and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3 — Chatbot webhook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4 —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3: RAG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Final Assessment (WA + PP)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 instruction, assessment to 8:45 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day is 8 instructional hours: a 1-hour lunch is excluded, and the two 15-minute tea breaks are counted within the instructional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what n8n and AI agents are, and build workflows using triggers and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 AI agent applications triggered by webhooks and integrated with business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agentic chatbot workflows that operate within business and regulatory constraints.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human approval so that sensitive actions are authorised by a named person.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 Retrieval-Augmented Generation to ground an agent in your organisation's documents.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lab keeps the agent and changes one thing — the front door, the tools, the oversight, the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form →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webhook + agent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chatbot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RAG over 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009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front door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Form Trigger in Lab 1 becomes a Webhook in Labs 2–5 — the workflow behind it barely moves.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3009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agent gains 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adds tools, Lab 3 adds memory, Lab 5 adds retrieval over your own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3009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oversight grows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4 stops the workflow dead until a licensed person approves what the agent drafted.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By Lab 5 you have built the whole pattern: a front door, an agent, its tools, its guardrails and its knowledge.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Assessed Competent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Both are required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Both criteria must be met for the course fee funding to be granted.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Overview of n8n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agentic AI · Workflow first · Triggers &amp; actions · LLM agents ·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Applied in Lab 1,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 BRIEF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Brief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year moved the skill that matters — from the words you type to the system you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Harness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Wording the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ChatGPT goes mainstream. Results depend on how well you word the prompt.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Curating the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Models call tools and MCP launches. Results depend on the documents, data and tools you supply.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Building the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Claude Code and Codex: systems that plan, act and check their own work in a loop.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Agents at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Always-on agents work 24/7 — OpenClaw, Hermes Agent and agent teams take on whole jobs.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From wording one prompt → curating context → engineering the harness → AI agents that work around the clock.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GENERATIVE VS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vs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difference is not how clever the model is — it is whether it can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GENERATIVE AI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ask; it writes one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access to your systems, and no actions.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Quality depends on what you paste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Stops the moment the answer is produced.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draft me an email to this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toward a goal, not just one reply.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Calls tools: looks up data, calls APIs, writes records.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Holds a conversation with memory.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Continues until the goal is met.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read the enquiry, check the CRM, reply and log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Generative AI produces content. Agentic AI decides and does — which is exactly why it needs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AGENTIC AI VS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vs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agents are a special type of agentic AI system — the kind that never switches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the broad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Any AI system that pursues a goal over many steps: plans, acts through tools, checks the result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started by a person or a trigger, and stops when the task is done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Built as a workflow with AI steps, or around an LLM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Includes the orchestration, guardrails and human approvals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a Claude Code or Codex session; an n8n workflow with AI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AI Agents — always-on agentic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special type of agentic AI system that exists 24/7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installed in the cloud, so it serves all the time — no laptop needs to be open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Waits for events — messages, emails, webhooks, schedules — and acts on them around the clock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Keeps its memory across conversations and days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OpenClaw, Hermes Agent, an n8n agent on a cloud instance behind a webhook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AI agent is agentic AI, but not every agentic AI is an AI agent — an AI agent is always on, serving 24/7 from the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WORKFLOW FIRST VS AGENT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Workflow first evolves rule-based (RPA) automation: the workflow owns the path, and its steps can be AI or AI agents, as in n8n.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Who decides the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317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31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— steps may be AI nodes or AI Agent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317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31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decides the steps and tools at run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7889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7889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— same input, same path, every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7889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7889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Probabilistic — the path can change between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Efficiency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2461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2461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More effort to design every branch up front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2461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2461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Efficient — one instruction replaces many hand-built branches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Reliability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7033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7033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Easy to test, debug and certify step by step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033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7033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Harder to test; edge cases surface in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Cost &amp; 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1605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160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only where needed — cheap and fast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1605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160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at every step — more tokens, more latency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177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17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46177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256" y="4617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Repeatable, regulated, high-volume processes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6177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51776" y="4617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Open-ended tasks with unpredictable inputs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9496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Source: n8n, In The Loop 2026 — opening keynote and product direction (youtube.com/watch?v=KQRe5UurLQ0)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first is more deterministic; agent first is more efficient. Companies make as much deterministic as they can.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THE MODERN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Trend: AI-Assisted Workflow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AI-powered coding has flipped the trade-off — the agent's efficiency goes into BUILDING the workflow, not running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process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n8n Assistant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or Claude Code / Codex drafts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You review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test and approve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deterministic and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and agent nodes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where judgement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Companies want determinism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Reliability, compliance and audit push businesses to make as much of a process deterministic as possible.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 coding made it cheap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Assistant, Claude Code and Codex are AI agents themselves — they make designing, building and changing workflows fast and cheap.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best of both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BUILDS the workflow; a deterministic workflow RUNS the process, with AI and AI Agent nodes where judgement is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trend: AI-assisted workflow creation — the AI builds the workflow, and the workflow runs the business process.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COMPLEXITY VS CUSTOMISATION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AI Agent Platforms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tiers — and AI now helps build at every one of them. This course teaches the middle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20823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Drag and drop in a fully visual builder.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Lowest. Fastest route to a working agent, least control over the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2020823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Low-code  · 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AI-assisted: n8n Assistant, Claude Code or Codex drafts the workflow on a visual canvas.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CODE WHEN NEEDED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JavaScript or Python in a Code node where a built-in node is not enough.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High. 400+ integrations, self-host or cloud. This course's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2020823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Full-code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generates the code — Claude Code or Codex write it, instead of coding manually.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Highest — the most customisable tier. SDKs and frameworks such as LangChain, with real engineering effort to test and run.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" y="5230368"/>
            <a:ext cx="10634472" cy="365760"/>
          </a:xfrm>
          <a:prstGeom prst="rightArrow">
            <a:avLst/>
          </a:prstGeom>
          <a:solidFill>
            <a:srgbClr val="F5F8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3036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Less control, less effort   ·   more customisation, more engineering effort 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drafts the workflow in low-code and writes the code in full-code. n8n: analysts build it, engineers extend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WHY ORGANISATIONS ADOPT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Value of Workflow-First Agentic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modern view: what a business gains when AI builds the workflow and the workflow runs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Reliable and predictable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input follows the same path every time, so the process can be tested and trusted like 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Secure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step holds only the data and credentials it needs; risky actions wait at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Auditable end to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— you can explain, replay and correct any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Lower running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steps cost nothing in tokens; the LLM is called only where judgement is needed.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Faster to build and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and Codex draft the workflow in minutes; your team reviews, tests and owns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Scale around the clock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Triggers respond in real time, 24/7 — ten times the volume costs compute, not ten more hires.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where judgement is needed, workflow everywhere else — reliability you can audit, at a cost you can predict.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Agentic Automation Is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pattern — trigger, agent, tools, oversight — recurs across every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enquiries from your own documents, capture leads, and escalate what needs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Finance &amp;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Invoice processing, bank reconciliation, accounts-payable routing and exception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Risk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Screen applications, flag anomalies, and route sensitive cases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HR &amp; people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Onboarding, leave applications, policy questions and approval chains.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Sales &amp;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Lead qualification, follow-up sequencing, CRM enrichment and content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Order processing, status notifications, document generation and reporting.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one of these is a front door, an agent, some tools and a decision about where the human belongs.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 Principles of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2075687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1620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Data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your data — public, internal, confidential — and decide exactly which data the AI may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8748" y="2075687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8748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Permission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Grant only the rights needed — read, write, edit, delete. Ask before anything destructive.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65876" y="2075687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5876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WHO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person reviews and approves high-impact actions — payments, deletions, customer emails.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3004" y="2075687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3004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HAPPENED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 every prompt, tool call and change so actions can be audited, explained and rolled 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5752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0132" y="2075687"/>
            <a:ext cx="457200" cy="457200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0132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62F2F"/>
                </a:solidFill>
                <a:latin typeface="Arial"/>
              </a:rPr>
              <a:t>Right-Sized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NOT THE MOST POWERFUL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smallest model that does the job carries less autonomy and less risk than the most powerful 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n8n: scoped credentials per node, approval gates (Send and Wait), the Executions log, and a small model per AI step.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 —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fixed path limits the blast radius: a manipulated AI step cannot reach tools that are not wired to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Principle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86583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86583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Data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86583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86583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node sees only the fields wired into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86583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86583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can reach any data its tools expose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98647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98647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Permission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898647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898647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credential is scoped to one node and one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98647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898647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holds every tool's rights at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0711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0711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Human in the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410711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410711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approval gate sits at a fixed, designed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410711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410711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Depends on the agent choosing to ask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22775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22775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922775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922775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in Executions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922775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922775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Reasoning varies run to run and is harder to explain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434839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43483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Right-sized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434839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43483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model for each narrow AI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434839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43483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One capable model with broad autonomy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path is fixed, so every control is designed in rather than hoped for — that is why regulated processes stay workflow first.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WHAT IS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workflow-first agentic AI platform: the workflow owns the path, and AI and AI Agent nodes sit inside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Drag nodes onto a canvas and wire them together. 400+ app integrations, plus HTTP and Code nodes when no integration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cloud trial at n8n.io, or self-host with Docker. Webhooks, schedules and chat triggers work the same in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AI Agent and LangChain nodes are built in — attach any LLM (Gemini, OpenAI, Claude), memory, tools and vector stores.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n8n is workflow-first agentic AI — deterministic workflows with AI and agents built in, on one canvas.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WHAT IS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Every Workflow Is the Same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Trigger first, then actions in order, with data flowing left to right. Only the nodes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starts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the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more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reply, store or notify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workflow has exactly one entry point. Change the trigger and you have a different workflow — the actions may not change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Actions are ordered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action runs after the one before it, and can read the output of every node that ran before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flows as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node passes a list of JSON items to the next — the same structure in every lab of this course.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Trigger, actions, output. Learn this once in Lab 1 and every later lab is a variation.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TRAINING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Training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learner signs in to n8n with ONE assigned account. Use only the account your trainer gives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874519"/>
            <a:ext cx="45720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6" y="187451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874519"/>
            <a:ext cx="459943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187451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350007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6776" y="235000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n8n18oct1@tertiaryinfotech.com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350007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235000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n8n18oct7@tertiaryinfotech.com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2825495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36776" y="2825495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n8n18oct2@tertiaryinfotech.com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2825495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2825495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n8n18oct8@tertiaryinfotech.com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300983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6776" y="3300983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n8n18oct3@tertiaryinfotech.com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3300983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0296" y="3300983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n8n18oct9@tertiaryinfotech.com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3776471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36776" y="3776471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n8n18oct4@tertiaryinfotech.com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3776471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0296" y="3776471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n8n18oct10@tertiaryinfotech.com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251959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36776" y="425195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n8n18oct5@tertiaryinfotech.com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251959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0296" y="425195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n8n18oct11@tertiaryinfotech.com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4727447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36776" y="472744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n8n18oct6@tertiaryinfotech.com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877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4727447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0296" y="472744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n8n18oct12@tertiaryinfotech.com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Password: provided by your trainer in class   ·   Do not change the password or save real credentials in 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Sign In to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app.n8n.cloud/login — or open your own instance URL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assigned account email, e.g. n8n18oct5@tertiaryinfotech.com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the password your trainer gives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instance from the dashboard — a free 14-day trial, active through the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land in n8n — open Assistant or Overview to start building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account is already set up — the name is your email prefix and onboarding is done. Do not change the password.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AI-ASSISTED WORKFLOW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Assistant — Describe It, n8n Builds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71" y="1737360"/>
            <a:ext cx="8572977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81571" y="1724660"/>
            <a:ext cx="8598377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Open Assistant in the left sidebar and answer "What do you want to automate?". It plans, builds and tests a normal n8n workflow you can inspect, edit and publish. Assistant chats use the plan's monthly Assistant credits.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Demo: Build a Social Media Campaign Workflow with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 n8n Assistant one clear prompt — it plans and builds the workflow below, with a human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enter a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 + web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writes the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email approve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Schedule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wait, then publish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80360"/>
            <a:ext cx="65836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62179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 a workflow for a social media marketing campaign: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 Start from a form where I enter a campaign topic.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 Research the topic on the web and summarise 3 key points.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 Draft a LinkedIn post under 150 words from the research.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 Email me the draft and wait for my approval before posting.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5. If approved, schedule the post for 9am the next weekday;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    if rejected, log my feedback in a Google Sheet.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Gateway credits for the AI model. Ask me before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880360"/>
            <a:ext cx="3822191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99008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10128"/>
            <a:ext cx="3429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Connect Gmail and the social account when it asks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Test with a real topic and approve the draft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Publish only when the run looks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AI built it; the workflow runs it — and nothing is posted until a person approves the draft.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— What Is Allowed to Start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trigger you choose is a statement about who or what may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Click Execute workflow. For building and testing, and for one-off jobs such as the Lab 5 ingestion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Schedule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clock starts the workflow — an interval or a cron expression. Nightly reports, reminders and syncs.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Form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hosts a web form for you and each submission starts a run. This is Lab 1's front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external system calls a URL you expose. Your own website, app or CRM — Labs 2, 3,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Chat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message in n8n's built-in chat window starts a run — the quickest way to talk to an agent while building.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App &amp; Email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 new Gmail, new Sheets row, new Drive file. React to changes in the apps you already 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trigger by asking: who or what should be allowed to start this process?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on the n8n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7239"/>
            <a:ext cx="10332720" cy="37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884539"/>
            <a:ext cx="10358120" cy="382044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n8n trigger nodes: Manual · Schedule · WhatsApp · Telegram · Gmail · Chat · Form ·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Used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lab's trigger, and why that trigger is the right front door for that business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926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651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74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3317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317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visitor's event sign-up must start the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Webhook —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2, 3, 4,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889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889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website sends JSON and waits for the agent's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Manual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 ingestion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461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2461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human loads the documents once,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Schedule Trigger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Not used in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033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7033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Nightly reports and reminders — same pattern, a clock instead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Chat Trigger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Optional while building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605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4160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Talk to an agent without building a website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Swap the front door and keep the workflow — the trigger is the only part that has to change.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— The Workhorses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Between the trigger and the output, these nodes shape, route and transform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Edit Fields (Set)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Add, rename or reshape fields — the node you reach for first when the data is the wrong shape. Used in Labs 2 and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189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189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80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IF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Branch the workflow. IF gives a true and a false path; Switch gives one path per case. Lab 4 routes Approve vs Decline.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257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 only the matching items continue and drop the rest of the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543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34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Combine two branches — append the rows, match them by key, or choose one side.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Split Out / 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Turn one item holding a list into many items — and back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9189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89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80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17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JavaScript or Python for the 5% a built-in node cannot do. Lab 3 uses it to normalise the chat message.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078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57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Loop /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Process items in batches, or pause a workflow for a period of time or an event.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55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5430" y="38496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434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HTTP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Call any API on the internet — the universal escape hatch when no integration exists.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workflows are: trigger → reshape (Set) → decide (IF) → act (app node). Reach for Code last.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on the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key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8049"/>
            <a:ext cx="10332720" cy="27334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415349"/>
            <a:ext cx="10358120" cy="275882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If · Switch · Filter · Edit Fields · Split Out · Aggregate · Merge · Loop · Date &amp; Time · Wait ·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the Data Goes — Storage &amp; App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Action nodes that write the result somewhere useful, or send it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real spreadsheet you keep, connected with OAuth2. Append Row is the workhorse — Labs 2 and 4 log every decision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Gmail /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Send a message — and in Lab 4, Send and Wait for Response, which turns email into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Vector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embeddings for RAG. In-memory for class, Pinecone / Supabase / Qdrant for production — Lab 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Respond to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Return data to whoever called the webhook, so a web page can render the agent's answer.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Anything you must keep goes to external storage — an in-memory store vanishes when n8n restarts.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and Expressions — How Data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node passes a list of items; each item is a JSON object of key/value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JSON (JavaScript Object Notation) is a simple text format for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Values can be text, numbers, true/false, lists [ ] or nested objects {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APIs send and receive JSON — and so does every n8n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any node to inspect the JSON going in and coming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93792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ONE FORM SUBMISSION AS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"Name": "Alice Tan",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"Email": "alice@corp.com",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"Phone": "91234567",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"Message": "Please reserve 2 seats"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any value later with an expression:  {{ $json.Name }}  →  "Alice Tan"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vs Production Executions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workflow runs in two modes — always know which one you are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— in the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Click Execute workflow to run it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is shown live on the canvas, node by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 a node's output to freeze it while you build downstream.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Perfect while building — nothing needs to be published.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— after you click Publish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automatically whenever the trigger fires.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Nothing appears on the canvas — runs are logged under Executions.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Every run records status, timing and the full data at each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your users actually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Executions list is the honest account of what happened — debug from there, not from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execu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5371"/>
            <a:ext cx="10332720" cy="3738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912671"/>
            <a:ext cx="10358120" cy="376417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Executions tab — every run shows its status, duration, ID and the full data at each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Credentials — Connect Your Accounts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Nodes reference credentials by NAME. Set each one up once under Credentials → Add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Gmail (OAuth2)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Sign in with Google and grant access. Used from Lab 1 onward for sending mail and for the Lab 4 approval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Google Gemini (API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behind every agent in this course, and the embedding model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Google Sheets (OAuth2)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audit log in Labs 2 and 4 — customer records, decisions, drafts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Google Drive (OAuth2)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brochure folder that Lab 5's ingestion workflow reads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Imported workflows carry credential NAMES, not secrets — always re-select your own after importing.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 — n8n Trigger and Action (Event Flyer with QR Code)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first n8n workflow: a form emails each sign-up to the administrator, then you publish it and put its QR code on an event flyer.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visitor submits the sign-up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Gmail — Send a message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administrator is emailed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copy the Production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QR code flyer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anyone scans to sign up</a:t>
            </a:r>
          </a:p>
        </p:txBody>
      </p:sp>
      <p:pic>
        <p:nvPicPr>
          <p:cNvPr id="18" name="Picture 17" descr="canvas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6" y="2798064"/>
            <a:ext cx="590451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129516" y="2785364"/>
            <a:ext cx="592991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1 workflow on the n8n canvas. Two nodes: the Form Trigger decides WHEN the workflow runs, and the Gmail node decides WHAT it does.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n8n Trigger and Action (Event Flyer with QR Code)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Form Trigger  →  Gmail (Send a message)  →  Publish  →  QR-code flyer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finished Lab 1 workflow on the n8n canvas — the Form Trigger fires on each submission and the Gmail node sends the details to the administrator.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pic>
        <p:nvPicPr>
          <p:cNvPr id="7" name="Picture 6" descr="site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6896"/>
            <a:ext cx="5486400" cy="2304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84196"/>
            <a:ext cx="5511800" cy="23296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1: Add the n8n Form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add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11" y="1600200"/>
            <a:ext cx="5436489" cy="40690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65911" y="1587500"/>
            <a:ext cx="5461889" cy="409447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form-tri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420" y="1600200"/>
            <a:ext cx="3920921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76720" y="1587500"/>
            <a:ext cx="3946321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Click Add first step (+), search 'form' and choose n8n Form → On new n8n Form event. Then add the Name, Email, Phone and Message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2: Gmail — Send a Message with Expressions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gmail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1" y="1775445"/>
            <a:ext cx="2800121" cy="37185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541" y="1762745"/>
            <a:ext cx="2825521" cy="37439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gmail-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82" y="1775445"/>
            <a:ext cx="7560028" cy="37185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38982" y="1762745"/>
            <a:ext cx="7585428" cy="374398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Gmail → Send a message. Switch Message to Expression and drag in the form fields — the Result panel previews the email before you run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3: Publish and Copy the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first: Execute workflow, submit the test form, check the email 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Click Publish (top right of the editor) — the workflow is now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Form Trigger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Switch the form URL from Test URL to Production 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Copy the Production URL — this is what the QR code will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Test URL answers one submission while you watch; a PUBLISHED workflow's Production URL works for everyone.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4: Create a Flyer with the QR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Paste the Production URL into alfredang.github.io/qrcodegenerator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QR code as a 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the flyer — Canva, PowerPoint or an AI image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the QR code with a clear 'Scan to register' call-to-action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Present it — classmates scan, register, and the admin is emailed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two-node workflow is now a real sign-up channel: anyone with a phone can register by scanning your flyer.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Flyers from Previous Learners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flyer-learn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2" y="2349763"/>
            <a:ext cx="1712523" cy="25699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542" y="2337063"/>
            <a:ext cx="1737923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flyer-learn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85" y="2349763"/>
            <a:ext cx="1817657" cy="2569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51385" y="2337063"/>
            <a:ext cx="1843057" cy="25953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b1-flyer-learne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062" y="2349763"/>
            <a:ext cx="1712523" cy="256995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43362" y="2337063"/>
            <a:ext cx="1737923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te-lab1-fl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905" y="2349763"/>
            <a:ext cx="4568805" cy="256995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30205" y="2337063"/>
            <a:ext cx="4594205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QR code encodes the form's Production URL — scan it, register, and the event administrator receives the details by email.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Compare with the Reference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import-from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64" y="1600200"/>
            <a:ext cx="7290624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36464" y="1587500"/>
            <a:ext cx="7316024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NEW workflow, open the '...' menu → Import → From File and pick Lab 1 - Event Flyer with QR Code.json, so your own build is not overwritten.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1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Scan the QR code on your flyer with your phone, submit the form, and confirm the administrator's inbox receives the email with the details you typed. A reference solution is provided as labs/lab1-trigger-actions/Lab 1 - Event Flyer with QR Code.json — build yours by hand first, then import it to compare.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Test vs Production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Test URL works only while you are listening; the Production URL works once the workflow is published.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 — you can now build an automated workflow in n8n using a trigger and an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Before Lab 2 — The Building Blocks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 1 was a trigger and an action. Lab 2 adds an AI Agent that decides — these six blocks are what it is made 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hub that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LLM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 &amp; MCP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it may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Instructions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rules it follows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it remembers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how the world calls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Lab 1 had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Form Trigger and a Gmail action. Every submission follows the same fixed path — no judgement anywhere.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What Lab 2 adds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node with a model, three tools and the bank's rules, deciding APPROVED, REJECTED, REVIEW or DUPLICATE.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changes at the front door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n8n form is replaced by a real bank website that POSTs to a Webhook and reads the decision back.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 the six blocks one at a time, then watch them work together in Lab 2.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an AI Agent? — The Agent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Given a goal, an agent does not answer once. It works in a loop until the goal is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goal, rules, memory,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decide the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call a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check against 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Repeat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until done, then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 ·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Everything the agent can see: the goal, its instructions, memory of the conversation, and what earlier tool calls returned.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2 ·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reasons over the context and chooses the next step — which tool to call, with what input, or whether it is finished.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3 ·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calls a tool: look up a record, write a row, send an email. This is where it acts on the world.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4 · Verify and 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tool's result goes back into the context and is checked against the goal. Not done? Plan again. Done? Reply.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turn of the loop is an LLM call — so cap it (Max Iterations on the AI Agent node) and log every step.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Components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parts around one hub: the AI Agent node wires them together, and every agent in this course is exactly these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63240"/>
            <a:ext cx="356616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THE 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plans · decides · calls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'brain' — interprets language, reasons and chooses the next step. Google Gemini in this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conversation so follow-up questions still make sense. Keyed on a session ID, per visitor.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abilities it may use: look up a Sheets row, search a vector store, send an email, call an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system message — identity, scope, rules and refusals. Always in force, on every single turn.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+ Memory + Tools + Instructions. Change any one of the four and you have a different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Model — Popular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chat model plugs into the same AI Agent node. n8n lists each provider's live models — swap the brain, keep the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40233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386791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Gemini 4 Argon · Gemini 3.8 Flash · Gemini 3.1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3317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Course default (Gemini Flash) — also supplies the embeddings in Lab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GPT-6 Astra · GPT-6.1 Sol · GPT-6 Luna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889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7889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Newest family; GPT-5.x models remain in the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Anthropic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Opus 5.5 · Sonnet 5.5 · Haiku 5.5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461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Strong reasoning and long context; Haiku is fast and cheap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Llama 4 (Scout, Maverick)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033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37033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can be self-hosted, e.g. with Ollama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Mistral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Mistral Large 4 · Mistral Medium 3.5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1605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4160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European option, with open-weight models too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by task: small fast models for classification and guardrails, larger models for reasoning.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Parameters — Temperature and Friends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Settings on the chat-model node shape HOW the model answers. The most important by far is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93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Temperature 0 –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and repeatable. Use for classification, compliance decisions and data extraction — automation that must give the same answer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293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Temperature ≈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Balanced. Natural-sounding conversation with some variety — the usual default for a customer-facing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293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Temperature 1.0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Creative and surprising. Marketing copy and brainstorming — never for a decision that must be defended.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Top-p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alternative sampling control that limits the model to the most probable tokens. Tune temperature OR top-p, never both.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4005072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Max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Caps the length of the reply. Protects your cost and keeps chat answers short enough to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4005072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Frequency / presence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Discourage repetition and nudge the model onto new topics — useful for long generations, rarely for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business automation keep the temperature LOW — Lab 3 uses 0.2 so the same question is refused the same way every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FREE AI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Claim Your Free AI Credits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to n8n Cloud with your training account — the free trial includes Gateway credits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 workflow and add an AI node, e.g. AI Agent → Gemini or OpenAI Chat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the node's Credential field, choose Use Gateway credits — your balance shows beside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Pick a supported model and run the node — no provider account or API key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 the balance on the node, or in Admin Panel → Gateway credits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red "Free AI credits — Enable to claim credits" toast is the legacy OpenAI offer: Gateway instances don't get it. Use Gateway credits.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— What the Agent May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Attach tools to the agent's Tool input. The model decides WHEN to call one, based on the description you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up or write structured records. Lab 2 attaches three: check for a duplicate, create the customer, send the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Vector Store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Retrieve document chunks for a grounded answer — the Query Data Tool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HTTP Request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Call any external API in the middle of a conversation — prices, stock levels, a CRM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Sub-workflow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Wrap an entire n8n workflow as one callable tool, so your own logic becomes something the agent can invoke.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open standard that gives agents a common plug for tools and data, instead of one custom integration per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 MCP-capable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Client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speaks the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exposes tools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Systems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databases, APIs,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Without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agent × every tool needs its own custom integration. N agents and M tools means N × M connectors to build and to maintain.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With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ONE MCP server per system and any MCP-capable agent can use it. N + M pieces, and the tools become reusable across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is like USB-C for AI tools — one connector, many devices.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n8n sits on both sides of the protocol — it can serve tools to other agents, and borrow tools for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SERVER TRIGGER — n8n serves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Expose your own n8n workflows AS tools over MCP.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Claude, an IDE or another agent can then call your workflows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becomes the tool layer for any MCP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Secured with a bearer token on the server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CLIENT TOOL — n8n consumes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Attach an external MCP server to your n8n AI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agent gains all of that server's tools with no custom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Mix MCP tools and native n8n tools freely on the same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agent loop — simply more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 directions, one protocol. Build the tool once and every agent you own can use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— The Four Parts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message is always in force. Every good agent instruction in this course states four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Who the agent is, and for whom. 'You are the onboarding assistant for Marina Trust Bank.' Narrow roles refuse far more reliably than general assistants.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Source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Where answers may come from. 'Answer ONLY from the brochures returned by the tool — never from general knowledge.'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Refusals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is out of bounds, stated explicitly. 'Never recommend a product, predict a return, or guarantee an outcome.'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to do at the boundary. 'If you are not sure, say so and offer a consultation with a licensed adviser.'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instructions produce confident wrong answers — every rule you skip, the model improvises.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of Good and Bad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chatbot, two system messages — one is testable, the other is a hope.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F2F"/>
                </a:solidFill>
                <a:latin typeface="Arial"/>
              </a:rPr>
              <a:t>✗  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"You are a helpful assistant. Answer the user's questions politely."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identity · no source rules · no refusals · no escalation.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will happily invent a course fee and guarantee an investment return —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7A3E"/>
                </a:solidFill>
                <a:latin typeface="Arial"/>
              </a:rPr>
              <a:t>✓  CONSTRAINED AND 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"You are the enquiry assistant for Meridian Asset Management.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Answer only questions about our services, fees and appointment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brochure search tool for any factual question — never answer from general knowledge.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Never recommend a product, predict a return, or guarantee an outcome.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you are not sure, say so and offer a call with a licensed adviser."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· source rules · refusals · escalation — you can test each line by trying to break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— Why the Agent Remembers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Without memory every message is from a stranger; with it, 'what about next month?' still makes sense.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1: 'What courses do you run?'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answers from its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Stored in 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keyed by session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2: 'How much is that one?'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knows which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slides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only the last N turns are kept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Window buffer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last N exchanges of THIS conversation. It is n8n's default and it is what Lab 3's chatbot uses.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Session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Memory is per session ID, so two visitors on the same website never see each other's conversation.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Sometimes you want NO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2's onboarding agent deliberately has none — one applicant's details must never influence the next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Memory is conversation context, NOT long-term knowledge. Facts belong in tools and documents (RAG).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Structured Output — Making an Agent's Answer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By default an agent returns a paragraph of prose. Prose cannot be branched on, sorted, counted or coloured.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Attach an Output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Structured Output Parser forces named fields instead of free text — Labs 2 and 4 both use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Name the fields you will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returns decision, reason and riskFlags. The website colours its result card from decision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Enumerate the allowed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APPROVED / REJECTED / REVIEW / DUPLICATE. A closed list is what makes an IF node reliable.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Everything downstream depends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IF node routes on it, a Sheets node logs it, and a queue is sorted by it. Prose supports none of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If something downstream must act on the answer, make the answer a field — not a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URL your workflow listens on. When the outside world calls it, your workflow runs — the reverse of you calling an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happens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submits the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request to your URL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website POSTs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n8n receives the data as its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Respond to 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your reply returns to the caller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Push, not 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polling and no schedule — the caller notifies you the moment something happens.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caller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Websites, payment providers, forms, CRMs, mobile apps — anything that can send an HTTP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paired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Webhook node starts the workflow; Respond to Webhook sends the answer back on the same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webhook is the reverse of an API call — the outside world calls YOU when an event happens.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Nodes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web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1" y="1737360"/>
            <a:ext cx="8823278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6421" y="1724660"/>
            <a:ext cx="8848678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Webhook node starts the workflow when it is called; Respond to Webhook returns data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vs HTTP Request — Which Way the Call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Both are plain HTTP. The only difference is who dials.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 — inbound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external service calls YOUR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react the moment the event happens.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the TRIGGER — always the first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Labs 2–5: the lab website calls your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REQUEST — outbound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YOUR workflow calls an external service.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pull the data at a moment you choose.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an ACTION inside the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Use it to reach any API with no dedicated n8n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HTTP underneath — a webhook receives a call, an HTTP Request makes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HTTP Request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15" y="1737360"/>
            <a:ext cx="1016248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6815" y="1724660"/>
            <a:ext cx="10187889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Request node calls out to any API — the outbound counterpart to an inbound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Methods on a Webhook —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method is part of the contract with the caller: where the data rides, and what the call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GET —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URL query string: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?email=alice@corp.com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browser can call it just by visiting the URL.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$json.query.email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 dashboard pulling data to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 — 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request body as JSON: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{ "message": "How much is the course?" }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a web form or a chat widget sends.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$json.body.message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Labs 2–5, where the site submits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reads, POST sends. Set the method on the Webhook node — and the caller must match it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Example: A GET Webhook That Publishes a Recipe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URL, one agent, one page back. A webhook does not have to sit behind a form — opening a link can run an agent.</a:t>
            </a:r>
          </a:p>
        </p:txBody>
      </p:sp>
      <p:pic>
        <p:nvPicPr>
          <p:cNvPr id="7" name="Picture 6" descr="n8n-flow-recipe-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87" y="1783080"/>
            <a:ext cx="5138777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512387" y="1770380"/>
            <a:ext cx="5164177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 —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Opening the URL in a browser is the request. Anything the agent needs can ride in the query string.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Recipe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 OpenAI chat model writes the recipe. There is no memory: each request stands alone.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search_web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agent calls search_web, passing a search query, when it needs facts from the web.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Page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Publish Recipe Page (a Respond to Webhook node) returns the page, so the browser shows it at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suits a link anyone can click. Lab 2's bank form uses POST, because it sends a body of applicant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Test URL vs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Webhook node gives you TWO URLs. They behave differently, and confusing them is the single most common webhook bug.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URL —  /webhook-test/…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only while you have clicked 'Listen for test event'.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exactly ONE call, then stops listening.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run appears live on the canvas — ideal for debugging.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Dies the moment you leave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URL —  /webhook/…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Requires the workflow to be published (Publish, top right).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Always on — every call starts a run.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are logged under Executions, not drawn on the canvas.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the URL you give to a website, an app or a 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website must call the PRODUCTION URL of a PUBLISHED workflow — the Test URL is spent after one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Configuring the Webhook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settings decide whether the browser's call actually succeeds.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Method +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 or POST, and the path that ends your URL — for example POST /webhook/marina-trust-onboarding.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Allowed Origins (CORS)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Browsers block cross-site calls unless you allow them. Set * in class so a local HTML page can call n8n; never leave *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Immediately (a bare acknowledgement), when the workflow finishes, or via a Respond to Webhook node — every lab here uses the last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None for a classroom demo; Basic, Header or JWT for anything real. A public URL is a public door, and every call costs you model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'Failed to fetch' in the browser is almost always CORS or a dead Test URL — check those two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2 · 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— How the Building Blocks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Website → Webhook → AI Agent → Respond. Every block you have just learned has one job in this 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Building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44805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18288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In this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828800"/>
            <a:ext cx="4050791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8288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860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Webhook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2860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22860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Webhook — POST /marina-trust-onboarding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2860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2860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bank website's front door; Respond to Website returns the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32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32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AI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7432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27432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AI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7432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7432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Applies the bank's onboarding rules and decides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004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004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2004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32004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Google Gemini Chat Model (Gateway credits)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2004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32004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LLM brain — keep the temperature low for repeatable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576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576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Tools &amp; MCP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6576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36576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check_duplicate_customer · create_customer_record · send_confirmation_email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36576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8936" y="36576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agent chooses when to call each 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148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148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1148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41148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System message: eligibility rules, age check, four decisions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41148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41148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Where the bank's policy actually lives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5720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5720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45720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08376" y="45720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None — deliberately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45720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88936" y="45720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One applicant must never influence the next decision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0292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0292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0360" y="50292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08376" y="50292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Decision Parser — decision, reason, riskFlags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50292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88936" y="50292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Lets the page colour the result card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Six building blocks, one workflow: the webhook brings the applicant in, the agent decides, the page shows the result.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(Marina Trust Bank Onboarding)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the n8n form with a real bank website that POSTs to a webhook, where an AI Agent applies the bank's onboarding rules using three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bank site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Set node tidies the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+ 3 tools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Decision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Google Sheets audit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decision returns to the page</a:t>
            </a:r>
          </a:p>
        </p:txBody>
      </p:sp>
      <p:pic>
        <p:nvPicPr>
          <p:cNvPr id="21" name="Picture 20" descr="canvas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49" y="2798064"/>
            <a:ext cx="8827054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68249" y="2785364"/>
            <a:ext cx="8852454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2 workflow on the n8n canvas. The main chain runs left to right; the chat model, output parser and three tools hang below the agent on its Tool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Webhook and AI Agent (Marina Trust Bank Onboarding)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 →  Normalise  →  AI Agent (+3 tools)  →  Log Decision  →  Respond to Website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2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The Onboarding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canvas. The main chain runs left to right; the agent's model, tools and parser hang beneath it.</a:t>
            </a:r>
          </a:p>
        </p:txBody>
      </p:sp>
      <p:pic>
        <p:nvPicPr>
          <p:cNvPr id="7" name="Picture 6" descr="n8n-flow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44" y="1783080"/>
            <a:ext cx="6185464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89044" y="1770380"/>
            <a:ext cx="6210864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Front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bank site POSTs to Onboarding Webhook; Normalise Application tidies the fields the agent 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AI Agent applies the bank's rules with its chat model; Decision Parser returns decision, reason and riskFlags.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Three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check_duplicate_customer, create_customer_record and send_confirmation_email — the agent chooses when to call each.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Log and 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Log Decision appends an audit row to Google Sheets; Respond to Website sends the decision back to the page.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dashed lines are the agent's sub-nodes: it calls them when it decides to — the solid chain always runs in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2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Marina Trust Bank site the webhook sits behind. The applicant submits here, the AI Agent decides, and the page renders the decision as a coloured card.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pic>
        <p:nvPicPr>
          <p:cNvPr id="7" name="Picture 6" descr="site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8890"/>
            <a:ext cx="5486400" cy="2400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36190"/>
            <a:ext cx="5511800" cy="24257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2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TC1 (a new applicant) and confirm a green APPROVED card, a new row in the Customers sheet and a confirmation email. Then run TC2 (an already-seeded NRIC) and confirm an amber DUPLICATE card with no new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Tools make 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output (decision, reason, riskFlags) is what lets downstream nodes branch, log and colour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front door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is unchanged from a form-triggered version — only the front door differs.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 — you can now deploy an AI agent that is triggered by a webhook from an external website.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Chatbot and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Agentic workflows · Chatbots on webhooks · Approval gates ·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Applied in Lab 3,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AGENTIC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Rule-Based vs Agentic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 an agentic workflow the LLM makes the routing decisions. You still design the process, the guardrails and the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RULE-BASED (RPA) — every branch wired by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Predictable: the same input always takes the same path.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Easy to audit — every decision is a rule you can read.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Breaks on anything you did not foresee.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Best for fixed, high-volume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— the LLM chooses the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Understands free text and intent.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cases you did not foresee.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Needs guardrails and logging to stay safe.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Best for varied, language-driven work — like a chatbot.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What you hand over is the judgement about which path a case takes — never the design of the process.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Designing a Safe Agentic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design rules that turn a helpful chatbot into one a regulated firm can put on its website. This is Lab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Define the role narrowly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chatbot built for one job refuses far more reliably than a general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Write the prohibitions explicitly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recommend a product, predict a return or guarantee an outcome — spelled out, not implied.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Add a fallback sentence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'When in doubt, say less and offer a consultation' does more compliance work than clever wording.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Gate what must be collected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answer until the firm can contact the visitor — name, telephone and email.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Keep a small FAQ in the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Nine short answers a compliance officer can review in one sitting. RAG is for larger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Key memory on the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Follow-up questions keep their context, and two visitors never see each other's conversation.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system message is a compliance control. Test it with the questions you most fear, not the ones you hope for.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An HR Policy Chatbot on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is a chatbot? An agent behind a chat channel. Build one on Telegram first — then Lab 3 puts one behind a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Telegram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 employee messages the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HR Agent — Ava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HR policies +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Chat 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Gateway credits, no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Reply on Telegram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back to the same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1638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Ava knows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Sample HR policies written into the system instruction — leave, sick leave, claims, hours, probation.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1638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Guardrails in the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only from the policies, never invent a number, and refer salary, medical or disciplinary questions to HR.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1638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Same agent, new front door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Telegram Trigger is the front door here. Lab 3 puts the same kind of agent behind a website.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 will: create a bot with BotFather  →  build the workflow with n8n Assistant  →  connect, publish and chat.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1: Create a Telegram Bot with BotFather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Telegram and search for BotFather (blue checkmark)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Start a chat and send /newbot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Type a display name, e.g. My Free Helper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a unique username ending in bot, e.g. my_free_helper_bot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Copy the HTTP API token BotFather sends 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token is the bot's password — never share or commit it. If it leaks, send /revoke to BotFather for a new one.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n8n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2: Open n8n Assistant with Build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8521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Create a new workflow. The empty canvas offers two starts: Add first step, or Build with AI.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Build with AI — this opens n8n Assistant, which builds the workflow from a plain-English prompt.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Add first step is the manual route: it opens the node search, here filtered to 'ai agent'.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Either way you get the same nodes. The Assistant just writes the first draft for you.</a:t>
            </a:r>
          </a:p>
        </p:txBody>
      </p:sp>
      <p:pic>
        <p:nvPicPr>
          <p:cNvPr id="7" name="Picture 6" descr="n8n-build-with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3501"/>
            <a:ext cx="4462272" cy="38481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36740" y="1720801"/>
            <a:ext cx="4487672" cy="387359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Build with AI drafts the workflow; you still review every node before you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n8n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2: Paste the Prompt into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a new workflow, open n8n Assistant and paste this prompt — it plans and builds the chatbot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583680" cy="3703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621792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a 3-node workflow: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A user posts a message to a Telegram bot.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Telegram sends the data to an HR agent.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The HR agent responds to the user on the company HR policies. Create a system instruction for the HR agent with sample company policies in it. The HR agent has a memory.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Respond to Telegram.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828800"/>
            <a:ext cx="3822191" cy="3703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86000"/>
            <a:ext cx="3429000" cy="3154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Read the system instruction it wrote — edit the sample policies if you like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Check a memory node is attached to the HR agent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Stuck? Import the reference solution instead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Reference solution: labs/lab3-chatbot-webhook/Lab 3 Demo - Telegram HR Policy Agent.json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The Workflow n8n Assistant Builds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canvas should look like this: trigger, agent, reply — with the chat model and memory hanging under the agent.</a:t>
            </a:r>
          </a:p>
        </p:txBody>
      </p:sp>
      <p:pic>
        <p:nvPicPr>
          <p:cNvPr id="7" name="Picture 6" descr="n8n-flow-telegram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51" y="1783080"/>
            <a:ext cx="5256250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53651" y="1770380"/>
            <a:ext cx="5281650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Telegram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Updates: message — every message sent to the bot starts one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Ava's role, rules and sample HR policies live in the system instruction n8n Assistant wrote.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Model and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model on Gateway credits; memory keeps each employee's conversation, keyed on the Telegram chat 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Reply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Reply on Telegram sends back to the chat ID the trigger received, so the reply lands in the same chat.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Shown: the reference solution, which has no memory. Yours has a memory node — the prompt asked for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3: Connect the Bot, Publish and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Telegram Trigger → Credential → Create new → paste the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Telegram reply node → select the same credential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Chat model → Use Gateway credits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— n8n registers its webhook with Telegram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t.me/&lt;username&gt;, tap Start, ask about annual leave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Telegram bot has ONE webhook at a time — testing in the editor swaps in the Test URL, so publish again when you are done.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Chatting with Ava on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8521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/start opens the chat — Ava introduces herself exactly as her system message tells her 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Ask how many days of leave you get: the answer quotes the policy — 14, 18 or 21 days by length of service.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Ask a follow-up — memory keeps the context. Then ask about a colleague's salary: Ava must refer you to HR.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Every message is one workflow run — open Executions in n8n to watch it happen.</a:t>
            </a:r>
          </a:p>
        </p:txBody>
      </p:sp>
      <p:pic>
        <p:nvPicPr>
          <p:cNvPr id="7" name="Picture 6" descr="telegram-cha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03" y="1691640"/>
            <a:ext cx="3348745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3503" y="1678940"/>
            <a:ext cx="3374145" cy="39573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bot is only as safe as its system message. Lab 3 adds a contact gate and a refusal rule, behind a website.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(Investment Advisor)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compliance-bound chatbot for an investment advisory firm: no answer until the firm can contact the visitor, and never any financial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Chat 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widget sends a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Code node shapes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Gemini 2.5 Flash, temp 0.2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 to Chat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 returns to the widget</a:t>
            </a:r>
          </a:p>
        </p:txBody>
      </p:sp>
      <p:pic>
        <p:nvPicPr>
          <p:cNvPr id="18" name="Picture 17" descr="canvas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1" y="2798064"/>
            <a:ext cx="773098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16281" y="2785364"/>
            <a:ext cx="775638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3 workflow on the n8n canvas. A small graph: webhook in, normalise, the agent with its chat model and session memory, then the reply back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Chatbot Webhook (Investment Advisor)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Chat Webhook  →  Normalize  →  AI Agent (+ model + memory)  →  Respond to Chat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3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The Chatbot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canvas: webhook in, normalise, agent, shape the reply, respond. The intelligence is in the system message.</a:t>
            </a:r>
          </a:p>
        </p:txBody>
      </p:sp>
      <p:pic>
        <p:nvPicPr>
          <p:cNvPr id="7" name="Picture 6" descr="n8n-flow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75" y="1783080"/>
            <a:ext cx="6157802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02875" y="1770380"/>
            <a:ext cx="6183202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Message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Webhook receives each message from the widget; Normalize Chat Message shapes it for the 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Investment Advisor AI holds the contact gate, the non-advisory rule and the nine-question FAQ.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Model and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Google Gemini Chat Model (temperature 0.2) and Website Chat Memory keyed on the visitor's sessionId.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Reply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Response Body builds the JSON reply; Respond to Chat returns it to the widget.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warning on the Gemini node means no credential is selected yet — choosing your Gemini credential is the first fix after import.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3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Investment Advisor site with the chat widget open. Note the contact gate in action — it asks for the visitor's name before it will answer anything.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pic>
        <p:nvPicPr>
          <p:cNvPr id="7" name="Picture 6" descr="site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3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'Can you guarantee returns?' and 'Which stock should I buy?'. The agent must decline both and offer a consultation. Then ask a question before giving your details — it must ask for the missing detail and answer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system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Defence 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Session-keyed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Session-keyed memory gives context to follow-up questions without leaking between visitors.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Prompt or RAG?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fixed FAQ belongs in the prompt; RAG is for knowledge too large or too changeable for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 — you can now deploy an agentic chatbot on a website that operates within regulatory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levels of human oversight. The design question is which one this particular process deserves.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PAUSES and a named person must approve before the action happens. Nothing reaches the customer unauthorised. This is Lab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Human ON 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acts immediately, but a person monitors and can intervene or reverse it. Suited to high volume and low individual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Human OUT of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autonomous. Acceptable only where an error is cheap, reversible and detectable — never where money or a regulator is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question is never 'is the model good enough?' but 'what does one bad output cost, and who answers for it?'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Send-and-Wait node stops the execution mid-flight and holds it until a person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 arrives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drafts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classify, flag,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is logged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decides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or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Only 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and log the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execution really is paused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at the canvas and the run is sitting on the approval node. It waits days if it has to — n8n holds the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Approve and Decline are just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email carries two URLs. Clicking one resumes the execution down that branch — no app for the approver to learn.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decline is a reassignment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Declining is not deleting. The ticket moves to a named person, because someone still owes the client an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agent may do everything except the one thing that matters. That pause is the whole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Put a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tests. If a process meets any one of them, it needs 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Money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Payments, refunds, credit and lending decisions — anything with a direct financial consequence.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It is a regulated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licensed firm writing to a client about their money, health or legal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action is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sent email, a deleted record or published content cannot be recalled.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person is vulnerable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Distress, illness, bereavement, or savings that someone cannot afford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stakes exceed the error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2% error rate is fine for tagging tickets and unacceptable for approving loans.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Someone must be 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regulator asks which licensed person is answerable — not what the machine decided.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Automate the drafting, not the deciding, wherever any of these six is true.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— Two Gates Around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shape what the agent intends. Guardrails check what actually goes in and comes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INPUT GUARDRAIL — before the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Screen the incoming message before the model ever sees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Block prompt injection: 'ignore your instructions and…'.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Strip or reject personal data you must not process.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Rate-limit and authenticate — a public webhook is a public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OUTPUT GUARDRAIL — after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Check the reply before it reaches a human being.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Look for the phrases you have banned: guarantees, forecasts, advice.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Validate the structured fields against the values you allow.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On any doubt, route to a person rather than sending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same rule in the prompt AND in the workflow — only one of the two runs on a machine you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in n8n — the Guardrails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two gates from the previous slide, built with n8n's Guardrails node: one before the agent, one after it.</a:t>
            </a:r>
          </a:p>
        </p:txBody>
      </p:sp>
      <p:pic>
        <p:nvPicPr>
          <p:cNvPr id="7" name="Picture 6" descr="n8n-guardrails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228" y="1783080"/>
            <a:ext cx="4140495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11528" y="1770380"/>
            <a:ext cx="4165895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Input 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Guardrails · Check Text for Violations screens each message before the agent sees it, using its own chat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Pass or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Pass continues to the agent. Fail branches away, so a blocked message never reaches the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Rapport AI Agent drafts the reply with its Gemini model and the Draft Parser.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Output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Guardrails1 · Sanitize Text cleans the reply — for example removing personal data — before anything is sent.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prompt asks the agent to behave; the Guardrails nodes check that it did.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(Client Rapport Assistant)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agent reads a worried client's concern, flags compliance risks and drafts a reply — but sends nothing until a licensed manager approves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client sends a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 · flag ·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Draft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RM Approval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&amp; Wait —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→ send · Decline → reassign</a:t>
            </a:r>
          </a:p>
        </p:txBody>
      </p:sp>
      <p:pic>
        <p:nvPicPr>
          <p:cNvPr id="21" name="Picture 20" descr="canvas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92" y="2798064"/>
            <a:ext cx="8759167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702192" y="2785364"/>
            <a:ext cx="8784567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Everything up to RM Approval is the agent's territory; the IF node after it splits into the approved path (top) and the reassignment path (bottom).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in the Loop (Client Rapport Assistant)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→ Agent → Acknowledge → Log Draft → RM Approval (Send &amp; Wait) → IF → Send / Reassign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4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The Approval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canvas. Everything up to RM Approval is the agent's work; nothing after it runs until a person decides.</a:t>
            </a:r>
          </a:p>
        </p:txBody>
      </p:sp>
      <p:pic>
        <p:nvPicPr>
          <p:cNvPr id="7" name="Picture 6" descr="n8n-flow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39" y="1783080"/>
            <a:ext cx="7536873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13339" y="1770380"/>
            <a:ext cx="7562273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Concern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Client Query Webhook receives the client's message; Normalise Query tidies it for the 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Rapport AI Agent drafts a non-advisory reply; Draft Parser returns tone, urgency and compliance 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Log, then pause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Acknowledge Client answers at once, Log Draft records the draft, and RM Approval waits for a human.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Two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If Approved: send and log the reply. Otherwise: Assign to Human Agent and email that person.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RM Approval is a Gmail Send-and-Wait node: the execution genuinely pauses there until Approve or Decline is clicked.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Meridian client portal. The widget states plainly that a licensed manager reviews every reply — the human-in-the-loop promise made visible to the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pic>
        <p:nvPicPr>
          <p:cNvPr id="7" name="Picture 6" descr="site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65985"/>
            <a:ext cx="5486400" cy="31661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53285"/>
            <a:ext cx="5511800" cy="319151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Step: Connect the Website and Send a Concern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4-site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16" y="1600200"/>
            <a:ext cx="6684320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39616" y="1587500"/>
            <a:ext cx="6709720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Paste your webhook Production URL into Lab configuration, pick a trainer demo query or type your own, use your own email, and send. The widget promises a licensed manager reviews every reply.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4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all eight rows of sample-queries.csv. When you are done Drafts has 8 rows, Approved_Replies has 5 and Handover_Queue has 3 — and no accountability column is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approval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Two separate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decline reassigns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decline is a reassignment, not a deletion — someone must still owe the client an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model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most legally important sentence in a workflow should be the one the model cannot touch.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 — you can now apply a human approval gate so no AI-drafted communication is sent unsupervised.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Tokenization · Embeddings · Vector stores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Applied in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 twenty short documents, pasting them all would genuinely work. The problem starts at two hundred.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Prompts have a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enough documents and you exceed the model's context window — the request simply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Long prompts degrade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Models attend less reliably to the middle of a very long context. The answer is in there and is still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You pay for every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question re-sends every document, whether or not it was relevant to that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Retrieval turns it 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Fetch only the few documents that resemble the question, and send just those. Cheaper, shorter and more accurate.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RAG is not a bigger prompt — it is a smaller, better-chosen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RAG Pipeline — Ingest Once, Retrieve Every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separate workflows. You run ingestion once; retrieval runs on every single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into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each chunk into a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 the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nearest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from what came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Ingestion — run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first workflow: list 20 brochures on Drive, download, split, embed, insert. A Manual Trigger, run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Retrieval — runs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second workflow: embed the question with the SAME model, find the nearest brochures, answer only from those.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models must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question embedded by one model cannot be compared against documents embedded by another. It fails silently, returning nonsense.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 once, retrieve thousands of times — and use the identical embedding model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RAG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3" y="1737360"/>
            <a:ext cx="800295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66583" y="1724660"/>
            <a:ext cx="8028354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 finds the documents that resemble the question · Augmentation adds them to the prompt · Generation produces an answer grounded in what was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Chunking — the Biggest Lever on RAG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Most RAG projects fail quietly at chunking, not at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right chunk is the smallest piece of text that still answers a question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Too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brochure sliced into thirds separates the course name from its fee. Retrieval then finds one without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Irrelevant text crowds the prompt and dilutes what actually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overlap between chunks stops a sentence being cut in half at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 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 size 4000 with overlap 0 — one brochure becomes exactly one vector, so the fee is never separated from the course.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How many chunks come back. Too few misses the answer; too many dilutes the prompt with noise.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Tune the chunking before you blame the model — that is where the answer was lost.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Tokenization and Text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-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7750"/>
            <a:ext cx="10332720" cy="3234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65050"/>
            <a:ext cx="10358120" cy="32594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 is split into tokens, then an embedding model turns it into a vector — a list of numbers that places similar meanings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the embeddings live, and whether they are still there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SIMPLE VECTOR STORE — built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account, no API key, no index to create.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Running RAG within ten minutes — this is what Lab 5 uses.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WIPED whenever n8n restarts.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learning, demos and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REAL VECTOR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Pinecone, Supabase (pgvector), Qdrant, Weaviate.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account, an index and a matching dimension to set up.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Persists, scales, and is shared across n8n instances.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anything that goes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Prototype on the in-memory store; move to a hosted database the moment anyone else depends on the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ctor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10460" y="1724660"/>
            <a:ext cx="7340600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vector store holds the embeddings and finds the nearest neighbours to a question,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an Agent Against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asked for a price will produce one. It will be plausible, it will be wrong, and the customer will quote it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Always call the tool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Instruct the agent to search the documents before answering any factual question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Answer only from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factual claim must trace to a retrieved document, not to the model's general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Give it permission to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'I don't have that in our course information' is a far better answer than a confident invention.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Name what it must never invent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fee, a date, a duration, a course code, an instructor's name, a discount.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Hide the machinery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mention the vector store or that it is searching documents — the customer does not care.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Test the traps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Ask about a course you do not run, a person who does not exist, and a discount never offered.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Grounding is an instruction problem as much as a retrieval one — retrieval finds it, the prompt makes it stick.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Ingestion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 &amp; Bake Academy's customer care team retypes the same answers all day, and every answer is already written in the course brochures.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Manual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run ingestion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Drive — list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Splitter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 brochure = 1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Embeddings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3072-dim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Vector Store — Insert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stored, ready to search</a:t>
            </a:r>
          </a:p>
        </p:txBody>
      </p:sp>
      <p:pic>
        <p:nvPicPr>
          <p:cNvPr id="21" name="Picture 20" descr="canvas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1" y="2798064"/>
            <a:ext cx="7757510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03021" y="2785364"/>
            <a:ext cx="7782910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ingestion workflow on the n8n canvas — run ONCE by hand. Twenty brochures are listed, downloaded, split, embedded and inserted into the vector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Ingestion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5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The Ingestion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Part 1 as it looks after import. You run it once, by hand, to load all 20 brochures into the vector store.</a:t>
            </a:r>
          </a:p>
        </p:txBody>
      </p:sp>
      <p:pic>
        <p:nvPicPr>
          <p:cNvPr id="7" name="Picture 6" descr="n8n-flow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0741"/>
            <a:ext cx="6172200" cy="36451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540" y="1868041"/>
            <a:ext cx="6197600" cy="367055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8352" y="19110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911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11096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Fetch the brochures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76856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When clicking 'Execute workflow' starts the run. List Brochures in Folder finds the 20 files in YOUR Drive folder, and Download Each Brochure pulls each one 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12008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8352" y="32400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240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40024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Split and 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05784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Default Data Loader reads each file, Whole-Brochure Splitter keeps one brochure as one chunk, and the Embeddings node turns every chunk into a vector.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40936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45689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5689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68952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Insert into the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4712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Simple Vector Store (Insert) saves the 20 vectors under your memory key, cookbake_&lt;your-name&gt;. Clear Store is ON, so a re-run replaces instead of duplicating.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Ingestion is a batch job: re-run it when a brochure changes — and after every n8n restart.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Answering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answering workflow on the n8n canvas — runs on EVERY question. The Query Data Tool and its embedding model hang below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Query Data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nearest brochures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answer grounded in those</a:t>
            </a:r>
          </a:p>
        </p:txBody>
      </p:sp>
      <p:pic>
        <p:nvPicPr>
          <p:cNvPr id="18" name="Picture 17" descr="canvas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2" y="2798064"/>
            <a:ext cx="7576628" cy="28529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93462" y="2785364"/>
            <a:ext cx="7602028" cy="287832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Answering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5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The Answering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Part 2 runs on every question. The agent must search the brochures before it is allowed to answer.</a:t>
            </a:r>
          </a:p>
        </p:txBody>
      </p:sp>
      <p:pic>
        <p:nvPicPr>
          <p:cNvPr id="7" name="Picture 6" descr="n8n-flow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2016"/>
            <a:ext cx="6172200" cy="37426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540" y="1819316"/>
            <a:ext cx="6197600" cy="376800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8352" y="19110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911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11096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Question in, answer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76856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Webhook receives the visitor's question from the website as a POST. Respond to Webhook sends the agent's reply back to the chat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12008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8352" y="32400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240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40024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The agent and its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05784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AI Agent reasons with the chat model. Its system message says: call the tool first and never invent a fee. No Memory is attached, so each question stands alone.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40936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45689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5689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68952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The retrieval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4712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Query Data Tool searches YOUR memory key and returns the 5 closest brochures. Shown here with OpenAI; the lab file ships with Gemini — swap one, swap both.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embedding model and same memory key in both workflows — or retrieval silently finds nothing.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Cook &amp; Bake Academy site with the course assistant open. Every answer it gives is grounded in the 20 brochures you ingested into the vector store.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pic>
        <p:nvPicPr>
          <p:cNvPr id="7" name="Picture 6" descr="site-l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The Course Assistant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real conversation on the Cook &amp; Bake Academy site. Every fee in the reply came from a retrieved brochure.</a:t>
            </a:r>
          </a:p>
        </p:txBody>
      </p:sp>
      <p:pic>
        <p:nvPicPr>
          <p:cNvPr id="7" name="Picture 6" descr="lab5-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7951"/>
            <a:ext cx="6172200" cy="36107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540" y="1885251"/>
            <a:ext cx="6197600" cy="363613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8352" y="19110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911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11096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A typo still finds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76856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visitor typed 'patries'. Embeddings match meaning, not spelling, so the pastry brochures BAK-102 and BAK-109 still come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12008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8352" y="32400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240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40024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Facts quoted, not invented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05784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Fees and durations are quoted exactly: BAK-102 is SGD $1480 for 8 weeks / 48 hours — the same S$1480 shown on the course card behind the chat.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40936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456895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5689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68952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It admits a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4712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It did not give BAK-104's fee and said so instead of guessing. The brochure does list SGD $420, so check what the tool returned: that is a retrieval gap.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'I don't have that' is grounding working — fix gaps in retrieval, never by loosening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5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TC1 must quote BAK-101's exact fee from the brochure. Then run the three hallucination probes: TC7 (a course that does not exist), TC8 (an instructor name no brochure contains) and TC9 (a discount that was never offered). Any confident answer to these is a failure, however fluent.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RAG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225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Chunking is the single biggest lever on RAG quality — the right chunk answers a question on its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5722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Match model and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ingestion and retrieval embedding models must be identical, and the memory keys must match.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65904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71220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12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72135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In-memory is temporary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114544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n8n's Simple Vector Store is wiped when n8n restarts — fine for learning, unacceptable in production.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 — you can now deploy a RAG application that grounds an agent in the organisation's own documents.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trigger-and-action workflow and explained how an LLM agent differs from generative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Put an AI agent behind a real website, with tools, structured output and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a chatbot that collects contact details and refuses to give regulated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Paused a workflow on an approval gate so no drafted communication was sent unsupervised.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Ingested 20 documents into a vector store and grounded a chatbot so it stopped inventing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moves that turn what you built this week into something your organisation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Start with one painful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Pick something repetitive, high-volume and low-risk. Automate that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Map it before you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Draw the trigger, the decisions and the actions on paper. The canvas comes second.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Decide where the human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Anything irreversible, regulated or expensive keeps an approval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Ground the agent in your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over your policies and documents beats a general model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Log everything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You will need the audit trail long before you think you will.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Iterate with real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with the questions you fear, not the ones you hope for.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next process you automate is the one you were dreading this morning.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WE'RE HERE TO HELP — DURING AND AFTER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 portal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completed answers at lms-tms.tertiaryinfotech.com.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n8n instance running and keep building. The next process you automate is the one you were dreading this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