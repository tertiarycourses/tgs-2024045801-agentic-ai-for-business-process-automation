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n8n-logo.png"/>
          <p:cNvPicPr>
            <a:picLocks noChangeAspect="1"/>
          </p:cNvPicPr>
          <p:nvPr/>
        </p:nvPicPr>
        <p:blipFill>
          <a:blip r:embed="rId3"/>
          <a:stretch>
            <a:fillRect/>
          </a:stretch>
        </p:blipFill>
        <p:spPr>
          <a:xfrm>
            <a:off x="10332720" y="566928"/>
            <a:ext cx="1097280" cy="1097280"/>
          </a:xfrm>
          <a:prstGeom prst="rect">
            <a:avLst/>
          </a:prstGeom>
        </p:spPr>
      </p:pic>
      <p:sp>
        <p:nvSpPr>
          <p:cNvPr id="7" name="TextBox 6"/>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8" name="TextBox 7"/>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Agentic AI for Business Process Automation</a:t>
            </a:r>
          </a:p>
        </p:txBody>
      </p:sp>
      <p:sp>
        <p:nvSpPr>
          <p:cNvPr id="9" name="Rectangle 8"/>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TGS-2024045801</a:t>
            </a:r>
          </a:p>
          <a:p>
            <a:pPr algn="l">
              <a:spcAft>
                <a:spcPts val="600"/>
              </a:spcAft>
            </a:pPr>
            <a:r>
              <a:rPr sz="1300" b="0">
                <a:solidFill>
                  <a:srgbClr val="5B6372"/>
                </a:solidFill>
                <a:latin typeface="Arial"/>
              </a:rPr>
              <a:t>TSC: Artificial Intelligence Application  ·  AER-TEM-3026-1.1</a:t>
            </a:r>
          </a:p>
          <a:p>
            <a:pPr algn="l">
              <a:spcAft>
                <a:spcPts val="600"/>
              </a:spcAft>
            </a:pPr>
            <a:r>
              <a:rPr sz="1400" b="0">
                <a:solidFill>
                  <a:srgbClr val="5B6372"/>
                </a:solidFill>
                <a:latin typeface="Arial"/>
              </a:rPr>
              <a:t>Conducted by Tertiary Infotech Academy Pte Ltd  ·  UEN 201200696W</a:t>
            </a:r>
          </a:p>
        </p:txBody>
      </p:sp>
      <p:sp>
        <p:nvSpPr>
          <p:cNvPr id="11" name="TextBox 10"/>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v1.2  ·  1 August 2026</a:t>
            </a:r>
          </a:p>
        </p:txBody>
      </p:sp>
      <p:sp>
        <p:nvSpPr>
          <p:cNvPr id="12" name="TextBox 11"/>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AM, PM and Assessment</a:t>
            </a:r>
          </a:p>
          <a:p>
            <a:pPr algn="l">
              <a:spcAft>
                <a:spcPts val="300"/>
              </a:spcAft>
            </a:pPr>
            <a:r>
              <a:rPr sz="1300" b="0">
                <a:solidFill>
                  <a:srgbClr val="5B6372"/>
                </a:solidFill>
                <a:latin typeface="Arial"/>
              </a:rPr>
              <a:t>It is mandatory to take all three digital attendances for WSQ-funded courses.</a:t>
            </a:r>
          </a:p>
        </p:txBody>
      </p:sp>
      <p:sp>
        <p:nvSpPr>
          <p:cNvPr id="12" name="Rectangle 11"/>
          <p:cNvSpPr/>
          <p:nvPr/>
        </p:nvSpPr>
        <p:spPr>
          <a:xfrm>
            <a:off x="6231636"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432304"/>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86664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2560320"/>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The QR code</a:t>
            </a:r>
          </a:p>
          <a:p>
            <a:pPr algn="l">
              <a:spcAft>
                <a:spcPts val="300"/>
              </a:spcAft>
            </a:pPr>
            <a:r>
              <a:rPr sz="1300" b="0">
                <a:solidFill>
                  <a:srgbClr val="5B6372"/>
                </a:solidFill>
                <a:latin typeface="Arial"/>
              </a:rPr>
              <a:t>The trainer or administrator displays the attendance QR code from the SSG portal.</a:t>
            </a:r>
          </a:p>
        </p:txBody>
      </p:sp>
      <p:sp>
        <p:nvSpPr>
          <p:cNvPr id="17" name="Rectangle 16"/>
          <p:cNvSpPr/>
          <p:nvPr/>
        </p:nvSpPr>
        <p:spPr>
          <a:xfrm>
            <a:off x="777240"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5217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it with your mobile phone camera and submit your attendance.</a:t>
            </a:r>
          </a:p>
        </p:txBody>
      </p:sp>
      <p:sp>
        <p:nvSpPr>
          <p:cNvPr id="22" name="Rectangle 21"/>
          <p:cNvSpPr/>
          <p:nvPr/>
        </p:nvSpPr>
        <p:spPr>
          <a:xfrm>
            <a:off x="6231636"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52170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QUALIFICATIONS</a:t>
            </a:r>
          </a:p>
          <a:p>
            <a:pPr algn="l">
              <a:spcAft>
                <a:spcPts val="300"/>
              </a:spcAft>
            </a:pPr>
            <a:r>
              <a:rPr sz="1400" b="0">
                <a:solidFill>
                  <a:srgbClr val="161B26"/>
                </a:solidFill>
                <a:latin typeface="Arial"/>
              </a:rPr>
              <a:t>PhD — specialises in AI, automation and software engineering.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agentic AI, workflow automation (n8n) and app development.</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automation or AI tools (if any).</a:t>
            </a:r>
          </a:p>
          <a:p>
            <a:pPr>
              <a:spcAft>
                <a:spcPts val="1000"/>
              </a:spcAft>
            </a:pPr>
            <a:r>
              <a:rPr sz="2000" b="0">
                <a:solidFill>
                  <a:srgbClr val="161B26"/>
                </a:solidFill>
                <a:latin typeface="Arial"/>
              </a:rPr>
              <a:t>•  One business process in your work you would most like to automate.</a:t>
            </a:r>
          </a:p>
          <a:p>
            <a:pPr>
              <a:spcAft>
                <a:spcPts val="1000"/>
              </a:spcAft>
            </a:pPr>
            <a:r>
              <a:rPr sz="2000" b="0">
                <a:solidFill>
                  <a:srgbClr val="161B26"/>
                </a:solidFill>
                <a:latin typeface="Arial"/>
              </a:rPr>
              <a:t>•  What you want to be able to build by the end of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portal.png"/>
          <p:cNvPicPr>
            <a:picLocks noChangeAspect="1"/>
          </p:cNvPicPr>
          <p:nvPr/>
        </p:nvPicPr>
        <p:blipFill>
          <a:blip r:embed="rId2"/>
          <a:stretch>
            <a:fillRect/>
          </a:stretch>
        </p:blipFill>
        <p:spPr>
          <a:xfrm>
            <a:off x="3567156" y="1755648"/>
            <a:ext cx="5057383" cy="3986784"/>
          </a:xfrm>
          <a:prstGeom prst="rect">
            <a:avLst/>
          </a:prstGeom>
        </p:spPr>
      </p:pic>
      <p:sp>
        <p:nvSpPr>
          <p:cNvPr id="8" name="TextBox 7"/>
          <p:cNvSpPr txBox="1"/>
          <p:nvPr/>
        </p:nvSpPr>
        <p:spPr>
          <a:xfrm>
            <a:off x="777240" y="5852160"/>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Log in at lms-tms.tertiaryinfotech.com with your registered email and the OTP sent to your inbox, then open this course to download the slides and Learner Guide.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lms-tms.tertiaryinfotech.com</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Enter your registered email and click Send OTP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Key in the one-time password from your inbox</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and download the slides + Learner Guide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 the assessment is open book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GET THE FLOWS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Get the Course Workflows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Every lab ships with a ready-made n8n workflow (.json) in the course labs/ folder.</a:t>
            </a:r>
          </a:p>
          <a:p>
            <a:pPr>
              <a:spcAft>
                <a:spcPts val="1000"/>
              </a:spcAft>
            </a:pPr>
            <a:r>
              <a:rPr sz="2000" b="0">
                <a:solidFill>
                  <a:srgbClr val="161B26"/>
                </a:solidFill>
                <a:latin typeface="Arial"/>
              </a:rPr>
              <a:t>•  In n8n: Workflows → Add workflow → ⋯ → Import from File → pick the lab .json.</a:t>
            </a:r>
          </a:p>
          <a:p>
            <a:pPr>
              <a:spcAft>
                <a:spcPts val="1000"/>
              </a:spcAft>
            </a:pPr>
            <a:r>
              <a:rPr sz="2000" b="0">
                <a:solidFill>
                  <a:srgbClr val="161B26"/>
                </a:solidFill>
                <a:latin typeface="Arial"/>
              </a:rPr>
              <a:t>•  After importing, re-select YOUR OWN credentials on every node that shows a warning.</a:t>
            </a:r>
          </a:p>
          <a:p>
            <a:pPr>
              <a:spcAft>
                <a:spcPts val="1000"/>
              </a:spcAft>
            </a:pPr>
            <a:r>
              <a:rPr sz="2000" b="0">
                <a:solidFill>
                  <a:srgbClr val="161B26"/>
                </a:solidFill>
                <a:latin typeface="Arial"/>
              </a:rPr>
              <a:t>•  Imported workflows reference credential names, not secrets — nothing of yours is shared.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ALIGNMENT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Skills Framework (TSC)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TSC Title: Artificial Intelligence Application</a:t>
            </a:r>
          </a:p>
          <a:p>
            <a:pPr>
              <a:spcAft>
                <a:spcPts val="1000"/>
              </a:spcAft>
            </a:pPr>
            <a:r>
              <a:rPr sz="2000" b="0">
                <a:solidFill>
                  <a:srgbClr val="161B26"/>
                </a:solidFill>
                <a:latin typeface="Arial"/>
              </a:rPr>
              <a:t>•  TSC Code: AER-TEM-3026-1.1</a:t>
            </a:r>
          </a:p>
          <a:p>
            <a:pPr>
              <a:spcAft>
                <a:spcPts val="1000"/>
              </a:spcAft>
            </a:pPr>
            <a:r>
              <a:rPr sz="2000" b="0">
                <a:solidFill>
                  <a:srgbClr val="161B26"/>
                </a:solidFill>
                <a:latin typeface="Arial"/>
              </a:rPr>
              <a:t>•  This WSQ course is mapped to the SkillsFuture Singapore Skills Framework.</a:t>
            </a:r>
          </a:p>
          <a:p>
            <a:pPr>
              <a:spcAft>
                <a:spcPts val="1000"/>
              </a:spcAft>
            </a:pPr>
            <a:r>
              <a:rPr sz="2000" b="0">
                <a:solidFill>
                  <a:srgbClr val="161B26"/>
                </a:solidFill>
                <a:latin typeface="Arial"/>
              </a:rPr>
              <a:t>•  The assessment covers every Ability (A) and Knowledge (K) statement listed next.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Abilities and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Abilities (assessed by PP)</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Knowledge (assessed by WA)</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400" b="0">
                <a:solidFill>
                  <a:srgbClr val="5B6372"/>
                </a:solidFill>
                <a:latin typeface="Arial"/>
              </a:rPr>
              <a:t>–  A1 Implement AI applications in collaboration with technology service providers</a:t>
            </a:r>
          </a:p>
          <a:p>
            <a:pPr>
              <a:spcAft>
                <a:spcPts val="1000"/>
              </a:spcAft>
            </a:pPr>
            <a:r>
              <a:rPr sz="1400" b="0">
                <a:solidFill>
                  <a:srgbClr val="5B6372"/>
                </a:solidFill>
                <a:latin typeface="Arial"/>
              </a:rPr>
              <a:t>–  A2 Deploy AI workflows according to plan</a:t>
            </a:r>
          </a:p>
          <a:p>
            <a:pPr>
              <a:spcAft>
                <a:spcPts val="1000"/>
              </a:spcAft>
            </a:pPr>
            <a:r>
              <a:rPr sz="1400" b="0">
                <a:solidFill>
                  <a:srgbClr val="5B6372"/>
                </a:solidFill>
                <a:latin typeface="Arial"/>
              </a:rPr>
              <a:t>–  A3 Identify and report any issues with the AI applications and data collected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400" b="0">
                <a:solidFill>
                  <a:srgbClr val="5B6372"/>
                </a:solidFill>
                <a:latin typeface="Arial"/>
              </a:rPr>
              <a:t>–  K1 Background and basics of AI</a:t>
            </a:r>
          </a:p>
          <a:p>
            <a:pPr>
              <a:spcAft>
                <a:spcPts val="1000"/>
              </a:spcAft>
            </a:pPr>
            <a:r>
              <a:rPr sz="1400" b="0">
                <a:solidFill>
                  <a:srgbClr val="5B6372"/>
                </a:solidFill>
                <a:latin typeface="Arial"/>
              </a:rPr>
              <a:t>–  K2 Fundamental concepts and methods of statistics and programming for data science</a:t>
            </a:r>
          </a:p>
          <a:p>
            <a:pPr>
              <a:spcAft>
                <a:spcPts val="1000"/>
              </a:spcAft>
            </a:pPr>
            <a:r>
              <a:rPr sz="1400" b="0">
                <a:solidFill>
                  <a:srgbClr val="5B6372"/>
                </a:solidFill>
                <a:latin typeface="Arial"/>
              </a:rPr>
              <a:t>–  K3 Mathematics and computing theories</a:t>
            </a:r>
          </a:p>
          <a:p>
            <a:pPr>
              <a:spcAft>
                <a:spcPts val="1000"/>
              </a:spcAft>
            </a:pPr>
            <a:r>
              <a:rPr sz="1400" b="0">
                <a:solidFill>
                  <a:srgbClr val="5B6372"/>
                </a:solidFill>
                <a:latin typeface="Arial"/>
              </a:rPr>
              <a:t>–  K4 Machine learning techniques and applications</a:t>
            </a:r>
          </a:p>
          <a:p>
            <a:pPr>
              <a:spcAft>
                <a:spcPts val="1000"/>
              </a:spcAft>
            </a:pPr>
            <a:r>
              <a:rPr sz="1400" b="0">
                <a:solidFill>
                  <a:srgbClr val="5B6372"/>
                </a:solidFill>
                <a:latin typeface="Arial"/>
              </a:rPr>
              <a:t>–  K5 Principles of data management</a:t>
            </a:r>
          </a:p>
          <a:p>
            <a:pPr>
              <a:spcAft>
                <a:spcPts val="1000"/>
              </a:spcAft>
            </a:pPr>
            <a:r>
              <a:rPr sz="1400" b="0">
                <a:solidFill>
                  <a:srgbClr val="5B6372"/>
                </a:solidFill>
                <a:latin typeface="Arial"/>
              </a:rPr>
              <a:t>–  K6 Software development methodologies</a:t>
            </a:r>
          </a:p>
          <a:p>
            <a:pPr>
              <a:spcAft>
                <a:spcPts val="1000"/>
              </a:spcAft>
            </a:pPr>
            <a:r>
              <a:rPr sz="1400" b="0">
                <a:solidFill>
                  <a:srgbClr val="5B6372"/>
                </a:solidFill>
                <a:latin typeface="Arial"/>
              </a:rPr>
              <a:t>–  K7 Types of AI applications</a:t>
            </a:r>
          </a:p>
          <a:p>
            <a:pPr>
              <a:spcAft>
                <a:spcPts val="1000"/>
              </a:spcAft>
            </a:pPr>
            <a:r>
              <a:rPr sz="1400" b="0">
                <a:solidFill>
                  <a:srgbClr val="5B6372"/>
                </a:solidFill>
                <a:latin typeface="Arial"/>
              </a:rPr>
              <a:t>–  K8 AI implementation procedures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2 Days, 7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 &amp; timing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n8n, AI Agents and Agentic Chatbots</a:t>
            </a:r>
          </a:p>
          <a:p>
            <a:pPr>
              <a:spcAft>
                <a:spcPts val="1000"/>
              </a:spcAft>
            </a:pPr>
            <a:r>
              <a:rPr sz="1400" b="0">
                <a:solidFill>
                  <a:srgbClr val="5B6372"/>
                </a:solidFill>
                <a:latin typeface="Arial"/>
              </a:rPr>
              <a:t>–  Topic 1: Overview of n8n and AI Agents</a:t>
            </a:r>
          </a:p>
          <a:p>
            <a:pPr>
              <a:spcAft>
                <a:spcPts val="1000"/>
              </a:spcAft>
            </a:pPr>
            <a:r>
              <a:rPr sz="1400" b="0">
                <a:solidFill>
                  <a:srgbClr val="5B6372"/>
                </a:solidFill>
                <a:latin typeface="Arial"/>
              </a:rPr>
              <a:t>–  Lab 1 — n8n trigger and action</a:t>
            </a:r>
          </a:p>
          <a:p>
            <a:pPr>
              <a:spcAft>
                <a:spcPts val="1000"/>
              </a:spcAft>
            </a:pPr>
            <a:r>
              <a:rPr sz="1400" b="0">
                <a:solidFill>
                  <a:srgbClr val="5B6372"/>
                </a:solidFill>
                <a:latin typeface="Arial"/>
              </a:rPr>
              <a:t>–  Lab 2 — Webhook and AI Agent</a:t>
            </a:r>
          </a:p>
          <a:p>
            <a:pPr>
              <a:spcAft>
                <a:spcPts val="1000"/>
              </a:spcAft>
            </a:pPr>
            <a:r>
              <a:rPr sz="1400" b="0">
                <a:solidFill>
                  <a:srgbClr val="5B6372"/>
                </a:solidFill>
                <a:latin typeface="Arial"/>
              </a:rPr>
              <a:t>–  Topic 2 begins: Agentic workflows</a:t>
            </a:r>
          </a:p>
          <a:p>
            <a:pPr>
              <a:spcAft>
                <a:spcPts val="1000"/>
              </a:spcAft>
            </a:pPr>
            <a:r>
              <a:rPr sz="1400" b="0">
                <a:solidFill>
                  <a:srgbClr val="5B6372"/>
                </a:solidFill>
                <a:latin typeface="Arial"/>
              </a:rPr>
              <a:t>–  Lab 3 — Chatbot webhook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Human in the Loop, RAG and Assessment</a:t>
            </a:r>
          </a:p>
          <a:p>
            <a:pPr>
              <a:spcAft>
                <a:spcPts val="1000"/>
              </a:spcAft>
            </a:pPr>
            <a:r>
              <a:rPr sz="1400" b="0">
                <a:solidFill>
                  <a:srgbClr val="5B6372"/>
                </a:solidFill>
                <a:latin typeface="Arial"/>
              </a:rPr>
              <a:t>–  Topic 2: Human in the loop</a:t>
            </a:r>
          </a:p>
          <a:p>
            <a:pPr>
              <a:spcAft>
                <a:spcPts val="1000"/>
              </a:spcAft>
            </a:pPr>
            <a:r>
              <a:rPr sz="1400" b="0">
                <a:solidFill>
                  <a:srgbClr val="5B6372"/>
                </a:solidFill>
                <a:latin typeface="Arial"/>
              </a:rPr>
              <a:t>–  Lab 4 — Human in the loop</a:t>
            </a:r>
          </a:p>
          <a:p>
            <a:pPr>
              <a:spcAft>
                <a:spcPts val="1000"/>
              </a:spcAft>
            </a:pPr>
            <a:r>
              <a:rPr sz="1400" b="0">
                <a:solidFill>
                  <a:srgbClr val="5B6372"/>
                </a:solidFill>
                <a:latin typeface="Arial"/>
              </a:rPr>
              <a:t>–  Topic 3: RAG — Lab 5</a:t>
            </a:r>
          </a:p>
          <a:p>
            <a:pPr>
              <a:spcAft>
                <a:spcPts val="1000"/>
              </a:spcAft>
            </a:pPr>
            <a:r>
              <a:rPr sz="1400" b="0">
                <a:solidFill>
                  <a:srgbClr val="5B6372"/>
                </a:solidFill>
                <a:latin typeface="Arial"/>
              </a:rPr>
              <a:t>–  Final Assessment (WA + PP)</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Day 1: 9:30 am – 6:00 pm</a:t>
            </a:r>
          </a:p>
          <a:p>
            <a:pPr>
              <a:spcAft>
                <a:spcPts val="1000"/>
              </a:spcAft>
            </a:pPr>
            <a:r>
              <a:rPr sz="1400" b="0">
                <a:solidFill>
                  <a:srgbClr val="5B6372"/>
                </a:solidFill>
                <a:latin typeface="Arial"/>
              </a:rPr>
              <a:t>–  Day 2: 9:00 am – 5:30 pm instruction, assessment to 7:45 pm</a:t>
            </a:r>
          </a:p>
          <a:p>
            <a:pPr>
              <a:spcAft>
                <a:spcPts val="1000"/>
              </a:spcAft>
            </a:pPr>
            <a:r>
              <a:rPr sz="1400" b="0">
                <a:solidFill>
                  <a:srgbClr val="5B6372"/>
                </a:solidFill>
                <a:latin typeface="Arial"/>
              </a:rPr>
              <a:t>–  1-hour lunch; tea breaks additional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LO1 · n8n and AI agents</a:t>
            </a:r>
          </a:p>
          <a:p>
            <a:pPr algn="l">
              <a:spcAft>
                <a:spcPts val="300"/>
              </a:spcAft>
            </a:pPr>
            <a:r>
              <a:rPr sz="1300" b="0">
                <a:solidFill>
                  <a:srgbClr val="5B6372"/>
                </a:solidFill>
                <a:latin typeface="Arial"/>
              </a:rPr>
              <a:t>Explain what n8n and AI agents are, and build workflows using triggers and actions.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LO2 · Webhook-triggered agents</a:t>
            </a:r>
          </a:p>
          <a:p>
            <a:pPr algn="l">
              <a:spcAft>
                <a:spcPts val="300"/>
              </a:spcAft>
            </a:pPr>
            <a:r>
              <a:rPr sz="1300" b="0">
                <a:solidFill>
                  <a:srgbClr val="5B6372"/>
                </a:solidFill>
                <a:latin typeface="Arial"/>
              </a:rPr>
              <a:t>Implement AI agent applications triggered by webhooks and integrated with business systems.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LO3 · Agentic chatbots</a:t>
            </a:r>
          </a:p>
          <a:p>
            <a:pPr algn="l">
              <a:spcAft>
                <a:spcPts val="300"/>
              </a:spcAft>
            </a:pPr>
            <a:r>
              <a:rPr sz="1300" b="0">
                <a:solidFill>
                  <a:srgbClr val="5B6372"/>
                </a:solidFill>
                <a:latin typeface="Arial"/>
              </a:rPr>
              <a:t>Design agentic chatbot workflows that operate within business and regulatory constraints.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LO4 · Human in the loop</a:t>
            </a:r>
          </a:p>
          <a:p>
            <a:pPr algn="l">
              <a:spcAft>
                <a:spcPts val="300"/>
              </a:spcAft>
            </a:pPr>
            <a:r>
              <a:rPr sz="1300" b="0">
                <a:solidFill>
                  <a:srgbClr val="5B6372"/>
                </a:solidFill>
                <a:latin typeface="Arial"/>
              </a:rPr>
              <a:t>Apply human approval so that sensitive actions are authorised by a named person.</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LO5 · RAG</a:t>
            </a:r>
          </a:p>
          <a:p>
            <a:pPr algn="l">
              <a:spcAft>
                <a:spcPts val="300"/>
              </a:spcAft>
            </a:pPr>
            <a:r>
              <a:rPr sz="1300" b="0">
                <a:solidFill>
                  <a:srgbClr val="5B6372"/>
                </a:solidFill>
                <a:latin typeface="Arial"/>
              </a:rPr>
              <a:t>Deploy Retrieval-Augmented Generation to ground an agent in your organisation's documents.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WE'LL COVER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Topic 1: Overview of n8n and AI Agents</a:t>
            </a:r>
          </a:p>
          <a:p>
            <a:pPr>
              <a:spcAft>
                <a:spcPts val="1000"/>
              </a:spcAft>
            </a:pPr>
            <a:r>
              <a:rPr sz="1600" b="0">
                <a:solidFill>
                  <a:srgbClr val="5B6372"/>
                </a:solidFill>
                <a:latin typeface="Arial"/>
              </a:rPr>
              <a:t>–  What is n8n · Lab 1: n8n trigger and action · What is an AI Agent · Lab 2: Webhook and AI Agent</a:t>
            </a:r>
          </a:p>
          <a:p>
            <a:pPr>
              <a:spcAft>
                <a:spcPts val="1000"/>
              </a:spcAft>
            </a:pPr>
            <a:r>
              <a:rPr sz="1800" b="0">
                <a:solidFill>
                  <a:srgbClr val="161B26"/>
                </a:solidFill>
                <a:latin typeface="Arial"/>
              </a:rPr>
              <a:t>•  Topic 2: Agentic Chatbot and Human in the Loop</a:t>
            </a:r>
          </a:p>
          <a:p>
            <a:pPr>
              <a:spcAft>
                <a:spcPts val="1000"/>
              </a:spcAft>
            </a:pPr>
            <a:r>
              <a:rPr sz="1600" b="0">
                <a:solidFill>
                  <a:srgbClr val="5B6372"/>
                </a:solidFill>
                <a:latin typeface="Arial"/>
              </a:rPr>
              <a:t>–  What is an agentic workflow · Lab 3: Chatbot webhook · Lab 4: Human in the loop</a:t>
            </a:r>
          </a:p>
          <a:p>
            <a:pPr>
              <a:spcAft>
                <a:spcPts val="1000"/>
              </a:spcAft>
            </a:pPr>
            <a:r>
              <a:rPr sz="1800" b="0">
                <a:solidFill>
                  <a:srgbClr val="161B26"/>
                </a:solidFill>
                <a:latin typeface="Arial"/>
              </a:rPr>
              <a:t>•  Topic 3: Retrieval-Augmented Generation (RAG)</a:t>
            </a:r>
          </a:p>
          <a:p>
            <a:pPr>
              <a:spcAft>
                <a:spcPts val="1000"/>
              </a:spcAft>
            </a:pPr>
            <a:r>
              <a:rPr sz="1600" b="0">
                <a:solidFill>
                  <a:srgbClr val="5B6372"/>
                </a:solidFill>
                <a:latin typeface="Arial"/>
              </a:rPr>
              <a:t>–  What is RAG · Lab 5: RAG customer care chatbot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FUNDING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800" b="1">
                <a:solidFill>
                  <a:srgbClr val="161B26"/>
                </a:solidFill>
                <a:latin typeface="Arial"/>
              </a:rPr>
              <a:t>75% attendance</a:t>
            </a:r>
          </a:p>
          <a:p>
            <a:pPr algn="l">
              <a:spcAft>
                <a:spcPts val="300"/>
              </a:spcAft>
            </a:pPr>
            <a:r>
              <a:rPr sz="1400" b="0">
                <a:solidFill>
                  <a:srgbClr val="5B6372"/>
                </a:solidFill>
                <a:latin typeface="Arial"/>
              </a:rPr>
              <a:t>A minimum attendance rate of 75%, based on the SSG Digital Attendance record.</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800" b="1">
                <a:solidFill>
                  <a:srgbClr val="161B26"/>
                </a:solidFill>
                <a:latin typeface="Arial"/>
              </a:rPr>
              <a:t>Assessed Competent</a:t>
            </a:r>
          </a:p>
          <a:p>
            <a:pPr algn="l">
              <a:spcAft>
                <a:spcPts val="300"/>
              </a:spcAft>
            </a:pPr>
            <a:r>
              <a:rPr sz="1400" b="0">
                <a:solidFill>
                  <a:srgbClr val="5B6372"/>
                </a:solidFill>
                <a:latin typeface="Arial"/>
              </a:rPr>
              <a:t>Complete the assessment and be assessed as 'Competent'.</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800" b="1">
                <a:solidFill>
                  <a:srgbClr val="161B26"/>
                </a:solidFill>
                <a:latin typeface="Arial"/>
              </a:rPr>
              <a:t>Both are required</a:t>
            </a:r>
          </a:p>
          <a:p>
            <a:pPr algn="l">
              <a:spcAft>
                <a:spcPts val="300"/>
              </a:spcAft>
            </a:pPr>
            <a:r>
              <a:rPr sz="1400" b="0">
                <a:solidFill>
                  <a:srgbClr val="5B6372"/>
                </a:solidFill>
                <a:latin typeface="Arial"/>
              </a:rPr>
              <a:t>Both criteria must be met for the course fee funding to be granted.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ASSESSMENT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liquid paper or correction tape.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Written Assessment (SAQ)</a:t>
            </a:r>
          </a:p>
          <a:p>
            <a:pPr algn="l">
              <a:spcAft>
                <a:spcPts val="300"/>
              </a:spcAft>
            </a:pPr>
            <a:r>
              <a:rPr sz="1200" b="0">
                <a:solidFill>
                  <a:srgbClr val="5B6372"/>
                </a:solidFill>
                <a:latin typeface="Arial"/>
              </a:rPr>
              <a:t>1 hour. Short-answer questions covering the course knowledge.</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1 hour. Hands-on n8n build tasks drawn from the five labs.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75% attendance</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required.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Why Agentic AI, and Why Now</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RULES TO AGENTS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Evolution of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Artificial Intelligence · 1950s</a:t>
            </a:r>
          </a:p>
          <a:p>
            <a:pPr algn="l">
              <a:spcAft>
                <a:spcPts val="300"/>
              </a:spcAft>
            </a:pPr>
            <a:r>
              <a:rPr sz="1200" b="0">
                <a:solidFill>
                  <a:srgbClr val="5B6372"/>
                </a:solidFill>
                <a:latin typeface="Arial"/>
              </a:rPr>
              <a:t>Turing's test and symbolic, rule-based systems that encode human expertise by hand.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Machine Learning · 1990s</a:t>
            </a:r>
          </a:p>
          <a:p>
            <a:pPr algn="l">
              <a:spcAft>
                <a:spcPts val="300"/>
              </a:spcAft>
            </a:pPr>
            <a:r>
              <a:rPr sz="1200" b="0">
                <a:solidFill>
                  <a:srgbClr val="5B6372"/>
                </a:solidFill>
                <a:latin typeface="Arial"/>
              </a:rPr>
              <a:t>Data-driven systems that learn patterns from examples instead of being programmed with rules.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Deep Learning · 2000s</a:t>
            </a:r>
          </a:p>
          <a:p>
            <a:pPr algn="l">
              <a:spcAft>
                <a:spcPts val="300"/>
              </a:spcAft>
            </a:pPr>
            <a:r>
              <a:rPr sz="1200" b="0">
                <a:solidFill>
                  <a:srgbClr val="5B6372"/>
                </a:solidFill>
                <a:latin typeface="Arial"/>
              </a:rPr>
              <a:t>Neural networks — DNNs and CNNs — trained on large datasets with GPU compute.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Generative AI · 2020s</a:t>
            </a:r>
          </a:p>
          <a:p>
            <a:pPr algn="l">
              <a:spcAft>
                <a:spcPts val="300"/>
              </a:spcAft>
            </a:pPr>
            <a:r>
              <a:rPr sz="1200" b="0">
                <a:solidFill>
                  <a:srgbClr val="5B6372"/>
                </a:solidFill>
                <a:latin typeface="Arial"/>
              </a:rPr>
              <a:t>The 2017 Transformer and its attention mechanism made models that generate fluent text and images.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Agentic AI · 2024</a:t>
            </a:r>
          </a:p>
          <a:p>
            <a:pPr algn="l">
              <a:spcAft>
                <a:spcPts val="300"/>
              </a:spcAft>
            </a:pPr>
            <a:r>
              <a:rPr sz="1200" b="0">
                <a:solidFill>
                  <a:srgbClr val="5B6372"/>
                </a:solidFill>
                <a:latin typeface="Arial"/>
              </a:rPr>
              <a:t>LLMs given goals, tools and memory: they plan, act, observe and adapt rather than answering once.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Physical AI · 2025</a:t>
            </a:r>
          </a:p>
          <a:p>
            <a:pPr algn="l">
              <a:spcAft>
                <a:spcPts val="300"/>
              </a:spcAft>
            </a:pPr>
            <a:r>
              <a:rPr sz="1200" b="0">
                <a:solidFill>
                  <a:srgbClr val="5B6372"/>
                </a:solidFill>
                <a:latin typeface="Arial"/>
              </a:rPr>
              <a:t>Agents that perceive and act in the physical world — robotics and embodied systems.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CORE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Agentic AI is AI that does the work, not just describes 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An agent uses the reasoning power of a large language model to run a complex task by breaking it into simpler ones — calling tools, checking results and deciding what to do next.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AGENT LOOP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an AI Agent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i-agent-llm-loop.png"/>
          <p:cNvPicPr>
            <a:picLocks noChangeAspect="1"/>
          </p:cNvPicPr>
          <p:nvPr/>
        </p:nvPicPr>
        <p:blipFill>
          <a:blip r:embed="rId2"/>
          <a:stretch>
            <a:fillRect/>
          </a:stretch>
        </p:blipFill>
        <p:spPr>
          <a:xfrm>
            <a:off x="609447" y="1974638"/>
            <a:ext cx="10972800" cy="3548804"/>
          </a:xfrm>
          <a:prstGeom prst="rect">
            <a:avLst/>
          </a:prstGeom>
        </p:spPr>
      </p:pic>
      <p:sp>
        <p:nvSpPr>
          <p:cNvPr id="8" name="TextBox 7"/>
          <p:cNvSpPr txBox="1"/>
          <p:nvPr/>
        </p:nvSpPr>
        <p:spPr>
          <a:xfrm>
            <a:off x="777240" y="5633170"/>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The agent loop: given a goal, the LLM observes, chooses an action, acts on the world through a tool, observes the result, and repeats until the goal is met.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DISTINCTION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Agentic AI vs Generative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Content creation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Action and autonomy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Generative AI</a:t>
            </a:r>
          </a:p>
          <a:p>
            <a:pPr>
              <a:spcAft>
                <a:spcPts val="1000"/>
              </a:spcAft>
            </a:pPr>
            <a:r>
              <a:rPr sz="1400" b="0">
                <a:solidFill>
                  <a:srgbClr val="5B6372"/>
                </a:solidFill>
                <a:latin typeface="Arial"/>
              </a:rPr>
              <a:t>–  Creates content — text, images, code</a:t>
            </a:r>
          </a:p>
          <a:p>
            <a:pPr>
              <a:spcAft>
                <a:spcPts val="1000"/>
              </a:spcAft>
            </a:pPr>
            <a:r>
              <a:rPr sz="1400" b="0">
                <a:solidFill>
                  <a:srgbClr val="5B6372"/>
                </a:solidFill>
                <a:latin typeface="Arial"/>
              </a:rPr>
              <a:t>–  Responds to a prompt, once</a:t>
            </a:r>
          </a:p>
          <a:p>
            <a:pPr>
              <a:spcAft>
                <a:spcPts val="1000"/>
              </a:spcAft>
            </a:pPr>
            <a:r>
              <a:rPr sz="1400" b="0">
                <a:solidFill>
                  <a:srgbClr val="5B6372"/>
                </a:solidFill>
                <a:latin typeface="Arial"/>
              </a:rPr>
              <a:t>–  Relies on you for context and goals</a:t>
            </a:r>
          </a:p>
          <a:p>
            <a:pPr>
              <a:spcAft>
                <a:spcPts val="1000"/>
              </a:spcAft>
            </a:pPr>
            <a:r>
              <a:rPr sz="1400" b="0">
                <a:solidFill>
                  <a:srgbClr val="5B6372"/>
                </a:solidFill>
                <a:latin typeface="Arial"/>
              </a:rPr>
              <a:t>–  Stops when the answer is produced</a:t>
            </a:r>
          </a:p>
          <a:p>
            <a:pPr>
              <a:spcAft>
                <a:spcPts val="1000"/>
              </a:spcAft>
            </a:pPr>
            <a:r>
              <a:rPr sz="1400" b="0">
                <a:solidFill>
                  <a:srgbClr val="5B6372"/>
                </a:solidFill>
                <a:latin typeface="Arial"/>
              </a:rPr>
              <a:t>–  Example: draft me an email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Agentic AI</a:t>
            </a:r>
          </a:p>
          <a:p>
            <a:pPr>
              <a:spcAft>
                <a:spcPts val="1000"/>
              </a:spcAft>
            </a:pPr>
            <a:r>
              <a:rPr sz="1400" b="0">
                <a:solidFill>
                  <a:srgbClr val="5B6372"/>
                </a:solidFill>
                <a:latin typeface="Arial"/>
              </a:rPr>
              <a:t>–  Takes actions towards a goal</a:t>
            </a:r>
          </a:p>
          <a:p>
            <a:pPr>
              <a:spcAft>
                <a:spcPts val="1000"/>
              </a:spcAft>
            </a:pPr>
            <a:r>
              <a:rPr sz="1400" b="0">
                <a:solidFill>
                  <a:srgbClr val="5B6372"/>
                </a:solidFill>
                <a:latin typeface="Arial"/>
              </a:rPr>
              <a:t>–  Plans, acts, observes, adapts</a:t>
            </a:r>
          </a:p>
          <a:p>
            <a:pPr>
              <a:spcAft>
                <a:spcPts val="1000"/>
              </a:spcAft>
            </a:pPr>
            <a:r>
              <a:rPr sz="1400" b="0">
                <a:solidFill>
                  <a:srgbClr val="5B6372"/>
                </a:solidFill>
                <a:latin typeface="Arial"/>
              </a:rPr>
              <a:t>–  Uses tools to reach real systems</a:t>
            </a:r>
          </a:p>
          <a:p>
            <a:pPr>
              <a:spcAft>
                <a:spcPts val="1000"/>
              </a:spcAft>
            </a:pPr>
            <a:r>
              <a:rPr sz="1400" b="0">
                <a:solidFill>
                  <a:srgbClr val="5B6372"/>
                </a:solidFill>
                <a:latin typeface="Arial"/>
              </a:rPr>
              <a:t>–  Continues until the goal is met</a:t>
            </a:r>
          </a:p>
          <a:p>
            <a:pPr>
              <a:spcAft>
                <a:spcPts val="1000"/>
              </a:spcAft>
            </a:pPr>
            <a:r>
              <a:rPr sz="1400" b="0">
                <a:solidFill>
                  <a:srgbClr val="5B6372"/>
                </a:solidFill>
                <a:latin typeface="Arial"/>
              </a:rPr>
              <a:t>–  Example: read the enquiry, check the CRM, reply and log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APA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RPA to Agentic Process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pa-to-apa.png"/>
          <p:cNvPicPr>
            <a:picLocks noChangeAspect="1"/>
          </p:cNvPicPr>
          <p:nvPr/>
        </p:nvPicPr>
        <p:blipFill>
          <a:blip r:embed="rId2"/>
          <a:stretch>
            <a:fillRect/>
          </a:stretch>
        </p:blipFill>
        <p:spPr>
          <a:xfrm>
            <a:off x="1089189" y="1755648"/>
            <a:ext cx="10013317" cy="3986784"/>
          </a:xfrm>
          <a:prstGeom prst="rect">
            <a:avLst/>
          </a:prstGeom>
        </p:spPr>
      </p:pic>
      <p:sp>
        <p:nvSpPr>
          <p:cNvPr id="8" name="TextBox 7"/>
          <p:cNvSpPr txBox="1"/>
          <p:nvPr/>
        </p:nvSpPr>
        <p:spPr>
          <a:xfrm>
            <a:off x="777240" y="5852160"/>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Robotic Process Automation follows a rigid path you construct by hand. Agentic Process Automation lets an agent orchestrate the workflow, so it handles both rigid and flexible tasks.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ORGANISATIONS ADOPT 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Value of Agentic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Free people from repetitive admin</a:t>
            </a:r>
          </a:p>
          <a:p>
            <a:pPr algn="l">
              <a:spcAft>
                <a:spcPts val="300"/>
              </a:spcAft>
            </a:pPr>
            <a:r>
              <a:rPr sz="1200" b="0">
                <a:solidFill>
                  <a:srgbClr val="5B6372"/>
                </a:solidFill>
                <a:latin typeface="Arial"/>
              </a:rPr>
              <a:t>Scheduling, form processing, data entry, report generation and email routing run themselves.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Shift effort to high-value work</a:t>
            </a:r>
          </a:p>
          <a:p>
            <a:pPr algn="l">
              <a:spcAft>
                <a:spcPts val="300"/>
              </a:spcAft>
            </a:pPr>
            <a:r>
              <a:rPr sz="1200" b="0">
                <a:solidFill>
                  <a:srgbClr val="5B6372"/>
                </a:solidFill>
                <a:latin typeface="Arial"/>
              </a:rPr>
              <a:t>When the admin burden lifts, people spend time on judgement, relationships and strategy.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Respond in real time</a:t>
            </a:r>
          </a:p>
          <a:p>
            <a:pPr algn="l">
              <a:spcAft>
                <a:spcPts val="300"/>
              </a:spcAft>
            </a:pPr>
            <a:r>
              <a:rPr sz="1200" b="0">
                <a:solidFill>
                  <a:srgbClr val="5B6372"/>
                </a:solidFill>
                <a:latin typeface="Arial"/>
              </a:rPr>
              <a:t>Events — a form, a payment, a customer message — trigger a workflow the moment they happen.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 around the clock</a:t>
            </a:r>
          </a:p>
          <a:p>
            <a:pPr algn="l">
              <a:spcAft>
                <a:spcPts val="300"/>
              </a:spcAft>
            </a:pPr>
            <a:r>
              <a:rPr sz="1200" b="0">
                <a:solidFill>
                  <a:srgbClr val="5B6372"/>
                </a:solidFill>
                <a:latin typeface="Arial"/>
              </a:rPr>
              <a:t>An agent answers a 2am enquiry with the same care as a 2pm one, and never forgets to log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Reduce human error</a:t>
            </a:r>
          </a:p>
          <a:p>
            <a:pPr algn="l">
              <a:spcAft>
                <a:spcPts val="300"/>
              </a:spcAft>
            </a:pPr>
            <a:r>
              <a:rPr sz="1200" b="0">
                <a:solidFill>
                  <a:srgbClr val="5B6372"/>
                </a:solidFill>
                <a:latin typeface="Arial"/>
              </a:rPr>
              <a:t>The same rules are applied to every case, and every decision is written to an audit trail.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Scale without headcount</a:t>
            </a:r>
          </a:p>
          <a:p>
            <a:pPr algn="l">
              <a:spcAft>
                <a:spcPts val="300"/>
              </a:spcAft>
            </a:pPr>
            <a:r>
              <a:rPr sz="1200" b="0">
                <a:solidFill>
                  <a:srgbClr val="5B6372"/>
                </a:solidFill>
                <a:latin typeface="Arial"/>
              </a:rPr>
              <a:t>Handling ten times the volume costs compute, not another ten hires.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USE CASES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Agentic Automation is Used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Customer service</a:t>
            </a:r>
          </a:p>
          <a:p>
            <a:pPr algn="l">
              <a:spcAft>
                <a:spcPts val="300"/>
              </a:spcAft>
            </a:pPr>
            <a:r>
              <a:rPr sz="1200" b="0">
                <a:solidFill>
                  <a:srgbClr val="5B6372"/>
                </a:solidFill>
                <a:latin typeface="Arial"/>
              </a:rPr>
              <a:t>Answer enquiries from your own documents, capture leads, and escalate what needs a person.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Finance &amp; accounting</a:t>
            </a:r>
          </a:p>
          <a:p>
            <a:pPr algn="l">
              <a:spcAft>
                <a:spcPts val="300"/>
              </a:spcAft>
            </a:pPr>
            <a:r>
              <a:rPr sz="1200" b="0">
                <a:solidFill>
                  <a:srgbClr val="5B6372"/>
                </a:solidFill>
                <a:latin typeface="Arial"/>
              </a:rPr>
              <a:t>Invoice processing, bank reconciliation, accounts-payable routing and exception handling.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 &amp; compliance</a:t>
            </a:r>
          </a:p>
          <a:p>
            <a:pPr algn="l">
              <a:spcAft>
                <a:spcPts val="300"/>
              </a:spcAft>
            </a:pPr>
            <a:r>
              <a:rPr sz="1200" b="0">
                <a:solidFill>
                  <a:srgbClr val="5B6372"/>
                </a:solidFill>
                <a:latin typeface="Arial"/>
              </a:rPr>
              <a:t>Screen applications, flag anomalies, and route sensitive cases for human review.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HR &amp; people ops</a:t>
            </a:r>
          </a:p>
          <a:p>
            <a:pPr algn="l">
              <a:spcAft>
                <a:spcPts val="300"/>
              </a:spcAft>
            </a:pPr>
            <a:r>
              <a:rPr sz="1200" b="0">
                <a:solidFill>
                  <a:srgbClr val="5B6372"/>
                </a:solidFill>
                <a:latin typeface="Arial"/>
              </a:rPr>
              <a:t>Onboarding, leave applications, policy questions and approval chains.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Sales &amp; marketing</a:t>
            </a:r>
          </a:p>
          <a:p>
            <a:pPr algn="l">
              <a:spcAft>
                <a:spcPts val="300"/>
              </a:spcAft>
            </a:pPr>
            <a:r>
              <a:rPr sz="1200" b="0">
                <a:solidFill>
                  <a:srgbClr val="5B6372"/>
                </a:solidFill>
                <a:latin typeface="Arial"/>
              </a:rPr>
              <a:t>Lead qualification, follow-up sequencing, CRM enrichment and content drafting.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Operations</a:t>
            </a:r>
          </a:p>
          <a:p>
            <a:pPr algn="l">
              <a:spcAft>
                <a:spcPts val="300"/>
              </a:spcAft>
            </a:pPr>
            <a:r>
              <a:rPr sz="1200" b="0">
                <a:solidFill>
                  <a:srgbClr val="5B6372"/>
                </a:solidFill>
                <a:latin typeface="Arial"/>
              </a:rPr>
              <a:t>Order processing, status notifications, document generation and reporting.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COMPLEXITY VS CUSTOMISATION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AI Agent Platforms Sit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No-code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Fully visual builders</a:t>
            </a:r>
          </a:p>
          <a:p>
            <a:pPr>
              <a:spcAft>
                <a:spcPts val="900"/>
              </a:spcAft>
            </a:pPr>
            <a:r>
              <a:rPr sz="1400" b="0">
                <a:solidFill>
                  <a:srgbClr val="161B26"/>
                </a:solidFill>
                <a:latin typeface="Arial"/>
              </a:rPr>
              <a:t>•  Fastest to a working agent</a:t>
            </a:r>
          </a:p>
          <a:p>
            <a:pPr>
              <a:spcAft>
                <a:spcPts val="900"/>
              </a:spcAft>
            </a:pPr>
            <a:r>
              <a:rPr sz="1400" b="0">
                <a:solidFill>
                  <a:srgbClr val="161B26"/>
                </a:solidFill>
                <a:latin typeface="Arial"/>
              </a:rPr>
              <a:t>•  Least control over internals</a:t>
            </a:r>
          </a:p>
          <a:p>
            <a:pPr>
              <a:spcAft>
                <a:spcPts val="900"/>
              </a:spcAft>
            </a:pPr>
            <a:r>
              <a:rPr sz="1400" b="0">
                <a:solidFill>
                  <a:srgbClr val="161B26"/>
                </a:solidFill>
                <a:latin typeface="Arial"/>
              </a:rPr>
              <a:t>•  e.g. AgentX, chatbot builders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Low-code  ·  n8n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Visual canvas plus code nodes</a:t>
            </a:r>
          </a:p>
          <a:p>
            <a:pPr>
              <a:spcAft>
                <a:spcPts val="900"/>
              </a:spcAft>
            </a:pPr>
            <a:r>
              <a:rPr sz="1400" b="0">
                <a:solidFill>
                  <a:srgbClr val="161B26"/>
                </a:solidFill>
                <a:latin typeface="Arial"/>
              </a:rPr>
              <a:t>•  400+ integrations out of the box</a:t>
            </a:r>
          </a:p>
          <a:p>
            <a:pPr>
              <a:spcAft>
                <a:spcPts val="900"/>
              </a:spcAft>
            </a:pPr>
            <a:r>
              <a:rPr sz="1400" b="0">
                <a:solidFill>
                  <a:srgbClr val="161B26"/>
                </a:solidFill>
                <a:latin typeface="Arial"/>
              </a:rPr>
              <a:t>•  Self-host or cloud</a:t>
            </a:r>
          </a:p>
          <a:p>
            <a:pPr>
              <a:spcAft>
                <a:spcPts val="900"/>
              </a:spcAft>
            </a:pPr>
            <a:r>
              <a:rPr sz="1400" b="0">
                <a:solidFill>
                  <a:srgbClr val="161B26"/>
                </a:solidFill>
                <a:latin typeface="Arial"/>
              </a:rPr>
              <a:t>•  This course's platform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Full-code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SDKs and frameworks</a:t>
            </a:r>
          </a:p>
          <a:p>
            <a:pPr>
              <a:spcAft>
                <a:spcPts val="900"/>
              </a:spcAft>
            </a:pPr>
            <a:r>
              <a:rPr sz="1400" b="0">
                <a:solidFill>
                  <a:srgbClr val="161B26"/>
                </a:solidFill>
                <a:latin typeface="Arial"/>
              </a:rPr>
              <a:t>•  Maximum control and customisation</a:t>
            </a:r>
          </a:p>
          <a:p>
            <a:pPr>
              <a:spcAft>
                <a:spcPts val="900"/>
              </a:spcAft>
            </a:pPr>
            <a:r>
              <a:rPr sz="1400" b="0">
                <a:solidFill>
                  <a:srgbClr val="161B26"/>
                </a:solidFill>
                <a:latin typeface="Arial"/>
              </a:rPr>
              <a:t>•  Requires engineering effort</a:t>
            </a:r>
          </a:p>
          <a:p>
            <a:pPr>
              <a:spcAft>
                <a:spcPts val="900"/>
              </a:spcAft>
            </a:pPr>
            <a:r>
              <a:rPr sz="1400" b="0">
                <a:solidFill>
                  <a:srgbClr val="161B26"/>
                </a:solidFill>
                <a:latin typeface="Arial"/>
              </a:rPr>
              <a:t>•  e.g. LangChain, agent SDKs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Overview of n8n and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Workflow automation · Triggers &amp; actions · LLM agents · Webhooks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LO1 · LO2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Overview of n8n and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is n8n</a:t>
            </a:r>
          </a:p>
          <a:p>
            <a:pPr algn="l">
              <a:spcAft>
                <a:spcPts val="300"/>
              </a:spcAft>
            </a:pPr>
            <a:r>
              <a:rPr sz="1100" b="0">
                <a:solidFill>
                  <a:srgbClr val="5B6372"/>
                </a:solidFill>
                <a:latin typeface="Arial"/>
              </a:rPr>
              <a:t>A fair-code workflow automation platform: a visual canvas where nodes are wired together to move data between 400+ apps, with no code required.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Triggers and actions</a:t>
            </a:r>
          </a:p>
          <a:p>
            <a:pPr algn="l">
              <a:spcAft>
                <a:spcPts val="300"/>
              </a:spcAft>
            </a:pPr>
            <a:r>
              <a:rPr sz="1100" b="0">
                <a:solidFill>
                  <a:srgbClr val="5B6372"/>
                </a:solidFill>
                <a:latin typeface="Arial"/>
              </a:rPr>
              <a:t>A trigger decides WHEN a workflow runs — form, webhook, schedule, chat. Actions are what happens next — send mail, write a row, call an API.</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is an AI agent</a:t>
            </a:r>
          </a:p>
          <a:p>
            <a:pPr algn="l">
              <a:spcAft>
                <a:spcPts val="300"/>
              </a:spcAft>
            </a:pPr>
            <a:r>
              <a:rPr sz="1100" b="0">
                <a:solidFill>
                  <a:srgbClr val="5B6372"/>
                </a:solidFill>
                <a:latin typeface="Arial"/>
              </a:rPr>
              <a:t>An LLM given a goal, a set of tools and memory. It decides which tool to call and when, instead of following a fixed branch you wired by hand.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Agentic vs generative AI</a:t>
            </a:r>
          </a:p>
          <a:p>
            <a:pPr algn="l">
              <a:spcAft>
                <a:spcPts val="300"/>
              </a:spcAft>
            </a:pPr>
            <a:r>
              <a:rPr sz="1100" b="0">
                <a:solidFill>
                  <a:srgbClr val="5B6372"/>
                </a:solidFill>
                <a:latin typeface="Arial"/>
              </a:rPr>
              <a:t>Generative AI produces content when asked. Agentic AI pursues a goal — it plans, acts on the world through tools, observes the result and adapts.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Webhooks as the front door</a:t>
            </a:r>
          </a:p>
          <a:p>
            <a:pPr algn="l">
              <a:spcAft>
                <a:spcPts val="300"/>
              </a:spcAft>
            </a:pPr>
            <a:r>
              <a:rPr sz="1100" b="0">
                <a:solidFill>
                  <a:srgbClr val="5B6372"/>
                </a:solidFill>
                <a:latin typeface="Arial"/>
              </a:rPr>
              <a:t>A webhook is a URL any external system can POST to. It is what lets your own website, app or CRM start an n8n agent workflow.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Structured output</a:t>
            </a:r>
          </a:p>
          <a:p>
            <a:pPr algn="l">
              <a:spcAft>
                <a:spcPts val="300"/>
              </a:spcAft>
            </a:pPr>
            <a:r>
              <a:rPr sz="1100" b="0">
                <a:solidFill>
                  <a:srgbClr val="5B6372"/>
                </a:solidFill>
                <a:latin typeface="Arial"/>
              </a:rPr>
              <a:t>Forcing the agent to return named fields (decision, reason, flags) instead of prose is what lets the rest of the workflow branch, log and act on the answer.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PLATFORM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is n8n?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workflow automation platform</a:t>
            </a:r>
          </a:p>
          <a:p>
            <a:pPr algn="l">
              <a:spcAft>
                <a:spcPts val="300"/>
              </a:spcAft>
            </a:pPr>
            <a:r>
              <a:rPr sz="1200" b="0">
                <a:solidFill>
                  <a:srgbClr val="5B6372"/>
                </a:solidFill>
                <a:latin typeface="Arial"/>
              </a:rPr>
              <a:t>Connect apps, data and AI on one canvas, with little or no code.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Visual node editor</a:t>
            </a:r>
          </a:p>
          <a:p>
            <a:pPr algn="l">
              <a:spcAft>
                <a:spcPts val="300"/>
              </a:spcAft>
            </a:pPr>
            <a:r>
              <a:rPr sz="1200" b="0">
                <a:solidFill>
                  <a:srgbClr val="5B6372"/>
                </a:solidFill>
                <a:latin typeface="Arial"/>
              </a:rPr>
              <a:t>Drag nodes onto a canvas and wire them together; each node shows its input and output as JSON.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400+ integrations</a:t>
            </a:r>
          </a:p>
          <a:p>
            <a:pPr algn="l">
              <a:spcAft>
                <a:spcPts val="300"/>
              </a:spcAft>
            </a:pPr>
            <a:r>
              <a:rPr sz="1200" b="0">
                <a:solidFill>
                  <a:srgbClr val="5B6372"/>
                </a:solidFill>
                <a:latin typeface="Arial"/>
              </a:rPr>
              <a:t>Gmail, Google Sheets, Telegram, Slack, HTTP, databases — plus a generic HTTP node for anything else.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Fair-code and self-hostable</a:t>
            </a:r>
          </a:p>
          <a:p>
            <a:pPr algn="l">
              <a:spcAft>
                <a:spcPts val="300"/>
              </a:spcAft>
            </a:pPr>
            <a:r>
              <a:rPr sz="1200" b="0">
                <a:solidFill>
                  <a:srgbClr val="5B6372"/>
                </a:solidFill>
                <a:latin typeface="Arial"/>
              </a:rPr>
              <a:t>Run it on n8n Cloud, or host it yourself with Docker or npm and keep full control of your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AI-native</a:t>
            </a:r>
          </a:p>
          <a:p>
            <a:pPr algn="l">
              <a:spcAft>
                <a:spcPts val="300"/>
              </a:spcAft>
            </a:pPr>
            <a:r>
              <a:rPr sz="1200" b="0">
                <a:solidFill>
                  <a:srgbClr val="5B6372"/>
                </a:solidFill>
                <a:latin typeface="Arial"/>
              </a:rPr>
              <a:t>Built-in AI Agent, chat model, memory, vector store and tool nodes for building agents.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Exportable workflows</a:t>
            </a:r>
          </a:p>
          <a:p>
            <a:pPr algn="l">
              <a:spcAft>
                <a:spcPts val="300"/>
              </a:spcAft>
            </a:pPr>
            <a:r>
              <a:rPr sz="1200" b="0">
                <a:solidFill>
                  <a:srgbClr val="5B6372"/>
                </a:solidFill>
                <a:latin typeface="Arial"/>
              </a:rPr>
              <a:t>Every workflow is a JSON file you can version, share and import.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SETUP OPTIONS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Three Ways to Run n8n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n8n Cloud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Sign up at n8n.io</a:t>
            </a:r>
          </a:p>
          <a:p>
            <a:pPr>
              <a:spcAft>
                <a:spcPts val="900"/>
              </a:spcAft>
            </a:pPr>
            <a:r>
              <a:rPr sz="1400" b="0">
                <a:solidFill>
                  <a:srgbClr val="161B26"/>
                </a:solidFill>
                <a:latin typeface="Arial"/>
              </a:rPr>
              <a:t>•  Nothing to install</a:t>
            </a:r>
          </a:p>
          <a:p>
            <a:pPr>
              <a:spcAft>
                <a:spcPts val="900"/>
              </a:spcAft>
            </a:pPr>
            <a:r>
              <a:rPr sz="1400" b="0">
                <a:solidFill>
                  <a:srgbClr val="161B26"/>
                </a:solidFill>
                <a:latin typeface="Arial"/>
              </a:rPr>
              <a:t>•  Free trial period</a:t>
            </a:r>
          </a:p>
          <a:p>
            <a:pPr>
              <a:spcAft>
                <a:spcPts val="900"/>
              </a:spcAft>
            </a:pPr>
            <a:r>
              <a:rPr sz="1400" b="0">
                <a:solidFill>
                  <a:srgbClr val="161B26"/>
                </a:solidFill>
                <a:latin typeface="Arial"/>
              </a:rPr>
              <a:t>•  Best for this course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Docker / self-host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docker compose up -d</a:t>
            </a:r>
          </a:p>
          <a:p>
            <a:pPr>
              <a:spcAft>
                <a:spcPts val="900"/>
              </a:spcAft>
            </a:pPr>
            <a:r>
              <a:rPr sz="1400" b="0">
                <a:solidFill>
                  <a:srgbClr val="161B26"/>
                </a:solidFill>
                <a:latin typeface="Arial"/>
              </a:rPr>
              <a:t>•  Runs at localhost:5678</a:t>
            </a:r>
          </a:p>
          <a:p>
            <a:pPr>
              <a:spcAft>
                <a:spcPts val="900"/>
              </a:spcAft>
            </a:pPr>
            <a:r>
              <a:rPr sz="1400" b="0">
                <a:solidFill>
                  <a:srgbClr val="161B26"/>
                </a:solidFill>
                <a:latin typeface="Arial"/>
              </a:rPr>
              <a:t>•  Your data stays with you</a:t>
            </a:r>
          </a:p>
          <a:p>
            <a:pPr>
              <a:spcAft>
                <a:spcPts val="900"/>
              </a:spcAft>
            </a:pPr>
            <a:r>
              <a:rPr sz="1400" b="0">
                <a:solidFill>
                  <a:srgbClr val="161B26"/>
                </a:solidFill>
                <a:latin typeface="Arial"/>
              </a:rPr>
              <a:t>•  Best for production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npm</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npx n8n</a:t>
            </a:r>
          </a:p>
          <a:p>
            <a:pPr>
              <a:spcAft>
                <a:spcPts val="900"/>
              </a:spcAft>
            </a:pPr>
            <a:r>
              <a:rPr sz="1400" b="0">
                <a:solidFill>
                  <a:srgbClr val="161B26"/>
                </a:solidFill>
                <a:latin typeface="Arial"/>
              </a:rPr>
              <a:t>•  Quickest local start</a:t>
            </a:r>
          </a:p>
          <a:p>
            <a:pPr>
              <a:spcAft>
                <a:spcPts val="900"/>
              </a:spcAft>
            </a:pPr>
            <a:r>
              <a:rPr sz="1400" b="0">
                <a:solidFill>
                  <a:srgbClr val="161B26"/>
                </a:solidFill>
                <a:latin typeface="Arial"/>
              </a:rPr>
              <a:t>•  Node.js required</a:t>
            </a:r>
          </a:p>
          <a:p>
            <a:pPr>
              <a:spcAft>
                <a:spcPts val="900"/>
              </a:spcAft>
            </a:pPr>
            <a:r>
              <a:rPr sz="1400" b="0">
                <a:solidFill>
                  <a:srgbClr val="161B26"/>
                </a:solidFill>
                <a:latin typeface="Arial"/>
              </a:rPr>
              <a:t>•  Best for a quick trial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ACCOUNTS &amp; KEYS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Credential Setup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Add credentials once under Credentials → Add credential; every workflow can then reuse them.</a:t>
            </a:r>
          </a:p>
          <a:p>
            <a:pPr>
              <a:spcAft>
                <a:spcPts val="1000"/>
              </a:spcAft>
            </a:pPr>
            <a:r>
              <a:rPr sz="2000" b="0">
                <a:solidFill>
                  <a:srgbClr val="161B26"/>
                </a:solidFill>
                <a:latin typeface="Arial"/>
              </a:rPr>
              <a:t>•  Google (Sheets, Drive, Gmail) uses OAuth2 — you sign in and grant access.</a:t>
            </a:r>
          </a:p>
          <a:p>
            <a:pPr>
              <a:spcAft>
                <a:spcPts val="1000"/>
              </a:spcAft>
            </a:pPr>
            <a:r>
              <a:rPr sz="2000" b="0">
                <a:solidFill>
                  <a:srgbClr val="161B26"/>
                </a:solidFill>
                <a:latin typeface="Arial"/>
              </a:rPr>
              <a:t>•  AI models use an API key: Google Gemini or OpenAI.</a:t>
            </a:r>
          </a:p>
          <a:p>
            <a:pPr>
              <a:spcAft>
                <a:spcPts val="1000"/>
              </a:spcAft>
            </a:pPr>
            <a:r>
              <a:rPr sz="2000" b="0">
                <a:solidFill>
                  <a:srgbClr val="161B26"/>
                </a:solidFill>
                <a:latin typeface="Arial"/>
              </a:rPr>
              <a:t>•  Imported workflows reference credential NAMES, not secrets — re-select your own after importing.</a:t>
            </a:r>
          </a:p>
          <a:p>
            <a:pPr>
              <a:spcAft>
                <a:spcPts val="1000"/>
              </a:spcAft>
            </a:pPr>
            <a:r>
              <a:rPr sz="2000" b="0">
                <a:solidFill>
                  <a:srgbClr val="161B26"/>
                </a:solidFill>
                <a:latin typeface="Arial"/>
              </a:rPr>
              <a:t>•  Never paste an API key into a node field; always store it in a credential.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KINDS OF NODE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Building Blocks — n8n Nodes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Trigger nodes</a:t>
            </a:r>
          </a:p>
          <a:p>
            <a:pPr algn="l">
              <a:spcAft>
                <a:spcPts val="300"/>
              </a:spcAft>
            </a:pPr>
            <a:r>
              <a:rPr sz="1200" b="0">
                <a:solidFill>
                  <a:srgbClr val="5B6372"/>
                </a:solidFill>
                <a:latin typeface="Arial"/>
              </a:rPr>
              <a:t>Start a workflow: Form, Webhook, Schedule, Chat, Manual, or an app event such as a new email.</a:t>
            </a:r>
          </a:p>
        </p:txBody>
      </p:sp>
      <p:sp>
        <p:nvSpPr>
          <p:cNvPr id="12" name="Rectangle 11"/>
          <p:cNvSpPr/>
          <p:nvPr/>
        </p:nvSpPr>
        <p:spPr>
          <a:xfrm>
            <a:off x="6231636"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432304"/>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86664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2560320"/>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Action nodes</a:t>
            </a:r>
          </a:p>
          <a:p>
            <a:pPr algn="l">
              <a:spcAft>
                <a:spcPts val="300"/>
              </a:spcAft>
            </a:pPr>
            <a:r>
              <a:rPr sz="1200" b="0">
                <a:solidFill>
                  <a:srgbClr val="5B6372"/>
                </a:solidFill>
                <a:latin typeface="Arial"/>
              </a:rPr>
              <a:t>Do something: send Gmail, append a Google Sheets row, call an HTTP API, write to a database.</a:t>
            </a:r>
          </a:p>
        </p:txBody>
      </p:sp>
      <p:sp>
        <p:nvSpPr>
          <p:cNvPr id="17" name="Rectangle 16"/>
          <p:cNvSpPr/>
          <p:nvPr/>
        </p:nvSpPr>
        <p:spPr>
          <a:xfrm>
            <a:off x="777240"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5217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Logic nodes</a:t>
            </a:r>
          </a:p>
          <a:p>
            <a:pPr algn="l">
              <a:spcAft>
                <a:spcPts val="300"/>
              </a:spcAft>
            </a:pPr>
            <a:r>
              <a:rPr sz="1200" b="0">
                <a:solidFill>
                  <a:srgbClr val="5B6372"/>
                </a:solidFill>
                <a:latin typeface="Arial"/>
              </a:rPr>
              <a:t>Control the flow: IF and Switch to branch, Merge and Split Out to reshape, Code for custom logic.</a:t>
            </a:r>
          </a:p>
        </p:txBody>
      </p:sp>
      <p:sp>
        <p:nvSpPr>
          <p:cNvPr id="22" name="Rectangle 21"/>
          <p:cNvSpPr/>
          <p:nvPr/>
        </p:nvSpPr>
        <p:spPr>
          <a:xfrm>
            <a:off x="6231636"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52170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AI nodes</a:t>
            </a:r>
          </a:p>
          <a:p>
            <a:pPr algn="l">
              <a:spcAft>
                <a:spcPts val="300"/>
              </a:spcAft>
            </a:pPr>
            <a:r>
              <a:rPr sz="1200" b="0">
                <a:solidFill>
                  <a:srgbClr val="5B6372"/>
                </a:solidFill>
                <a:latin typeface="Arial"/>
              </a:rPr>
              <a:t>Reason and act: AI Agent, Chat Model, Memory, Embeddings, Vector Store and Tool nodes.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CORE CONCEPT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Triggers and Actions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Triggers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Actions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trigger decides WHEN</a:t>
            </a:r>
          </a:p>
          <a:p>
            <a:pPr>
              <a:spcAft>
                <a:spcPts val="1000"/>
              </a:spcAft>
            </a:pPr>
            <a:r>
              <a:rPr sz="1400" b="0">
                <a:solidFill>
                  <a:srgbClr val="5B6372"/>
                </a:solidFill>
                <a:latin typeface="Arial"/>
              </a:rPr>
              <a:t>–  Manual — run on demand while testing</a:t>
            </a:r>
          </a:p>
          <a:p>
            <a:pPr>
              <a:spcAft>
                <a:spcPts val="1000"/>
              </a:spcAft>
            </a:pPr>
            <a:r>
              <a:rPr sz="1400" b="0">
                <a:solidFill>
                  <a:srgbClr val="5B6372"/>
                </a:solidFill>
                <a:latin typeface="Arial"/>
              </a:rPr>
              <a:t>–  Schedule — run on a timer or cron</a:t>
            </a:r>
          </a:p>
          <a:p>
            <a:pPr>
              <a:spcAft>
                <a:spcPts val="1000"/>
              </a:spcAft>
            </a:pPr>
            <a:r>
              <a:rPr sz="1400" b="0">
                <a:solidFill>
                  <a:srgbClr val="5B6372"/>
                </a:solidFill>
                <a:latin typeface="Arial"/>
              </a:rPr>
              <a:t>–  Form — a hosted web form</a:t>
            </a:r>
          </a:p>
          <a:p>
            <a:pPr>
              <a:spcAft>
                <a:spcPts val="1000"/>
              </a:spcAft>
            </a:pPr>
            <a:r>
              <a:rPr sz="1400" b="0">
                <a:solidFill>
                  <a:srgbClr val="5B6372"/>
                </a:solidFill>
                <a:latin typeface="Arial"/>
              </a:rPr>
              <a:t>–  Webhook — an external system calls a URL</a:t>
            </a:r>
          </a:p>
          <a:p>
            <a:pPr>
              <a:spcAft>
                <a:spcPts val="1000"/>
              </a:spcAft>
            </a:pPr>
            <a:r>
              <a:rPr sz="1400" b="0">
                <a:solidFill>
                  <a:srgbClr val="5B6372"/>
                </a:solidFill>
                <a:latin typeface="Arial"/>
              </a:rPr>
              <a:t>–  Chat — the built-in chat window</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An action decides WHAT</a:t>
            </a:r>
          </a:p>
          <a:p>
            <a:pPr>
              <a:spcAft>
                <a:spcPts val="1000"/>
              </a:spcAft>
            </a:pPr>
            <a:r>
              <a:rPr sz="1400" b="0">
                <a:solidFill>
                  <a:srgbClr val="5B6372"/>
                </a:solidFill>
                <a:latin typeface="Arial"/>
              </a:rPr>
              <a:t>–  Gmail / Outlook — send an email</a:t>
            </a:r>
          </a:p>
          <a:p>
            <a:pPr>
              <a:spcAft>
                <a:spcPts val="1000"/>
              </a:spcAft>
            </a:pPr>
            <a:r>
              <a:rPr sz="1400" b="0">
                <a:solidFill>
                  <a:srgbClr val="5B6372"/>
                </a:solidFill>
                <a:latin typeface="Arial"/>
              </a:rPr>
              <a:t>–  Google Sheets — append or update a row</a:t>
            </a:r>
          </a:p>
          <a:p>
            <a:pPr>
              <a:spcAft>
                <a:spcPts val="1000"/>
              </a:spcAft>
            </a:pPr>
            <a:r>
              <a:rPr sz="1400" b="0">
                <a:solidFill>
                  <a:srgbClr val="5B6372"/>
                </a:solidFill>
                <a:latin typeface="Arial"/>
              </a:rPr>
              <a:t>–  HTTP Request — call any API</a:t>
            </a:r>
          </a:p>
          <a:p>
            <a:pPr>
              <a:spcAft>
                <a:spcPts val="1000"/>
              </a:spcAft>
            </a:pPr>
            <a:r>
              <a:rPr sz="1400" b="0">
                <a:solidFill>
                  <a:srgbClr val="5B6372"/>
                </a:solidFill>
                <a:latin typeface="Arial"/>
              </a:rPr>
              <a:t>–  Code — run JavaScript or Python</a:t>
            </a:r>
          </a:p>
          <a:p>
            <a:pPr>
              <a:spcAft>
                <a:spcPts val="1000"/>
              </a:spcAft>
            </a:pPr>
            <a:r>
              <a:rPr sz="1400" b="0">
                <a:solidFill>
                  <a:srgbClr val="5B6372"/>
                </a:solidFill>
                <a:latin typeface="Arial"/>
              </a:rPr>
              <a:t>–  Edit Fields (Set) — reshape the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DATA MOVES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JSON and Expressions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Data flows between nodes as a list of items, each one a JSON object.</a:t>
            </a:r>
          </a:p>
          <a:p>
            <a:pPr>
              <a:spcAft>
                <a:spcPts val="1000"/>
              </a:spcAft>
            </a:pPr>
            <a:r>
              <a:rPr sz="2000" b="0">
                <a:solidFill>
                  <a:srgbClr val="161B26"/>
                </a:solidFill>
                <a:latin typeface="Arial"/>
              </a:rPr>
              <a:t>•  JSON stores key/value pairs, e.g. { "name": "Alice", "age": 30 }.</a:t>
            </a:r>
          </a:p>
          <a:p>
            <a:pPr>
              <a:spcAft>
                <a:spcPts val="1000"/>
              </a:spcAft>
            </a:pPr>
            <a:r>
              <a:rPr sz="2000" b="0">
                <a:solidFill>
                  <a:srgbClr val="161B26"/>
                </a:solidFill>
                <a:latin typeface="Arial"/>
              </a:rPr>
              <a:t>•  Read a value from the previous node with an expression: {{ $json.Name }}.</a:t>
            </a:r>
          </a:p>
          <a:p>
            <a:pPr>
              <a:spcAft>
                <a:spcPts val="1000"/>
              </a:spcAft>
            </a:pPr>
            <a:r>
              <a:rPr sz="2000" b="0">
                <a:solidFill>
                  <a:srgbClr val="161B26"/>
                </a:solidFill>
                <a:latin typeface="Arial"/>
              </a:rPr>
              <a:t>•  Drag a field from the input panel into any field to map it automatically.</a:t>
            </a:r>
          </a:p>
          <a:p>
            <a:pPr>
              <a:spcAft>
                <a:spcPts val="1000"/>
              </a:spcAft>
            </a:pPr>
            <a:r>
              <a:rPr sz="2000" b="0">
                <a:solidFill>
                  <a:srgbClr val="161B26"/>
                </a:solidFill>
                <a:latin typeface="Arial"/>
              </a:rPr>
              <a:t>•  Expressions work anywhere — subject lines, URLs, conditions and message bodies.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IT RUNS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Test vs Production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While building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Once live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Test execution</a:t>
            </a:r>
          </a:p>
          <a:p>
            <a:pPr>
              <a:spcAft>
                <a:spcPts val="1000"/>
              </a:spcAft>
            </a:pPr>
            <a:r>
              <a:rPr sz="1400" b="0">
                <a:solidFill>
                  <a:srgbClr val="5B6372"/>
                </a:solidFill>
                <a:latin typeface="Arial"/>
              </a:rPr>
              <a:t>–  Run manually from the editor</a:t>
            </a:r>
          </a:p>
          <a:p>
            <a:pPr>
              <a:spcAft>
                <a:spcPts val="1000"/>
              </a:spcAft>
            </a:pPr>
            <a:r>
              <a:rPr sz="1400" b="0">
                <a:solidFill>
                  <a:srgbClr val="5B6372"/>
                </a:solidFill>
                <a:latin typeface="Arial"/>
              </a:rPr>
              <a:t>–  Inspect the data at every node</a:t>
            </a:r>
          </a:p>
          <a:p>
            <a:pPr>
              <a:spcAft>
                <a:spcPts val="1000"/>
              </a:spcAft>
            </a:pPr>
            <a:r>
              <a:rPr sz="1400" b="0">
                <a:solidFill>
                  <a:srgbClr val="5B6372"/>
                </a:solidFill>
                <a:latin typeface="Arial"/>
              </a:rPr>
              <a:t>–  Test URL listens for ONE request</a:t>
            </a:r>
          </a:p>
          <a:p>
            <a:pPr>
              <a:spcAft>
                <a:spcPts val="1000"/>
              </a:spcAft>
            </a:pPr>
            <a:r>
              <a:rPr sz="1400" b="0">
                <a:solidFill>
                  <a:srgbClr val="5B6372"/>
                </a:solidFill>
                <a:latin typeface="Arial"/>
              </a:rPr>
              <a:t>–  Use it while you are building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Production execution</a:t>
            </a:r>
          </a:p>
          <a:p>
            <a:pPr>
              <a:spcAft>
                <a:spcPts val="1000"/>
              </a:spcAft>
            </a:pPr>
            <a:r>
              <a:rPr sz="1400" b="0">
                <a:solidFill>
                  <a:srgbClr val="5B6372"/>
                </a:solidFill>
                <a:latin typeface="Arial"/>
              </a:rPr>
              <a:t>–  Runs automatically when Active</a:t>
            </a:r>
          </a:p>
          <a:p>
            <a:pPr>
              <a:spcAft>
                <a:spcPts val="1000"/>
              </a:spcAft>
            </a:pPr>
            <a:r>
              <a:rPr sz="1400" b="0">
                <a:solidFill>
                  <a:srgbClr val="5B6372"/>
                </a:solidFill>
                <a:latin typeface="Arial"/>
              </a:rPr>
              <a:t>–  Production URL accepts unlimited requests</a:t>
            </a:r>
          </a:p>
          <a:p>
            <a:pPr>
              <a:spcAft>
                <a:spcPts val="1000"/>
              </a:spcAft>
            </a:pPr>
            <a:r>
              <a:rPr sz="1400" b="0">
                <a:solidFill>
                  <a:srgbClr val="5B6372"/>
                </a:solidFill>
                <a:latin typeface="Arial"/>
              </a:rPr>
              <a:t>–  Every run is kept in Execution History</a:t>
            </a:r>
          </a:p>
          <a:p>
            <a:pPr>
              <a:spcAft>
                <a:spcPts val="1000"/>
              </a:spcAft>
            </a:pPr>
            <a:r>
              <a:rPr sz="1400" b="0">
                <a:solidFill>
                  <a:srgbClr val="5B6372"/>
                </a:solidFill>
                <a:latin typeface="Arial"/>
              </a:rPr>
              <a:t>–  Switch to it the moment others use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WHAT IS AN AI AGENT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agent is an LLM with a goal, tools and memory.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model supplies judgement — which tool to call and when. You supply the goal, the guardrails and the tools it is allowed to 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MODEL · INSTRUCTION · MEMORY ·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Four Parts of an n8n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Chat Model</a:t>
            </a:r>
          </a:p>
          <a:p>
            <a:pPr algn="l">
              <a:spcAft>
                <a:spcPts val="300"/>
              </a:spcAft>
            </a:pPr>
            <a:r>
              <a:rPr sz="1200" b="0">
                <a:solidFill>
                  <a:srgbClr val="5B6372"/>
                </a:solidFill>
                <a:latin typeface="Arial"/>
              </a:rPr>
              <a:t>The LLM that reasons and writes the reply — Google Gemini or OpenAI in this course.</a:t>
            </a:r>
          </a:p>
        </p:txBody>
      </p:sp>
      <p:sp>
        <p:nvSpPr>
          <p:cNvPr id="12" name="Rectangle 11"/>
          <p:cNvSpPr/>
          <p:nvPr/>
        </p:nvSpPr>
        <p:spPr>
          <a:xfrm>
            <a:off x="6231636"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432304"/>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86664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2560320"/>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System Instruction</a:t>
            </a:r>
          </a:p>
          <a:p>
            <a:pPr algn="l">
              <a:spcAft>
                <a:spcPts val="300"/>
              </a:spcAft>
            </a:pPr>
            <a:r>
              <a:rPr sz="1200" b="0">
                <a:solidFill>
                  <a:srgbClr val="5B6372"/>
                </a:solidFill>
                <a:latin typeface="Arial"/>
              </a:rPr>
              <a:t>The agent's role, scope, prohibitions and routing rules. Your main control surface.</a:t>
            </a:r>
          </a:p>
        </p:txBody>
      </p:sp>
      <p:sp>
        <p:nvSpPr>
          <p:cNvPr id="17" name="Rectangle 16"/>
          <p:cNvSpPr/>
          <p:nvPr/>
        </p:nvSpPr>
        <p:spPr>
          <a:xfrm>
            <a:off x="777240"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5217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Memory</a:t>
            </a:r>
          </a:p>
          <a:p>
            <a:pPr algn="l">
              <a:spcAft>
                <a:spcPts val="300"/>
              </a:spcAft>
            </a:pPr>
            <a:r>
              <a:rPr sz="1200" b="0">
                <a:solidFill>
                  <a:srgbClr val="5B6372"/>
                </a:solidFill>
                <a:latin typeface="Arial"/>
              </a:rPr>
              <a:t>Recalls the conversation, keyed on a session ID so users never see each other's messages.</a:t>
            </a:r>
          </a:p>
        </p:txBody>
      </p:sp>
      <p:sp>
        <p:nvSpPr>
          <p:cNvPr id="22" name="Rectangle 21"/>
          <p:cNvSpPr/>
          <p:nvPr/>
        </p:nvSpPr>
        <p:spPr>
          <a:xfrm>
            <a:off x="6231636"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52170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Tools</a:t>
            </a:r>
          </a:p>
          <a:p>
            <a:pPr algn="l">
              <a:spcAft>
                <a:spcPts val="300"/>
              </a:spcAft>
            </a:pPr>
            <a:r>
              <a:rPr sz="1200" b="0">
                <a:solidFill>
                  <a:srgbClr val="5B6372"/>
                </a:solidFill>
                <a:latin typeface="Arial"/>
              </a:rPr>
              <a:t>What the agent can actually do — look up a sheet, search a vector store, send an email, call an API.</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INSTRUCTION DESIGN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Writing a Good System Instruction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State the role plainly: 'You are the onboarding assistant for Marina Trust Bank.'</a:t>
            </a:r>
          </a:p>
          <a:p>
            <a:pPr>
              <a:spcAft>
                <a:spcPts val="1000"/>
              </a:spcAft>
            </a:pPr>
            <a:r>
              <a:rPr sz="2000" b="0">
                <a:solidFill>
                  <a:srgbClr val="161B26"/>
                </a:solidFill>
                <a:latin typeface="Arial"/>
              </a:rPr>
              <a:t>•  Give the scope and the limits — what it must answer, and what it must refuse.</a:t>
            </a:r>
          </a:p>
          <a:p>
            <a:pPr>
              <a:spcAft>
                <a:spcPts val="1000"/>
              </a:spcAft>
            </a:pPr>
            <a:r>
              <a:rPr sz="2000" b="0">
                <a:solidFill>
                  <a:srgbClr val="161B26"/>
                </a:solidFill>
                <a:latin typeface="Arial"/>
              </a:rPr>
              <a:t>•  Say which tool to use for which kind of question, explicitly.</a:t>
            </a:r>
          </a:p>
          <a:p>
            <a:pPr>
              <a:spcAft>
                <a:spcPts val="1000"/>
              </a:spcAft>
            </a:pPr>
            <a:r>
              <a:rPr sz="2000" b="0">
                <a:solidFill>
                  <a:srgbClr val="161B26"/>
                </a:solidFill>
                <a:latin typeface="Arial"/>
              </a:rPr>
              <a:t>•  Ask for a specific output format when something downstream depends on it.</a:t>
            </a:r>
          </a:p>
          <a:p>
            <a:pPr>
              <a:spcAft>
                <a:spcPts val="1000"/>
              </a:spcAft>
            </a:pPr>
            <a:r>
              <a:rPr sz="2000" b="0">
                <a:solidFill>
                  <a:srgbClr val="161B26"/>
                </a:solidFill>
                <a:latin typeface="Arial"/>
              </a:rPr>
              <a:t>•  Tell it to say 'I don't know' rather than invent an answer.</a:t>
            </a:r>
          </a:p>
          <a:p>
            <a:pPr>
              <a:spcAft>
                <a:spcPts val="1000"/>
              </a:spcAft>
            </a:pPr>
            <a:r>
              <a:rPr sz="2000" b="0">
                <a:solidFill>
                  <a:srgbClr val="161B26"/>
                </a:solidFill>
                <a:latin typeface="Arial"/>
              </a:rPr>
              <a:t>•  Keep it concise, specific and testable — then test it with real questions and refine.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EXTERNAL TRIGGERS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Webhooks — the Front Door to Your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A URL that any external system can send data to. It starts your workflow when called.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opposite of an API call</a:t>
            </a:r>
          </a:p>
          <a:p>
            <a:pPr algn="l">
              <a:spcAft>
                <a:spcPts val="300"/>
              </a:spcAft>
            </a:pPr>
            <a:r>
              <a:rPr sz="1200" b="0">
                <a:solidFill>
                  <a:srgbClr val="5B6372"/>
                </a:solidFill>
                <a:latin typeface="Arial"/>
              </a:rPr>
              <a:t>With an HTTP Request node YOU call the outside world; with a Webhook the outside world calls YOU.</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vs Production URL</a:t>
            </a:r>
          </a:p>
          <a:p>
            <a:pPr algn="l">
              <a:spcAft>
                <a:spcPts val="300"/>
              </a:spcAft>
            </a:pPr>
            <a:r>
              <a:rPr sz="1200" b="0">
                <a:solidFill>
                  <a:srgbClr val="5B6372"/>
                </a:solidFill>
                <a:latin typeface="Arial"/>
              </a:rPr>
              <a:t>The Test URL works for one request while you are listening; the Production URL works whenever the workflow is Active.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GET vs POST</a:t>
            </a:r>
          </a:p>
          <a:p>
            <a:pPr algn="l">
              <a:spcAft>
                <a:spcPts val="300"/>
              </a:spcAft>
            </a:pPr>
            <a:r>
              <a:rPr sz="1200" b="0">
                <a:solidFill>
                  <a:srgbClr val="5B6372"/>
                </a:solidFill>
                <a:latin typeface="Arial"/>
              </a:rPr>
              <a:t>GET carries data in the URL query string; POST carries it in a JSON body — which is what a website chat widget sends.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CORS</a:t>
            </a:r>
          </a:p>
          <a:p>
            <a:pPr algn="l">
              <a:spcAft>
                <a:spcPts val="300"/>
              </a:spcAft>
            </a:pPr>
            <a:r>
              <a:rPr sz="1200" b="0">
                <a:solidFill>
                  <a:srgbClr val="5B6372"/>
                </a:solidFill>
                <a:latin typeface="Arial"/>
              </a:rPr>
              <a:t>Set Allowed Origins so a browser page is permitted to read the reply. '*' is fine in class, never in production.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Authentication</a:t>
            </a:r>
          </a:p>
          <a:p>
            <a:pPr algn="l">
              <a:spcAft>
                <a:spcPts val="300"/>
              </a:spcAft>
            </a:pPr>
            <a:r>
              <a:rPr sz="1200" b="0">
                <a:solidFill>
                  <a:srgbClr val="5B6372"/>
                </a:solidFill>
                <a:latin typeface="Arial"/>
              </a:rPr>
              <a:t>None, Basic Auth, Header Auth or JWT. An open webhook costs you money every time a stranger calls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MAKING AGENTS USABLE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Structured Output — Why It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By default an agent returns a paragraph of prose. Prose cannot be branched on, sorted or coloured.</a:t>
            </a:r>
          </a:p>
          <a:p>
            <a:pPr>
              <a:spcAft>
                <a:spcPts val="1000"/>
              </a:spcAft>
            </a:pPr>
            <a:r>
              <a:rPr sz="2000" b="0">
                <a:solidFill>
                  <a:srgbClr val="161B26"/>
                </a:solidFill>
                <a:latin typeface="Arial"/>
              </a:rPr>
              <a:t>•  A Structured Output Parser forces named fields, e.g. decision, reason and riskFlags.</a:t>
            </a:r>
          </a:p>
          <a:p>
            <a:pPr>
              <a:spcAft>
                <a:spcPts val="1000"/>
              </a:spcAft>
            </a:pPr>
            <a:r>
              <a:rPr sz="2000" b="0">
                <a:solidFill>
                  <a:srgbClr val="161B26"/>
                </a:solidFill>
                <a:latin typeface="Arial"/>
              </a:rPr>
              <a:t>•  An IF node can then route on decision; a Sheets node can log it; a web page can colour the card.</a:t>
            </a:r>
          </a:p>
          <a:p>
            <a:pPr>
              <a:spcAft>
                <a:spcPts val="1000"/>
              </a:spcAft>
            </a:pPr>
            <a:r>
              <a:rPr sz="2000" b="0">
                <a:solidFill>
                  <a:srgbClr val="161B26"/>
                </a:solidFill>
                <a:latin typeface="Arial"/>
              </a:rPr>
              <a:t>•  Enumerate the allowed values (APPROVED / REJECTED / REVIEW / DUPLICATE) so the field is reliable.</a:t>
            </a:r>
          </a:p>
          <a:p>
            <a:pPr>
              <a:spcAft>
                <a:spcPts val="1000"/>
              </a:spcAft>
            </a:pPr>
            <a:r>
              <a:rPr sz="2000" b="0">
                <a:solidFill>
                  <a:srgbClr val="161B26"/>
                </a:solidFill>
                <a:latin typeface="Arial"/>
              </a:rPr>
              <a:t>•  This is the single most useful habit when putting an agent inside a business process.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Overview of n8n and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9427464" cy="1234440"/>
          </a:xfrm>
          <a:prstGeom prst="rect">
            <a:avLst/>
          </a:prstGeom>
          <a:noFill/>
        </p:spPr>
        <p:txBody>
          <a:bodyPr wrap="square" anchor="ctr">
            <a:spAutoFit/>
          </a:bodyPr>
          <a:lstStyle/>
          <a:p>
            <a:pPr algn="l">
              <a:spcAft>
                <a:spcPts val="300"/>
              </a:spcAft>
            </a:pPr>
            <a:r>
              <a:rPr sz="1700" b="1">
                <a:solidFill>
                  <a:srgbClr val="161B26"/>
                </a:solidFill>
                <a:latin typeface="Arial"/>
              </a:rPr>
              <a:t>Lab 1 — n8n Trigger and Action (Event Flyer with QR Code)</a:t>
            </a:r>
          </a:p>
          <a:p>
            <a:pPr algn="l">
              <a:spcAft>
                <a:spcPts val="300"/>
              </a:spcAft>
            </a:pPr>
            <a:r>
              <a:rPr sz="1300" b="0">
                <a:solidFill>
                  <a:srgbClr val="5B6372"/>
                </a:solidFill>
                <a:latin typeface="Arial"/>
              </a:rPr>
              <a:t>Form Trigger  →  Gmail (Send a message)</a:t>
            </a:r>
          </a:p>
        </p:txBody>
      </p:sp>
      <p:sp>
        <p:nvSpPr>
          <p:cNvPr id="12" name="Rectangle 11"/>
          <p:cNvSpPr/>
          <p:nvPr/>
        </p:nvSpPr>
        <p:spPr>
          <a:xfrm>
            <a:off x="777240" y="40873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52170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234440"/>
          </a:xfrm>
          <a:prstGeom prst="rect">
            <a:avLst/>
          </a:prstGeom>
          <a:noFill/>
        </p:spPr>
        <p:txBody>
          <a:bodyPr wrap="square" anchor="ctr">
            <a:spAutoFit/>
          </a:bodyPr>
          <a:lstStyle/>
          <a:p>
            <a:pPr algn="l">
              <a:spcAft>
                <a:spcPts val="300"/>
              </a:spcAft>
            </a:pPr>
            <a:r>
              <a:rPr sz="1700" b="1">
                <a:solidFill>
                  <a:srgbClr val="161B26"/>
                </a:solidFill>
                <a:latin typeface="Arial"/>
              </a:rPr>
              <a:t>Lab 2 — Webhook and AI Agent (Marina Trust Bank Onboarding)</a:t>
            </a:r>
          </a:p>
          <a:p>
            <a:pPr algn="l">
              <a:spcAft>
                <a:spcPts val="300"/>
              </a:spcAft>
            </a:pPr>
            <a:r>
              <a:rPr sz="1300" b="0">
                <a:solidFill>
                  <a:srgbClr val="5B6372"/>
                </a:solidFill>
                <a:latin typeface="Arial"/>
              </a:rPr>
              <a:t>Webhook  →  Normalise  →  AI Agent (+3 tools)  →  Log Decision  →  Respond to Website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1 — n8n Trigger and Action (Event Flyer with QR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Build your first n8n workflow end to end. An n8n Form Trigger collects a visitor's details, and a Gmail action emails them to the event administrator. You then turn the form's public URL into a QR code and place it on an event flyer, so anyone can sign up by scanning it with a phone.</a:t>
            </a:r>
          </a:p>
        </p:txBody>
      </p:sp>
      <p:sp>
        <p:nvSpPr>
          <p:cNvPr id="10" name="Rectangle 9"/>
          <p:cNvSpPr/>
          <p:nvPr/>
        </p:nvSpPr>
        <p:spPr>
          <a:xfrm>
            <a:off x="777240" y="4160520"/>
            <a:ext cx="1069848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15968"/>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663440"/>
            <a:ext cx="10241280" cy="640080"/>
          </a:xfrm>
          <a:prstGeom prst="rect">
            <a:avLst/>
          </a:prstGeom>
          <a:noFill/>
        </p:spPr>
        <p:txBody>
          <a:bodyPr wrap="square" anchor="t">
            <a:spAutoFit/>
          </a:bodyPr>
          <a:lstStyle/>
          <a:p>
            <a:pPr algn="l">
              <a:spcAft>
                <a:spcPts val="400"/>
              </a:spcAft>
            </a:pPr>
            <a:r>
              <a:rPr sz="1600" b="1">
                <a:solidFill>
                  <a:srgbClr val="161B26"/>
                </a:solidFill>
                <a:latin typeface="Arial"/>
              </a:rPr>
              <a:t>Form Trigger  →  Gmail (Send a message)</a:t>
            </a:r>
          </a:p>
        </p:txBody>
      </p:sp>
      <p:sp>
        <p:nvSpPr>
          <p:cNvPr id="13" name="TextBox 12"/>
          <p:cNvSpPr txBox="1"/>
          <p:nvPr/>
        </p:nvSpPr>
        <p:spPr>
          <a:xfrm>
            <a:off x="1005840" y="539496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n8n Form Trigger, Gmail (OAuth2), Smart QR Code Generator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1 · THE APPLICATION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 — What You'll Build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te-lab1.png"/>
          <p:cNvPicPr>
            <a:picLocks noChangeAspect="1"/>
          </p:cNvPicPr>
          <p:nvPr/>
        </p:nvPicPr>
        <p:blipFill>
          <a:blip r:embed="rId2"/>
          <a:stretch>
            <a:fillRect/>
          </a:stretch>
        </p:blipFill>
        <p:spPr>
          <a:xfrm>
            <a:off x="1349676" y="1755648"/>
            <a:ext cx="9492342" cy="3986784"/>
          </a:xfrm>
          <a:prstGeom prst="rect">
            <a:avLst/>
          </a:prstGeom>
        </p:spPr>
      </p:pic>
      <p:sp>
        <p:nvSpPr>
          <p:cNvPr id="8" name="TextBox 7"/>
          <p:cNvSpPr txBox="1"/>
          <p:nvPr/>
        </p:nvSpPr>
        <p:spPr>
          <a:xfrm>
            <a:off x="777240" y="5852160"/>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The finished Lab 1 workflow on the n8n canvas — the Form Trigger fires on each submission and the Gmail node sends the details to the administrator.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1 · THE APPLICATION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 — What You'll Build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te-lab1-flyer.png"/>
          <p:cNvPicPr>
            <a:picLocks noChangeAspect="1"/>
          </p:cNvPicPr>
          <p:nvPr/>
        </p:nvPicPr>
        <p:blipFill>
          <a:blip r:embed="rId2"/>
          <a:stretch>
            <a:fillRect/>
          </a:stretch>
        </p:blipFill>
        <p:spPr>
          <a:xfrm>
            <a:off x="2552039" y="1755648"/>
            <a:ext cx="7087616" cy="3986784"/>
          </a:xfrm>
          <a:prstGeom prst="rect">
            <a:avLst/>
          </a:prstGeom>
        </p:spPr>
      </p:pic>
      <p:sp>
        <p:nvSpPr>
          <p:cNvPr id="8" name="TextBox 7"/>
          <p:cNvSpPr txBox="1"/>
          <p:nvPr/>
        </p:nvSpPr>
        <p:spPr>
          <a:xfrm>
            <a:off x="777240" y="5852160"/>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A sample event flyer from a previous class. The QR code encodes the form's Production URL, so anyone can sign up by scanning it with a phone.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THE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lab1.png"/>
          <p:cNvPicPr>
            <a:picLocks noChangeAspect="1"/>
          </p:cNvPicPr>
          <p:nvPr/>
        </p:nvPicPr>
        <p:blipFill>
          <a:blip r:embed="rId2"/>
          <a:stretch>
            <a:fillRect/>
          </a:stretch>
        </p:blipFill>
        <p:spPr>
          <a:xfrm>
            <a:off x="609447" y="3090672"/>
            <a:ext cx="10972800" cy="1316736"/>
          </a:xfrm>
          <a:prstGeom prst="rect">
            <a:avLst/>
          </a:prstGeom>
        </p:spPr>
      </p:pic>
      <p:sp>
        <p:nvSpPr>
          <p:cNvPr id="8" name="TextBox 7"/>
          <p:cNvSpPr txBox="1"/>
          <p:nvPr/>
        </p:nvSpPr>
        <p:spPr>
          <a:xfrm>
            <a:off x="777240" y="4517136"/>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Two nodes. The Form Trigger decides WHEN the workflow runs; the Gmail node decides WHAT it does.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In n8n, click Workflows → Add workflow, and give it a name such as 'Lab 1 — Event Signup'.</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Name it now. On a shared instance a canvas called 'My workflow 7' is impossible to find again.</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Add an n8n Form Trigger node. Set a Form Title (e.g. 'Event Signup') and a short description.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trigger is always the first node — it is what decides WHEN this workflow runs.</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Add four form fields: Name (Text), Email (Email), Phone (Number) and Message (Textarea). Mark Name and Email as required.</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Field names become the JSON keys the next node reads, so Name here is what makes {{ $json.Name }} work later.</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Add a Gmail node after the trigger and choose the 'Send a message' operation.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This is the action: the trigger decided when, the action decides what actually happens.</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Connect your Gmail account under Credential to connect with → Sign in with Google, and grant access.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Credentials are stored once and reused by every workflow. Never paste a key into a node field.</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Set To = the administrator's address and Subject = New Enquiry.</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Fixed values are fine here — only the body needs to change per submission.</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Switch the Message field to Expression and build the body from the form fields, e.g. Name: {{ $json.Name }} and Email: {{ $json.Email }}.</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In Fixed mode n8n prints the braces literally. Expression mode is what evaluates them against the incoming item.</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Click Execute workflow to open the test form, submit a sample entry, and confirm the email arrives.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Test before activating. The canvas shows the data at every node, so you can see exactly what the Gmail node received.</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Save the workflow and toggle it Active, then copy the Form's Production URL.</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Test URL answers exactly one request. Only the Production URL, with the workflow Active, works for everyone.</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10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the Smart QR Code Generator at alfredang.github.io/qrcodegenerator, paste the Production URL, and download the QR code as PNG.</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generator runs entirely in your browser — nothing about your form is uploaded to a third party.</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11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Group activity: design an event flyer (for example a bowling night or a networking evening) with the QR code on it, then present it to the class.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This is the whole point: a two-node workflow becomes a real sign-up channel anyone can use from a phone.</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700" b="0">
                <a:solidFill>
                  <a:srgbClr val="161B26"/>
                </a:solidFill>
                <a:latin typeface="Arial"/>
              </a:rPr>
              <a:t>Scan the QR code on your flyer with your phone, submit the form, and confirm the administrator's inbox receives the email with the details you typed. A reference solution is provided as labs/lab1-trigger-actions/lab-trigger-actions.json — build yours by hand first, then import it to compare.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Learned — Lab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Triggers and actions</a:t>
            </a:r>
          </a:p>
          <a:p>
            <a:pPr algn="l">
              <a:spcAft>
                <a:spcPts val="300"/>
              </a:spcAft>
            </a:pPr>
            <a:r>
              <a:rPr sz="1300" b="0">
                <a:solidFill>
                  <a:srgbClr val="5B6372"/>
                </a:solidFill>
                <a:latin typeface="Arial"/>
              </a:rPr>
              <a:t>A trigger decides when a workflow runs; an action decides what it does.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Expressions</a:t>
            </a:r>
          </a:p>
          <a:p>
            <a:pPr algn="l">
              <a:spcAft>
                <a:spcPts val="300"/>
              </a:spcAft>
            </a:pPr>
            <a:r>
              <a:rPr sz="1300" b="0">
                <a:solidFill>
                  <a:srgbClr val="5B6372"/>
                </a:solidFill>
                <a:latin typeface="Arial"/>
              </a:rPr>
              <a:t>Expressions such as {{ $json.Name }} carry data from one node to the next.</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Test vs Production URL</a:t>
            </a:r>
          </a:p>
          <a:p>
            <a:pPr algn="l">
              <a:spcAft>
                <a:spcPts val="300"/>
              </a:spcAft>
            </a:pPr>
            <a:r>
              <a:rPr sz="1300" b="0">
                <a:solidFill>
                  <a:srgbClr val="5B6372"/>
                </a:solidFill>
                <a:latin typeface="Arial"/>
              </a:rPr>
              <a:t>The Test URL works only while you are listening; the Production URL works once the workflow is Active.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2 — Webhook and AI Agent (Marina Trust Bank Onboarding)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Replace the n8n form with a real bank website. A customer applies for an account on your own HTML page, which POSTs to an n8n Webhook. An AI Agent applies the bank's onboarding rules, calls Google Sheets tools to check for duplicates and create the customer record, emails a confirmation, and returns a structured decision that the page renders as a coloured card.</a:t>
            </a:r>
          </a:p>
        </p:txBody>
      </p:sp>
      <p:sp>
        <p:nvSpPr>
          <p:cNvPr id="10" name="Rectangle 9"/>
          <p:cNvSpPr/>
          <p:nvPr/>
        </p:nvSpPr>
        <p:spPr>
          <a:xfrm>
            <a:off x="777240" y="4160520"/>
            <a:ext cx="1069848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15968"/>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663440"/>
            <a:ext cx="10241280" cy="640080"/>
          </a:xfrm>
          <a:prstGeom prst="rect">
            <a:avLst/>
          </a:prstGeom>
          <a:noFill/>
        </p:spPr>
        <p:txBody>
          <a:bodyPr wrap="square" anchor="t">
            <a:spAutoFit/>
          </a:bodyPr>
          <a:lstStyle/>
          <a:p>
            <a:pPr algn="l">
              <a:spcAft>
                <a:spcPts val="400"/>
              </a:spcAft>
            </a:pPr>
            <a:r>
              <a:rPr sz="1600" b="1">
                <a:solidFill>
                  <a:srgbClr val="161B26"/>
                </a:solidFill>
                <a:latin typeface="Arial"/>
              </a:rPr>
              <a:t>Webhook  →  Normalise  →  AI Agent (+3 tools)  →  Log Decision  →  Respond to Website</a:t>
            </a:r>
          </a:p>
        </p:txBody>
      </p:sp>
      <p:sp>
        <p:nvSpPr>
          <p:cNvPr id="13" name="TextBox 12"/>
          <p:cNvSpPr txBox="1"/>
          <p:nvPr/>
        </p:nvSpPr>
        <p:spPr>
          <a:xfrm>
            <a:off x="1005840" y="539496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n8n Webhook, AI Agent, Google Gemini, Google Sheets, Gmail, Structured Output Parser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2 · THE APPLICATION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 — What You'll Build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te-lab2.png"/>
          <p:cNvPicPr>
            <a:picLocks noChangeAspect="1"/>
          </p:cNvPicPr>
          <p:nvPr/>
        </p:nvPicPr>
        <p:blipFill>
          <a:blip r:embed="rId2"/>
          <a:stretch>
            <a:fillRect/>
          </a:stretch>
        </p:blipFill>
        <p:spPr>
          <a:xfrm>
            <a:off x="1539523" y="1755648"/>
            <a:ext cx="9112649" cy="3986784"/>
          </a:xfrm>
          <a:prstGeom prst="rect">
            <a:avLst/>
          </a:prstGeom>
        </p:spPr>
      </p:pic>
      <p:sp>
        <p:nvSpPr>
          <p:cNvPr id="8" name="TextBox 7"/>
          <p:cNvSpPr txBox="1"/>
          <p:nvPr/>
        </p:nvSpPr>
        <p:spPr>
          <a:xfrm>
            <a:off x="777240" y="5852160"/>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The Marina Trust Bank site the webhook sits behind. The applicant submits here, the AI Agent decides, and the page renders the decision as a coloured card.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THE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lab2.png"/>
          <p:cNvPicPr>
            <a:picLocks noChangeAspect="1"/>
          </p:cNvPicPr>
          <p:nvPr/>
        </p:nvPicPr>
        <p:blipFill>
          <a:blip r:embed="rId2"/>
          <a:stretch>
            <a:fillRect/>
          </a:stretch>
        </p:blipFill>
        <p:spPr>
          <a:xfrm>
            <a:off x="609447" y="2841955"/>
            <a:ext cx="10972800" cy="1814169"/>
          </a:xfrm>
          <a:prstGeom prst="rect">
            <a:avLst/>
          </a:prstGeom>
        </p:spPr>
      </p:pic>
      <p:sp>
        <p:nvSpPr>
          <p:cNvPr id="8" name="TextBox 7"/>
          <p:cNvSpPr txBox="1"/>
          <p:nvPr/>
        </p:nvSpPr>
        <p:spPr>
          <a:xfrm>
            <a:off x="777240" y="4765852"/>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The main chain runs left to right; the three tools below are attached to the agent's Tool input — the agent decides which to call, and when.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Create a Google Sheet named 'Retail Banking Onboarding' with a Customers tab and an Onboarding_Log tab, and seed a few existing customers.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seeded rows are what make the duplicate test (TC2) meaningful — without them every applicant looks new.</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In n8n choose Workflows → Import from File and select lab2-webhook-agent.json.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Importing lets you study a finished agent. You will still re-point every credential and sheet to your own.</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the Onboarding Webhook node. Confirm HTTP Method = POST, Path = marina-trust-onboarding, and Respond = Using 'Respond to Webhook' Node.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POST carries a JSON body, which is what a web form sends. 'Respond to Webhook' is what lets the agent's decision travel back to the browser instead of an immediate 200 OK.</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Under the webhook's Options, set Allowed Origins (CORS) to * so a browser page is permitted to read the reply.</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Without CORS the n8n execution succeeds but the browser refuses to read the response — the classic 'Failed to fetch'.</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check_duplicate_customer, create_customer_record and Log Decision, and re-select YOUR spreadsheet in each Document dropdown.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These three point at the author's sheet until you change them. Miss one and the agent reads or writes the wrong file.</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Re-select your own Google Gemini, Google Sheets and Gmail credentials on every node that shows a credential warning.</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Imported workflows carry credential NAMES, not secrets — nothing of the author's account came with the file.</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the Onboarding AI Agent and read the system message: the eligibility rules, the age check, and the four possible decisions.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system message is where the bank's policy actually lives. Change this and you change the lending decision.</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the Decision Parser and note the required fields — decision, reason, riskFlags — this is what lets the website colour the result card.</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A paragraph of prose could not be coloured, counted or branched on. decision is a field precisely so something downstream can act on it.</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Click Listen for test event, then open index.html in your browser.</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Listening arms the Test URL for exactly one request and streams the incoming data onto the canvas.</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10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In the page's Lab configuration panel, paste the webhook Test URL, choose TC1 from the Trainer demo data dropdown, enter your own email, and submit.</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demo data deliberately clears the email field so you cannot send a stranger a bank decision by accident.</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11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Watch the request land on the n8n canvas and follow it through Normalise into the agent; confirm the agent calls check_duplicate_customer.</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This is the moment the agent stops being a black box — you can see it CHOOSE to call a tool.</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12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Save, toggle the workflow Active, copy the Production URL and paste it into the panel so the page works from any device.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Only now does the page work for anyone but you. The Test URL has already been spent.</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700" b="0">
                <a:solidFill>
                  <a:srgbClr val="161B26"/>
                </a:solidFill>
                <a:latin typeface="Arial"/>
              </a:rPr>
              <a:t>Run TC1 (a new applicant) and confirm a green APPROVED card, a new row in the Customers sheet and a confirmation email. Then run TC2 (an already-seeded NRIC) and confirm an amber DUPLICATE card with no new row.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Learned — Lab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Webhooks</a:t>
            </a:r>
          </a:p>
          <a:p>
            <a:pPr algn="l">
              <a:spcAft>
                <a:spcPts val="300"/>
              </a:spcAft>
            </a:pPr>
            <a:r>
              <a:rPr sz="1300" b="0">
                <a:solidFill>
                  <a:srgbClr val="5B6372"/>
                </a:solidFill>
                <a:latin typeface="Arial"/>
              </a:rPr>
              <a:t>A webhook lets any external system — your website, an app, a CRM — start an agent workflow.</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Tools make an agent</a:t>
            </a:r>
          </a:p>
          <a:p>
            <a:pPr algn="l">
              <a:spcAft>
                <a:spcPts val="300"/>
              </a:spcAft>
            </a:pPr>
            <a:r>
              <a:rPr sz="1300" b="0">
                <a:solidFill>
                  <a:srgbClr val="5B6372"/>
                </a:solidFill>
                <a:latin typeface="Arial"/>
              </a:rPr>
              <a:t>Tools are what turn an LLM into an agent: it decides when to look up a customer and when to create one.</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Structured output</a:t>
            </a:r>
          </a:p>
          <a:p>
            <a:pPr algn="l">
              <a:spcAft>
                <a:spcPts val="300"/>
              </a:spcAft>
            </a:pPr>
            <a:r>
              <a:rPr sz="1300" b="0">
                <a:solidFill>
                  <a:srgbClr val="5B6372"/>
                </a:solidFill>
                <a:latin typeface="Arial"/>
              </a:rPr>
              <a:t>Structured output (decision, reason, riskFlags) is what lets downstream nodes branch, log and colour a result.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The front door is separate</a:t>
            </a:r>
          </a:p>
          <a:p>
            <a:pPr algn="l">
              <a:spcAft>
                <a:spcPts val="300"/>
              </a:spcAft>
            </a:pPr>
            <a:r>
              <a:rPr sz="1300" b="0">
                <a:solidFill>
                  <a:srgbClr val="5B6372"/>
                </a:solidFill>
                <a:latin typeface="Arial"/>
              </a:rPr>
              <a:t>The agent is unchanged from a form-triggered version — only the front door differs.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Overview of n8n and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Triggers and actions</a:t>
            </a:r>
          </a:p>
          <a:p>
            <a:pPr algn="l">
              <a:spcAft>
                <a:spcPts val="300"/>
              </a:spcAft>
            </a:pPr>
            <a:r>
              <a:rPr sz="1100" b="0">
                <a:solidFill>
                  <a:srgbClr val="5B6372"/>
                </a:solidFill>
                <a:latin typeface="Arial"/>
              </a:rPr>
              <a:t>Lab 1 — you can now build an automated workflow in n8n using a trigger and an action.</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Webhooks</a:t>
            </a:r>
          </a:p>
          <a:p>
            <a:pPr algn="l">
              <a:spcAft>
                <a:spcPts val="300"/>
              </a:spcAft>
            </a:pPr>
            <a:r>
              <a:rPr sz="1100" b="0">
                <a:solidFill>
                  <a:srgbClr val="5B6372"/>
                </a:solidFill>
                <a:latin typeface="Arial"/>
              </a:rPr>
              <a:t>Lab 2 — you can now deploy an AI agent that is triggered by a webhook from an external website.</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Expressions</a:t>
            </a:r>
          </a:p>
          <a:p>
            <a:pPr algn="l">
              <a:spcAft>
                <a:spcPts val="300"/>
              </a:spcAft>
            </a:pPr>
            <a:r>
              <a:rPr sz="1100" b="0">
                <a:solidFill>
                  <a:srgbClr val="5B6372"/>
                </a:solidFill>
                <a:latin typeface="Arial"/>
              </a:rPr>
              <a:t>Expressions such as {{ $json.Name }} carry data from one node to the next.</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Test vs Production URL</a:t>
            </a:r>
          </a:p>
          <a:p>
            <a:pPr algn="l">
              <a:spcAft>
                <a:spcPts val="300"/>
              </a:spcAft>
            </a:pPr>
            <a:r>
              <a:rPr sz="1100" b="0">
                <a:solidFill>
                  <a:srgbClr val="5B6372"/>
                </a:solidFill>
                <a:latin typeface="Arial"/>
              </a:rPr>
              <a:t>The Test URL works only while you are listening; the Production URL works once the workflow is Active.</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Tools make an agent</a:t>
            </a:r>
          </a:p>
          <a:p>
            <a:pPr algn="l">
              <a:spcAft>
                <a:spcPts val="300"/>
              </a:spcAft>
            </a:pPr>
            <a:r>
              <a:rPr sz="1100" b="0">
                <a:solidFill>
                  <a:srgbClr val="5B6372"/>
                </a:solidFill>
                <a:latin typeface="Arial"/>
              </a:rPr>
              <a:t>Tools are what turn an LLM into an agent: it decides when to look up a customer and when to create one.</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Structured output</a:t>
            </a:r>
          </a:p>
          <a:p>
            <a:pPr algn="l">
              <a:spcAft>
                <a:spcPts val="300"/>
              </a:spcAft>
            </a:pPr>
            <a:r>
              <a:rPr sz="1100" b="0">
                <a:solidFill>
                  <a:srgbClr val="5B6372"/>
                </a:solidFill>
                <a:latin typeface="Arial"/>
              </a:rPr>
              <a:t>Structured output (decision, reason, riskFlags) is what lets downstream nodes branch, log and colour a result.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Chatbot and Human in the Loop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Agentic workflows · Chatbots on webhooks · Approval gates · Accountability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LO3 ·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Agentic Chatbot and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is an agentic workflow</a:t>
            </a:r>
          </a:p>
          <a:p>
            <a:pPr algn="l">
              <a:spcAft>
                <a:spcPts val="300"/>
              </a:spcAft>
            </a:pPr>
            <a:r>
              <a:rPr sz="1100" b="0">
                <a:solidFill>
                  <a:srgbClr val="5B6372"/>
                </a:solidFill>
                <a:latin typeface="Arial"/>
              </a:rPr>
              <a:t>A workflow where an LLM makes the routing decisions. You supply the goal, the guardrails and the tools; the agent supplies the judgement.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System instructions</a:t>
            </a:r>
          </a:p>
          <a:p>
            <a:pPr algn="l">
              <a:spcAft>
                <a:spcPts val="300"/>
              </a:spcAft>
            </a:pPr>
            <a:r>
              <a:rPr sz="1100" b="0">
                <a:solidFill>
                  <a:srgbClr val="5B6372"/>
                </a:solidFill>
                <a:latin typeface="Arial"/>
              </a:rPr>
              <a:t>The agent's role, scope, prohibitions and routing rules. In a regulated setting this is a compliance control, not a prompt-engineering flourish.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Memory</a:t>
            </a:r>
          </a:p>
          <a:p>
            <a:pPr algn="l">
              <a:spcAft>
                <a:spcPts val="300"/>
              </a:spcAft>
            </a:pPr>
            <a:r>
              <a:rPr sz="1100" b="0">
                <a:solidFill>
                  <a:srgbClr val="5B6372"/>
                </a:solidFill>
                <a:latin typeface="Arial"/>
              </a:rPr>
              <a:t>Keyed on a session ID so a follow-up question keeps context — and so two users never see each other's conversation.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Guardrails in the prompt</a:t>
            </a:r>
          </a:p>
          <a:p>
            <a:pPr algn="l">
              <a:spcAft>
                <a:spcPts val="300"/>
              </a:spcAft>
            </a:pPr>
            <a:r>
              <a:rPr sz="1100" b="0">
                <a:solidFill>
                  <a:srgbClr val="5B6372"/>
                </a:solidFill>
                <a:latin typeface="Arial"/>
              </a:rPr>
              <a:t>Explicit prohibitions ('never recommend a product, never guarantee a return') do more compliance work than any amount of clever wording.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Human in the loop</a:t>
            </a:r>
          </a:p>
          <a:p>
            <a:pPr algn="l">
              <a:spcAft>
                <a:spcPts val="300"/>
              </a:spcAft>
            </a:pPr>
            <a:r>
              <a:rPr sz="1100" b="0">
                <a:solidFill>
                  <a:srgbClr val="5B6372"/>
                </a:solidFill>
                <a:latin typeface="Arial"/>
              </a:rPr>
              <a:t>The workflow pauses on a Send-and-Wait node until a named person clicks Approve or Decline. Nothing reaches the customer unauthorised.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Accountability trail</a:t>
            </a:r>
          </a:p>
          <a:p>
            <a:pPr algn="l">
              <a:spcAft>
                <a:spcPts val="300"/>
              </a:spcAft>
            </a:pPr>
            <a:r>
              <a:rPr sz="1100" b="0">
                <a:solidFill>
                  <a:srgbClr val="5B6372"/>
                </a:solidFill>
                <a:latin typeface="Arial"/>
              </a:rPr>
              <a:t>Separate logs for what the agent proposed and what a human authorised. The audit question is not what the machine decided, but who is answerable.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WHAT IS AN AGENTIC WORKFLOW</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agentic workflow is one where the LLM makes the routing decisions.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still design the process, the guardrails and the tools. What you hand over is the judgement about which path this particular case should take.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WAYS TO AUTOMATE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Rule-Based Workflow vs Agentic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Deterministic</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Judgement-based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Rule-based (RPA)</a:t>
            </a:r>
          </a:p>
          <a:p>
            <a:pPr>
              <a:spcAft>
                <a:spcPts val="1000"/>
              </a:spcAft>
            </a:pPr>
            <a:r>
              <a:rPr sz="1400" b="0">
                <a:solidFill>
                  <a:srgbClr val="5B6372"/>
                </a:solidFill>
                <a:latin typeface="Arial"/>
              </a:rPr>
              <a:t>–  You wire every branch by hand</a:t>
            </a:r>
          </a:p>
          <a:p>
            <a:pPr>
              <a:spcAft>
                <a:spcPts val="1000"/>
              </a:spcAft>
            </a:pPr>
            <a:r>
              <a:rPr sz="1400" b="0">
                <a:solidFill>
                  <a:srgbClr val="5B6372"/>
                </a:solidFill>
                <a:latin typeface="Arial"/>
              </a:rPr>
              <a:t>–  IF / Switch on exact values</a:t>
            </a:r>
          </a:p>
          <a:p>
            <a:pPr>
              <a:spcAft>
                <a:spcPts val="1000"/>
              </a:spcAft>
            </a:pPr>
            <a:r>
              <a:rPr sz="1400" b="0">
                <a:solidFill>
                  <a:srgbClr val="5B6372"/>
                </a:solidFill>
                <a:latin typeface="Arial"/>
              </a:rPr>
              <a:t>–  Breaks on anything unexpected</a:t>
            </a:r>
          </a:p>
          <a:p>
            <a:pPr>
              <a:spcAft>
                <a:spcPts val="1000"/>
              </a:spcAft>
            </a:pPr>
            <a:r>
              <a:rPr sz="1400" b="0">
                <a:solidFill>
                  <a:srgbClr val="5B6372"/>
                </a:solidFill>
                <a:latin typeface="Arial"/>
              </a:rPr>
              <a:t>–  Predictable and easy to audit</a:t>
            </a:r>
          </a:p>
          <a:p>
            <a:pPr>
              <a:spcAft>
                <a:spcPts val="1000"/>
              </a:spcAft>
            </a:pPr>
            <a:r>
              <a:rPr sz="1400" b="0">
                <a:solidFill>
                  <a:srgbClr val="5B6372"/>
                </a:solidFill>
                <a:latin typeface="Arial"/>
              </a:rPr>
              <a:t>–  Best for: fixed, high-volume rules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Agentic (APA)</a:t>
            </a:r>
          </a:p>
          <a:p>
            <a:pPr>
              <a:spcAft>
                <a:spcPts val="1000"/>
              </a:spcAft>
            </a:pPr>
            <a:r>
              <a:rPr sz="1400" b="0">
                <a:solidFill>
                  <a:srgbClr val="5B6372"/>
                </a:solidFill>
                <a:latin typeface="Arial"/>
              </a:rPr>
              <a:t>–  The agent chooses the path</a:t>
            </a:r>
          </a:p>
          <a:p>
            <a:pPr>
              <a:spcAft>
                <a:spcPts val="1000"/>
              </a:spcAft>
            </a:pPr>
            <a:r>
              <a:rPr sz="1400" b="0">
                <a:solidFill>
                  <a:srgbClr val="5B6372"/>
                </a:solidFill>
                <a:latin typeface="Arial"/>
              </a:rPr>
              <a:t>–  Understands free text and intent</a:t>
            </a:r>
          </a:p>
          <a:p>
            <a:pPr>
              <a:spcAft>
                <a:spcPts val="1000"/>
              </a:spcAft>
            </a:pPr>
            <a:r>
              <a:rPr sz="1400" b="0">
                <a:solidFill>
                  <a:srgbClr val="5B6372"/>
                </a:solidFill>
                <a:latin typeface="Arial"/>
              </a:rPr>
              <a:t>–  Handles cases you did not foresee</a:t>
            </a:r>
          </a:p>
          <a:p>
            <a:pPr>
              <a:spcAft>
                <a:spcPts val="1000"/>
              </a:spcAft>
            </a:pPr>
            <a:r>
              <a:rPr sz="1400" b="0">
                <a:solidFill>
                  <a:srgbClr val="5B6372"/>
                </a:solidFill>
                <a:latin typeface="Arial"/>
              </a:rPr>
              <a:t>–  Needs guardrails and logging</a:t>
            </a:r>
          </a:p>
          <a:p>
            <a:pPr>
              <a:spcAft>
                <a:spcPts val="1000"/>
              </a:spcAft>
            </a:pPr>
            <a:r>
              <a:rPr sz="1400" b="0">
                <a:solidFill>
                  <a:srgbClr val="5B6372"/>
                </a:solidFill>
                <a:latin typeface="Arial"/>
              </a:rPr>
              <a:t>–  Best for: varied, language-driven work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CHATBOT DESIGN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Designing a Safe Agentic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Define the role narrowly</a:t>
            </a:r>
          </a:p>
          <a:p>
            <a:pPr algn="l">
              <a:spcAft>
                <a:spcPts val="300"/>
              </a:spcAft>
            </a:pPr>
            <a:r>
              <a:rPr sz="1200" b="0">
                <a:solidFill>
                  <a:srgbClr val="5B6372"/>
                </a:solidFill>
                <a:latin typeface="Arial"/>
              </a:rPr>
              <a:t>A chatbot for one job refuses far more reliably than a general assistant.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Write the prohibitions explicitly</a:t>
            </a:r>
          </a:p>
          <a:p>
            <a:pPr algn="l">
              <a:spcAft>
                <a:spcPts val="300"/>
              </a:spcAft>
            </a:pPr>
            <a:r>
              <a:rPr sz="1200" b="0">
                <a:solidFill>
                  <a:srgbClr val="5B6372"/>
                </a:solidFill>
                <a:latin typeface="Arial"/>
              </a:rPr>
              <a:t>'Never recommend a product, predict a return, or guarantee an outcome' does real compliance work.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Add a fallback sentence</a:t>
            </a:r>
          </a:p>
          <a:p>
            <a:pPr algn="l">
              <a:spcAft>
                <a:spcPts val="300"/>
              </a:spcAft>
            </a:pPr>
            <a:r>
              <a:rPr sz="1200" b="0">
                <a:solidFill>
                  <a:srgbClr val="5B6372"/>
                </a:solidFill>
                <a:latin typeface="Arial"/>
              </a:rPr>
              <a:t>'When in doubt, say less and offer a consultation' covers the cases you did not anticipate.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 what must be collected</a:t>
            </a:r>
          </a:p>
          <a:p>
            <a:pPr algn="l">
              <a:spcAft>
                <a:spcPts val="300"/>
              </a:spcAft>
            </a:pPr>
            <a:r>
              <a:rPr sz="1200" b="0">
                <a:solidFill>
                  <a:srgbClr val="5B6372"/>
                </a:solidFill>
                <a:latin typeface="Arial"/>
              </a:rPr>
              <a:t>Ask for the contact details before answering, and enforce it in the agent as well as the browser.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Keep the FAQ in the prompt</a:t>
            </a:r>
          </a:p>
          <a:p>
            <a:pPr algn="l">
              <a:spcAft>
                <a:spcPts val="300"/>
              </a:spcAft>
            </a:pPr>
            <a:r>
              <a:rPr sz="1200" b="0">
                <a:solidFill>
                  <a:srgbClr val="5B6372"/>
                </a:solidFill>
                <a:latin typeface="Arial"/>
              </a:rPr>
              <a:t>A handful of short answers costs nothing to retrieve and can be reviewed by compliance in one sitting.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with adversarial questions</a:t>
            </a:r>
          </a:p>
          <a:p>
            <a:pPr algn="l">
              <a:spcAft>
                <a:spcPts val="300"/>
              </a:spcAft>
            </a:pPr>
            <a:r>
              <a:rPr sz="1200" b="0">
                <a:solidFill>
                  <a:srgbClr val="5B6372"/>
                </a:solidFill>
                <a:latin typeface="Arial"/>
              </a:rPr>
              <a:t>Probe it with the questions you most fear being asked, not the ones you hope for.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CONTEXT ACROSS TURNS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Memory — and When Not to Use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 memory node lets a follow-up question be answered in context, without repeating everything.</a:t>
            </a:r>
          </a:p>
          <a:p>
            <a:pPr>
              <a:spcAft>
                <a:spcPts val="1000"/>
              </a:spcAft>
            </a:pPr>
            <a:r>
              <a:rPr sz="2000" b="0">
                <a:solidFill>
                  <a:srgbClr val="161B26"/>
                </a:solidFill>
                <a:latin typeface="Arial"/>
              </a:rPr>
              <a:t>•  Memory is keyed on a session ID, so two visitors never see each other's conversation.</a:t>
            </a:r>
          </a:p>
          <a:p>
            <a:pPr>
              <a:spcAft>
                <a:spcPts val="1000"/>
              </a:spcAft>
            </a:pPr>
            <a:r>
              <a:rPr sz="2000" b="0">
                <a:solidFill>
                  <a:srgbClr val="161B26"/>
                </a:solidFill>
                <a:latin typeface="Arial"/>
              </a:rPr>
              <a:t>•  Window buffer memory keeps the last N messages; older turns fall out of context.</a:t>
            </a:r>
          </a:p>
          <a:p>
            <a:pPr>
              <a:spcAft>
                <a:spcPts val="1000"/>
              </a:spcAft>
            </a:pPr>
            <a:r>
              <a:rPr sz="2000" b="0">
                <a:solidFill>
                  <a:srgbClr val="161B26"/>
                </a:solidFill>
                <a:latin typeface="Arial"/>
              </a:rPr>
              <a:t>•  Some workflows must have NO memory: an application decision should never be influenced by the previous applicant.</a:t>
            </a:r>
          </a:p>
          <a:p>
            <a:pPr>
              <a:spcAft>
                <a:spcPts val="1000"/>
              </a:spcAft>
            </a:pPr>
            <a:r>
              <a:rPr sz="2000" b="0">
                <a:solidFill>
                  <a:srgbClr val="161B26"/>
                </a:solidFill>
                <a:latin typeface="Arial"/>
              </a:rPr>
              <a:t>•  Ask, for every agent: should this case know about the last one?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HUMAN IN THE LOOP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Some actions are too consequential to automate.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human-in-the-loop step pauses the workflow until a named person approves or declines. The agent may do everything except the one thing that matters.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APPROVAL GATE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Human-in-the-Loop Pattern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An event arrives — a customer message or an application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The agent classifies, flags and drafts a proposal</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The proposal is logged before any human sees it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 named person receives it and clicks Approve or Decline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Only on approval is the action taken and logged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DECISION CRITERIA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When to Put a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Money moves</a:t>
            </a:r>
          </a:p>
          <a:p>
            <a:pPr algn="l">
              <a:spcAft>
                <a:spcPts val="300"/>
              </a:spcAft>
            </a:pPr>
            <a:r>
              <a:rPr sz="1200" b="0">
                <a:solidFill>
                  <a:srgbClr val="5B6372"/>
                </a:solidFill>
                <a:latin typeface="Arial"/>
              </a:rPr>
              <a:t>Payments, refunds, credit decisions and anything with a financial consequence.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is a regulated communication</a:t>
            </a:r>
          </a:p>
          <a:p>
            <a:pPr algn="l">
              <a:spcAft>
                <a:spcPts val="300"/>
              </a:spcAft>
            </a:pPr>
            <a:r>
              <a:rPr sz="1200" b="0">
                <a:solidFill>
                  <a:srgbClr val="5B6372"/>
                </a:solidFill>
                <a:latin typeface="Arial"/>
              </a:rPr>
              <a:t>A licensed firm writing to a client about their money, health or legal position.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action is irreversible</a:t>
            </a:r>
          </a:p>
          <a:p>
            <a:pPr algn="l">
              <a:spcAft>
                <a:spcPts val="300"/>
              </a:spcAft>
            </a:pPr>
            <a:r>
              <a:rPr sz="1200" b="0">
                <a:solidFill>
                  <a:srgbClr val="5B6372"/>
                </a:solidFill>
                <a:latin typeface="Arial"/>
              </a:rPr>
              <a:t>Sending an email, deleting a record or publishing content cannot be undone.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person is vulnerable</a:t>
            </a:r>
          </a:p>
          <a:p>
            <a:pPr algn="l">
              <a:spcAft>
                <a:spcPts val="300"/>
              </a:spcAft>
            </a:pPr>
            <a:r>
              <a:rPr sz="1200" b="0">
                <a:solidFill>
                  <a:srgbClr val="5B6372"/>
                </a:solidFill>
                <a:latin typeface="Arial"/>
              </a:rPr>
              <a:t>Distress, illness, bereavement or savings someone cannot afford to lose.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stakes exceed the error rate</a:t>
            </a:r>
          </a:p>
          <a:p>
            <a:pPr algn="l">
              <a:spcAft>
                <a:spcPts val="300"/>
              </a:spcAft>
            </a:pPr>
            <a:r>
              <a:rPr sz="1200" b="0">
                <a:solidFill>
                  <a:srgbClr val="5B6372"/>
                </a:solidFill>
                <a:latin typeface="Arial"/>
              </a:rPr>
              <a:t>The question is never 'is the model good?' but 'what does one bad output cost?'.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Someone must be accountable</a:t>
            </a:r>
          </a:p>
          <a:p>
            <a:pPr algn="l">
              <a:spcAft>
                <a:spcPts val="300"/>
              </a:spcAft>
            </a:pPr>
            <a:r>
              <a:rPr sz="1200" b="0">
                <a:solidFill>
                  <a:srgbClr val="5B6372"/>
                </a:solidFill>
                <a:latin typeface="Arial"/>
              </a:rPr>
              <a:t>A regulator asks which licensed person is answerable — not what the machine decided.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ACCOUNTABILITY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the Audit Trail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Log what the agent PROPOSED separately from what a human AUTHORISED.</a:t>
            </a:r>
          </a:p>
          <a:p>
            <a:pPr>
              <a:spcAft>
                <a:spcPts val="1000"/>
              </a:spcAft>
            </a:pPr>
            <a:r>
              <a:rPr sz="2000" b="0">
                <a:solidFill>
                  <a:srgbClr val="161B26"/>
                </a:solidFill>
                <a:latin typeface="Arial"/>
              </a:rPr>
              <a:t>•  Keeping them apart is what lets an auditor ask: did anyone send something a human never saw?</a:t>
            </a:r>
          </a:p>
          <a:p>
            <a:pPr>
              <a:spcAft>
                <a:spcPts val="1000"/>
              </a:spcAft>
            </a:pPr>
            <a:r>
              <a:rPr sz="2000" b="0">
                <a:solidFill>
                  <a:srgbClr val="161B26"/>
                </a:solidFill>
                <a:latin typeface="Arial"/>
              </a:rPr>
              <a:t>•  Every approved action carries the name of the person who approved it.</a:t>
            </a:r>
          </a:p>
          <a:p>
            <a:pPr>
              <a:spcAft>
                <a:spcPts val="1000"/>
              </a:spcAft>
            </a:pPr>
            <a:r>
              <a:rPr sz="2000" b="0">
                <a:solidFill>
                  <a:srgbClr val="161B26"/>
                </a:solidFill>
                <a:latin typeface="Arial"/>
              </a:rPr>
              <a:t>•  Every declined action is reassigned to a named person — a decline is not a deletion.</a:t>
            </a:r>
          </a:p>
          <a:p>
            <a:pPr>
              <a:spcAft>
                <a:spcPts val="1000"/>
              </a:spcAft>
            </a:pPr>
            <a:r>
              <a:rPr sz="2000" b="0">
                <a:solidFill>
                  <a:srgbClr val="161B26"/>
                </a:solidFill>
                <a:latin typeface="Arial"/>
              </a:rPr>
              <a:t>•  No accountability column should ever be empty.</a:t>
            </a:r>
          </a:p>
          <a:p>
            <a:pPr>
              <a:spcAft>
                <a:spcPts val="1000"/>
              </a:spcAft>
            </a:pPr>
            <a:r>
              <a:rPr sz="2000" b="0">
                <a:solidFill>
                  <a:srgbClr val="161B26"/>
                </a:solidFill>
                <a:latin typeface="Arial"/>
              </a:rPr>
              <a:t>•  Treat classifications about a person (emotional tone, risk flags) as personal data under the PDPA.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Hands-On Labs — Agentic Chatbot and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9427464" cy="1234440"/>
          </a:xfrm>
          <a:prstGeom prst="rect">
            <a:avLst/>
          </a:prstGeom>
          <a:noFill/>
        </p:spPr>
        <p:txBody>
          <a:bodyPr wrap="square" anchor="ctr">
            <a:spAutoFit/>
          </a:bodyPr>
          <a:lstStyle/>
          <a:p>
            <a:pPr algn="l">
              <a:spcAft>
                <a:spcPts val="300"/>
              </a:spcAft>
            </a:pPr>
            <a:r>
              <a:rPr sz="1700" b="1">
                <a:solidFill>
                  <a:srgbClr val="161B26"/>
                </a:solidFill>
                <a:latin typeface="Arial"/>
              </a:rPr>
              <a:t>Lab 3 — Chatbot Webhook (Investment Advisor)</a:t>
            </a:r>
          </a:p>
          <a:p>
            <a:pPr algn="l">
              <a:spcAft>
                <a:spcPts val="300"/>
              </a:spcAft>
            </a:pPr>
            <a:r>
              <a:rPr sz="1300" b="0">
                <a:solidFill>
                  <a:srgbClr val="5B6372"/>
                </a:solidFill>
                <a:latin typeface="Arial"/>
              </a:rPr>
              <a:t>Chat Webhook  →  Normalize  →  AI Agent (+ model + memory)  →  Respond to Chat</a:t>
            </a:r>
          </a:p>
        </p:txBody>
      </p:sp>
      <p:sp>
        <p:nvSpPr>
          <p:cNvPr id="12" name="Rectangle 11"/>
          <p:cNvSpPr/>
          <p:nvPr/>
        </p:nvSpPr>
        <p:spPr>
          <a:xfrm>
            <a:off x="777240" y="40873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52170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234440"/>
          </a:xfrm>
          <a:prstGeom prst="rect">
            <a:avLst/>
          </a:prstGeom>
          <a:noFill/>
        </p:spPr>
        <p:txBody>
          <a:bodyPr wrap="square" anchor="ctr">
            <a:spAutoFit/>
          </a:bodyPr>
          <a:lstStyle/>
          <a:p>
            <a:pPr algn="l">
              <a:spcAft>
                <a:spcPts val="300"/>
              </a:spcAft>
            </a:pPr>
            <a:r>
              <a:rPr sz="1700" b="1">
                <a:solidFill>
                  <a:srgbClr val="161B26"/>
                </a:solidFill>
                <a:latin typeface="Arial"/>
              </a:rPr>
              <a:t>Lab 4 — Human in the Loop (Client Rapport Assistant)</a:t>
            </a:r>
          </a:p>
          <a:p>
            <a:pPr algn="l">
              <a:spcAft>
                <a:spcPts val="300"/>
              </a:spcAft>
            </a:pPr>
            <a:r>
              <a:rPr sz="1300" b="0">
                <a:solidFill>
                  <a:srgbClr val="5B6372"/>
                </a:solidFill>
                <a:latin typeface="Arial"/>
              </a:rPr>
              <a:t>Webhook → Agent → Acknowledge → Log Draft → RM Approval (Send &amp; Wait) → IF → Send / Reassign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 (Investment Advisor)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A Singapore investment advisory firm wants a chatbot on its lead-magnet website. Compliance imposes two non-negotiable rules: no visitor gets an answer until the firm can contact them, and the chatbot must never give financial advice. You build a compact agentic workflow that enforces both — a contact gate, a fixed FAQ, and a refusal rule.</a:t>
            </a:r>
          </a:p>
        </p:txBody>
      </p:sp>
      <p:sp>
        <p:nvSpPr>
          <p:cNvPr id="10" name="Rectangle 9"/>
          <p:cNvSpPr/>
          <p:nvPr/>
        </p:nvSpPr>
        <p:spPr>
          <a:xfrm>
            <a:off x="777240" y="4160520"/>
            <a:ext cx="1069848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15968"/>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663440"/>
            <a:ext cx="10241280" cy="640080"/>
          </a:xfrm>
          <a:prstGeom prst="rect">
            <a:avLst/>
          </a:prstGeom>
          <a:noFill/>
        </p:spPr>
        <p:txBody>
          <a:bodyPr wrap="square" anchor="t">
            <a:spAutoFit/>
          </a:bodyPr>
          <a:lstStyle/>
          <a:p>
            <a:pPr algn="l">
              <a:spcAft>
                <a:spcPts val="400"/>
              </a:spcAft>
            </a:pPr>
            <a:r>
              <a:rPr sz="1600" b="1">
                <a:solidFill>
                  <a:srgbClr val="161B26"/>
                </a:solidFill>
                <a:latin typeface="Arial"/>
              </a:rPr>
              <a:t>Chat Webhook  →  Normalize  →  AI Agent (+ model + memory)  →  Respond to Chat</a:t>
            </a:r>
          </a:p>
        </p:txBody>
      </p:sp>
      <p:sp>
        <p:nvSpPr>
          <p:cNvPr id="13" name="TextBox 12"/>
          <p:cNvSpPr txBox="1"/>
          <p:nvPr/>
        </p:nvSpPr>
        <p:spPr>
          <a:xfrm>
            <a:off x="1005840" y="539496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n8n Webhook, AI Agent, Google Gemini, Window Buffer Memory, Code node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3 · THE APPLICATION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 — What You'll Build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te-lab3.png"/>
          <p:cNvPicPr>
            <a:picLocks noChangeAspect="1"/>
          </p:cNvPicPr>
          <p:nvPr/>
        </p:nvPicPr>
        <p:blipFill>
          <a:blip r:embed="rId2"/>
          <a:stretch>
            <a:fillRect/>
          </a:stretch>
        </p:blipFill>
        <p:spPr>
          <a:xfrm>
            <a:off x="2906420" y="1755648"/>
            <a:ext cx="6378854" cy="3986784"/>
          </a:xfrm>
          <a:prstGeom prst="rect">
            <a:avLst/>
          </a:prstGeom>
        </p:spPr>
      </p:pic>
      <p:sp>
        <p:nvSpPr>
          <p:cNvPr id="8" name="TextBox 7"/>
          <p:cNvSpPr txBox="1"/>
          <p:nvPr/>
        </p:nvSpPr>
        <p:spPr>
          <a:xfrm>
            <a:off x="777240" y="5852160"/>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The Investment Advisor site with the chat widget open. Note the contact gate in action — it asks for the visitor's name before it will answer anything.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THE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lab3.png"/>
          <p:cNvPicPr>
            <a:picLocks noChangeAspect="1"/>
          </p:cNvPicPr>
          <p:nvPr/>
        </p:nvPicPr>
        <p:blipFill>
          <a:blip r:embed="rId2"/>
          <a:stretch>
            <a:fillRect/>
          </a:stretch>
        </p:blipFill>
        <p:spPr>
          <a:xfrm>
            <a:off x="609447" y="3231751"/>
            <a:ext cx="10972800" cy="1034578"/>
          </a:xfrm>
          <a:prstGeom prst="rect">
            <a:avLst/>
          </a:prstGeom>
        </p:spPr>
      </p:pic>
      <p:sp>
        <p:nvSpPr>
          <p:cNvPr id="8" name="TextBox 7"/>
          <p:cNvSpPr txBox="1"/>
          <p:nvPr/>
        </p:nvSpPr>
        <p:spPr>
          <a:xfrm>
            <a:off x="777240" y="4376057"/>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Seven nodes: a webhook in, a Set node, the agent with its chat model and memory, a response body and a reply out. There is deliberately no enquiry form and no email node — this lab is about what an agent can do on its own.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Choose Workflows → Import from File and select lab3-chatbot-webhooks.json.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A small canvas. The intelligence is in the system message, not in the number of nodes.</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Google Gemini Chat Model, select your Gemini credential, and confirm the model is gemini-2.5-flash with temperature 0.2.</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Low temperature keeps a compliance-bound chatbot consistent. A creative temperature here means a differently-worded refusal every time.</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the Chat Webhook node: note the path investment-advisor-chat and that Allowed Origins (CORS) is set to *.</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Without CORS the workflow runs perfectly and the browser still shows 'Failed to fetch' — the reply is blocked on the way back.</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Investment Advisor AI and read the contact gate — the agent must collect name, telephone and email before answering anything.</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browser enforces the same gate. Ask yourself which of the two you would trust if you could keep only one — and which runs on a machine you control.</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Read the non-advisory rule: never recommend a product, predict a return, guarantee an outcome, or advise on the visitor's own circumstances.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These six prohibitions are a compliance control, not prompt-engineering polish. The firm is not licensed to give this advice.</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Read the nine FAQ pairs written into the system message, and note why they live in the prompt rather than in a vector store.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Nine short answers cost nothing to retrieve and a compliance officer can review them in one sitting. RAG is for knowledge too large or too changeable for that.</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Website Chat Memory and note that it is keyed on sessionId, so two visitors never see each other's conversation.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Contrast with Lab 2's onboarding agent, which has no memory at all — there, one applicant's data must never influence the next decision.</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Save and Activate the workflow, then copy the webhook Production URL.</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widget must work for every visitor, so it needs the Production URL rather than the single-shot Test URL.</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Serve the website folder and open it in your browser.</a:t>
            </a:r>
          </a:p>
        </p:txBody>
      </p:sp>
      <p:sp>
        <p:nvSpPr>
          <p:cNvPr id="11" name="Rectangle 10"/>
          <p:cNvSpPr/>
          <p:nvPr/>
        </p:nvSpPr>
        <p:spPr>
          <a:xfrm>
            <a:off x="2331720" y="3886200"/>
            <a:ext cx="9235440" cy="822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95928"/>
            <a:ext cx="8869680" cy="603504"/>
          </a:xfrm>
          <a:prstGeom prst="rect">
            <a:avLst/>
          </a:prstGeom>
          <a:noFill/>
        </p:spPr>
        <p:txBody>
          <a:bodyPr wrap="square" anchor="ctr">
            <a:spAutoFit/>
          </a:bodyPr>
          <a:lstStyle/>
          <a:p>
            <a:pPr algn="l">
              <a:spcAft>
                <a:spcPts val="400"/>
              </a:spcAft>
            </a:pPr>
            <a:r>
              <a:rPr sz="1300" b="0">
                <a:solidFill>
                  <a:srgbClr val="9CDCFE"/>
                </a:solidFill>
                <a:latin typeface="Arial"/>
              </a:rPr>
              <a:t>$ python3 -m http.server 8000</a:t>
            </a:r>
          </a:p>
        </p:txBody>
      </p:sp>
      <p:sp>
        <p:nvSpPr>
          <p:cNvPr id="13" name="Rectangle 12"/>
          <p:cNvSpPr/>
          <p:nvPr/>
        </p:nvSpPr>
        <p:spPr>
          <a:xfrm>
            <a:off x="2331720" y="489204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9204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498348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Serving over http:// matches how the real site would run, and keeps the browser's security rules realistic.</a:t>
            </a:r>
          </a:p>
        </p:txBody>
      </p:sp>
      <p:sp>
        <p:nvSpPr>
          <p:cNvPr id="16" name="Rectangle 15"/>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66691"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10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Scroll to Lab configuration, paste your webhook URL, then click Ask Advisor and complete the name, phone and email prompts.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Notice the suggested questions stay hidden until the contact gate is passed — there is no path to the agent that skips it.</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11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Work through sample-questions.csv, paying particular attention to the four compliance probes TC4 to TC7.</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TC4 to TC7 are the ones that matter. A fluent, helpful answer to any of them is a regulatory failure.</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700" b="0">
                <a:solidFill>
                  <a:srgbClr val="161B26"/>
                </a:solidFill>
                <a:latin typeface="Arial"/>
              </a:rPr>
              <a:t>Ask 'Can you guarantee returns?' and 'Which stock should I buy?'. The agent must decline both and offer a consultation. Then ask a question before giving your details — it must ask for the missing detail and answer nothing.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Learned — Lab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The system message</a:t>
            </a:r>
          </a:p>
          <a:p>
            <a:pPr algn="l">
              <a:spcAft>
                <a:spcPts val="300"/>
              </a:spcAft>
            </a:pPr>
            <a:r>
              <a:rPr sz="1300" b="0">
                <a:solidFill>
                  <a:srgbClr val="5B6372"/>
                </a:solidFill>
                <a:latin typeface="Arial"/>
              </a:rPr>
              <a:t>An agentic chatbot's system message is a compliance control, not just a prompt.</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Defence in depth</a:t>
            </a:r>
          </a:p>
          <a:p>
            <a:pPr algn="l">
              <a:spcAft>
                <a:spcPts val="300"/>
              </a:spcAft>
            </a:pPr>
            <a:r>
              <a:rPr sz="1300" b="0">
                <a:solidFill>
                  <a:srgbClr val="5B6372"/>
                </a:solidFill>
                <a:latin typeface="Arial"/>
              </a:rPr>
              <a:t>The same rule enforced in the browser and in the agent is deliberate redundancy — only one of them runs on a machine you control.</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Session-keyed memory</a:t>
            </a:r>
          </a:p>
          <a:p>
            <a:pPr algn="l">
              <a:spcAft>
                <a:spcPts val="300"/>
              </a:spcAft>
            </a:pPr>
            <a:r>
              <a:rPr sz="1300" b="0">
                <a:solidFill>
                  <a:srgbClr val="5B6372"/>
                </a:solidFill>
                <a:latin typeface="Arial"/>
              </a:rPr>
              <a:t>Session-keyed memory gives context to follow-up questions without leaking between visitors.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Prompt or RAG?</a:t>
            </a:r>
          </a:p>
          <a:p>
            <a:pPr algn="l">
              <a:spcAft>
                <a:spcPts val="300"/>
              </a:spcAft>
            </a:pPr>
            <a:r>
              <a:rPr sz="1300" b="0">
                <a:solidFill>
                  <a:srgbClr val="5B6372"/>
                </a:solidFill>
                <a:latin typeface="Arial"/>
              </a:rPr>
              <a:t>A small fixed FAQ belongs in the prompt; RAG is for knowledge too large or too changeable for that.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 (Client Rapport Assistant)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Meridian Asset Management's relationship managers take three days to answer worried clients. You build an agent that reads the client's concern and emotional tone, raises compliance flags, and drafts a strictly non-advisory reply — but sends nothing. A licensed manager receives the draft by email and clicks Approve or Decline. Only then does anything reach the client; a decline reassigns the ticket to a named human.</a:t>
            </a:r>
          </a:p>
        </p:txBody>
      </p:sp>
      <p:sp>
        <p:nvSpPr>
          <p:cNvPr id="10" name="Rectangle 9"/>
          <p:cNvSpPr/>
          <p:nvPr/>
        </p:nvSpPr>
        <p:spPr>
          <a:xfrm>
            <a:off x="777240" y="4160520"/>
            <a:ext cx="1069848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15968"/>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663440"/>
            <a:ext cx="10241280" cy="640080"/>
          </a:xfrm>
          <a:prstGeom prst="rect">
            <a:avLst/>
          </a:prstGeom>
          <a:noFill/>
        </p:spPr>
        <p:txBody>
          <a:bodyPr wrap="square" anchor="t">
            <a:spAutoFit/>
          </a:bodyPr>
          <a:lstStyle/>
          <a:p>
            <a:pPr algn="l">
              <a:spcAft>
                <a:spcPts val="400"/>
              </a:spcAft>
            </a:pPr>
            <a:r>
              <a:rPr sz="1600" b="1">
                <a:solidFill>
                  <a:srgbClr val="161B26"/>
                </a:solidFill>
                <a:latin typeface="Arial"/>
              </a:rPr>
              <a:t>Webhook → Agent → Acknowledge → Log Draft → RM Approval (Send &amp; Wait) → IF → Send / Reassign</a:t>
            </a:r>
          </a:p>
        </p:txBody>
      </p:sp>
      <p:sp>
        <p:nvSpPr>
          <p:cNvPr id="13" name="TextBox 12"/>
          <p:cNvSpPr txBox="1"/>
          <p:nvPr/>
        </p:nvSpPr>
        <p:spPr>
          <a:xfrm>
            <a:off x="1005840" y="539496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n8n Webhook, AI Agent, Google Gemini, Gmail Send-and-Wait, Google Sheets, IF node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4 · THE APPLICATION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 — What You'll Build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te-lab4.png"/>
          <p:cNvPicPr>
            <a:picLocks noChangeAspect="1"/>
          </p:cNvPicPr>
          <p:nvPr/>
        </p:nvPicPr>
        <p:blipFill>
          <a:blip r:embed="rId2"/>
          <a:stretch>
            <a:fillRect/>
          </a:stretch>
        </p:blipFill>
        <p:spPr>
          <a:xfrm>
            <a:off x="2641594" y="1755648"/>
            <a:ext cx="6908506" cy="3986784"/>
          </a:xfrm>
          <a:prstGeom prst="rect">
            <a:avLst/>
          </a:prstGeom>
        </p:spPr>
      </p:pic>
      <p:sp>
        <p:nvSpPr>
          <p:cNvPr id="8" name="TextBox 7"/>
          <p:cNvSpPr txBox="1"/>
          <p:nvPr/>
        </p:nvSpPr>
        <p:spPr>
          <a:xfrm>
            <a:off x="777240" y="5852160"/>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The Meridian client portal. The widget states plainly that a licensed manager reviews every reply — the human-in-the-loop promise made visible to the client.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THE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lab4.png"/>
          <p:cNvPicPr>
            <a:picLocks noChangeAspect="1"/>
          </p:cNvPicPr>
          <p:nvPr/>
        </p:nvPicPr>
        <p:blipFill>
          <a:blip r:embed="rId2"/>
          <a:stretch>
            <a:fillRect/>
          </a:stretch>
        </p:blipFill>
        <p:spPr>
          <a:xfrm>
            <a:off x="609447" y="2841955"/>
            <a:ext cx="10972800" cy="1814169"/>
          </a:xfrm>
          <a:prstGeom prst="rect">
            <a:avLst/>
          </a:prstGeom>
        </p:spPr>
      </p:pic>
      <p:sp>
        <p:nvSpPr>
          <p:cNvPr id="8" name="TextBox 7"/>
          <p:cNvSpPr txBox="1"/>
          <p:nvPr/>
        </p:nvSpPr>
        <p:spPr>
          <a:xfrm>
            <a:off x="777240" y="4765852"/>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The top row is the agent's territory — it classifies, flags and drafts. The bottom row is the human's: the workflow pauses on RM Approval until a licensed person clicks Approve or Decline.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Create a Google Sheet named exactly 'Meridian Client Rapport' with three tabs: Drafts, Approved_Replies and Handover_Queue.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Three tabs, not one. Separating what the agent proposed from what a human authorised is what makes the trail auditable.</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Import each of drafts.csv, approved-replies.csv and handover-queue.csv into the matching tab with File → Import → Replace current sheet, turning OFF 'Convert text to numbers, dates and formulas'.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Leave the conversion on and Sheets mangles reference numbers and dates into its own formats.</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Choose Workflows → Import from File and select lab4-human-in-the-loop.json.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Thirteen nodes, one agent, one human gate. Trace the two paths out of the IF node before you run it.</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Repoint the three Google Sheets nodes — Log Draft, Log Approved Reply and Assign to Human Agent — at YOUR spreadsheet.</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They ship with a placeholder sheet ID and will fail until you change all three.</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Replace REPLACE_WITH_YOUR_EMAIL@example.com with your own address in RM Approval (Send To), Email Human Agent (Send To), Log Approved Reply and Assign to Human Agent.</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You are playing the relationship manager. Four fields across four nodes — miss one and the approval email goes nowhere.</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Rapport AI Agent and read the six prohibitions — no recommendation, no forecast, no guarantee, no suitability claim, no market timing, no invented figures.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'When in doubt, say less and offer the call' does more compliance work than the six prohibitions above it.</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Read the six compliance flags and note which four escalate: ADVICE_REQUESTED, GUARANTEE_SOUGHT, VULNERABLE_CLIENT and LEGAL_OR_MEDIA_THREAT.</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Those four cannot be answered by a drafted email at all. The correct output is a draft that says so and offers a call.</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Draft Parser and note that emotionalTone and urgency are enumerated fields, not prose — that is what lets a queue be sorted.</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A manager needs to see at a glance that the angriest client has been waiting longest. Prose cannot be sorted.</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Send Approved Reply and find the regulatory disclaimer in the HTML letter. Note that the agent fills only the draftReply slot and never touches the disclaimer.</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most legally important sentence in the workflow is the one the model is not allowed anywhere near.</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10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Serve the website folder and open it in your browser.</a:t>
            </a:r>
          </a:p>
        </p:txBody>
      </p:sp>
      <p:sp>
        <p:nvSpPr>
          <p:cNvPr id="11" name="Rectangle 10"/>
          <p:cNvSpPr/>
          <p:nvPr/>
        </p:nvSpPr>
        <p:spPr>
          <a:xfrm>
            <a:off x="2331720" y="3886200"/>
            <a:ext cx="9235440" cy="822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95928"/>
            <a:ext cx="8869680" cy="603504"/>
          </a:xfrm>
          <a:prstGeom prst="rect">
            <a:avLst/>
          </a:prstGeom>
          <a:noFill/>
        </p:spPr>
        <p:txBody>
          <a:bodyPr wrap="square" anchor="ctr">
            <a:spAutoFit/>
          </a:bodyPr>
          <a:lstStyle/>
          <a:p>
            <a:pPr algn="l">
              <a:spcAft>
                <a:spcPts val="400"/>
              </a:spcAft>
            </a:pPr>
            <a:r>
              <a:rPr sz="1300" b="0">
                <a:solidFill>
                  <a:srgbClr val="9CDCFE"/>
                </a:solidFill>
                <a:latin typeface="Arial"/>
              </a:rPr>
              <a:t>$ python3 -m http.server 8000</a:t>
            </a:r>
          </a:p>
        </p:txBody>
      </p:sp>
      <p:sp>
        <p:nvSpPr>
          <p:cNvPr id="13" name="Rectangle 12"/>
          <p:cNvSpPr/>
          <p:nvPr/>
        </p:nvSpPr>
        <p:spPr>
          <a:xfrm>
            <a:off x="2331720" y="489204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9204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498348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page must load from a real http:// origin. Opening the file directly gives a file:// origin that CORS will reject.</a:t>
            </a:r>
          </a:p>
        </p:txBody>
      </p:sp>
      <p:sp>
        <p:nvSpPr>
          <p:cNvPr id="16" name="Rectangle 15"/>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2740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8707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11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Paste your webhook URL into Lab configuration, choose TC2 from the demo dropdown, enter your own email and send.</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TC2 asks 'what should I do?' — the case that must escalate. Use your own address; the reply is a real email.</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12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Observe three things: the widget's receipt, a new row in Drafts, and an approval email in your inbox with Approve and Decline buttons.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draft now exists and no human has seen it. That gap is exactly what the Drafts tab is there to record.</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13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Look at the n8n canvas — the execution is paused on RM Approval and will stay there until a human decides. Click Approve and confirm the reply is sent and logged.</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That pause is the entire lesson. The agent did everything except the one thing that mattered.</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14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Run TC4 and click Decline instead. Confirm nothing is sent to the client, the ticket lands in Handover_Queue with a named assignee, and that person is emailed.</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A decline is a reassignment, not a deletion. The difference between a queue and an assignment is whether anyone is accountable for the silence.</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700" b="0">
                <a:solidFill>
                  <a:srgbClr val="161B26"/>
                </a:solidFill>
                <a:latin typeface="Arial"/>
              </a:rPr>
              <a:t>Run all eight rows of sample-queries.csv. When you are done Drafts has 8 rows, Approved_Replies has 5 and Handover_Queue has 3 — and no accountability column is empty.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Learned — Lab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The approval gate</a:t>
            </a:r>
          </a:p>
          <a:p>
            <a:pPr algn="l">
              <a:spcAft>
                <a:spcPts val="300"/>
              </a:spcAft>
            </a:pPr>
            <a:r>
              <a:rPr sz="1300" b="0">
                <a:solidFill>
                  <a:srgbClr val="5B6372"/>
                </a:solidFill>
                <a:latin typeface="Arial"/>
              </a:rPr>
              <a:t>A Send-and-Wait node pauses the workflow until a named person authorises the action.</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Two separate logs</a:t>
            </a:r>
          </a:p>
          <a:p>
            <a:pPr algn="l">
              <a:spcAft>
                <a:spcPts val="300"/>
              </a:spcAft>
            </a:pPr>
            <a:r>
              <a:rPr sz="1300" b="0">
                <a:solidFill>
                  <a:srgbClr val="5B6372"/>
                </a:solidFill>
                <a:latin typeface="Arial"/>
              </a:rPr>
              <a:t>Separating what the agent proposed from what a human approved is what makes the trail auditable.</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A decline reassigns</a:t>
            </a:r>
          </a:p>
          <a:p>
            <a:pPr algn="l">
              <a:spcAft>
                <a:spcPts val="300"/>
              </a:spcAft>
            </a:pPr>
            <a:r>
              <a:rPr sz="1300" b="0">
                <a:solidFill>
                  <a:srgbClr val="5B6372"/>
                </a:solidFill>
                <a:latin typeface="Arial"/>
              </a:rPr>
              <a:t>A decline is a reassignment, not a deletion — someone must still owe the client an answer.</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Keep the model out</a:t>
            </a:r>
          </a:p>
          <a:p>
            <a:pPr algn="l">
              <a:spcAft>
                <a:spcPts val="300"/>
              </a:spcAft>
            </a:pPr>
            <a:r>
              <a:rPr sz="1300" b="0">
                <a:solidFill>
                  <a:srgbClr val="5B6372"/>
                </a:solidFill>
                <a:latin typeface="Arial"/>
              </a:rPr>
              <a:t>The most legally important sentence in a workflow should be the one the model cannot touch.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Agentic Chatbot and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The system message</a:t>
            </a:r>
          </a:p>
          <a:p>
            <a:pPr algn="l">
              <a:spcAft>
                <a:spcPts val="300"/>
              </a:spcAft>
            </a:pPr>
            <a:r>
              <a:rPr sz="1100" b="0">
                <a:solidFill>
                  <a:srgbClr val="5B6372"/>
                </a:solidFill>
                <a:latin typeface="Arial"/>
              </a:rPr>
              <a:t>Lab 3 — you can now deploy an agentic chatbot on a website that operates within regulatory limits.</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The approval gate</a:t>
            </a:r>
          </a:p>
          <a:p>
            <a:pPr algn="l">
              <a:spcAft>
                <a:spcPts val="300"/>
              </a:spcAft>
            </a:pPr>
            <a:r>
              <a:rPr sz="1100" b="0">
                <a:solidFill>
                  <a:srgbClr val="5B6372"/>
                </a:solidFill>
                <a:latin typeface="Arial"/>
              </a:rPr>
              <a:t>Lab 4 — you can now apply a human approval gate so no AI-drafted communication is sent unsupervised.</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Defence in depth</a:t>
            </a:r>
          </a:p>
          <a:p>
            <a:pPr algn="l">
              <a:spcAft>
                <a:spcPts val="300"/>
              </a:spcAft>
            </a:pPr>
            <a:r>
              <a:rPr sz="1100" b="0">
                <a:solidFill>
                  <a:srgbClr val="5B6372"/>
                </a:solidFill>
                <a:latin typeface="Arial"/>
              </a:rPr>
              <a:t>The same rule enforced in the browser and in the agent is deliberate redundancy — only one of them runs on a machine you control.</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Session-keyed memory</a:t>
            </a:r>
          </a:p>
          <a:p>
            <a:pPr algn="l">
              <a:spcAft>
                <a:spcPts val="300"/>
              </a:spcAft>
            </a:pPr>
            <a:r>
              <a:rPr sz="1100" b="0">
                <a:solidFill>
                  <a:srgbClr val="5B6372"/>
                </a:solidFill>
                <a:latin typeface="Arial"/>
              </a:rPr>
              <a:t>Session-keyed memory gives context to follow-up questions without leaking between visitors.</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Two separate logs</a:t>
            </a:r>
          </a:p>
          <a:p>
            <a:pPr algn="l">
              <a:spcAft>
                <a:spcPts val="300"/>
              </a:spcAft>
            </a:pPr>
            <a:r>
              <a:rPr sz="1100" b="0">
                <a:solidFill>
                  <a:srgbClr val="5B6372"/>
                </a:solidFill>
                <a:latin typeface="Arial"/>
              </a:rPr>
              <a:t>Separating what the agent proposed from what a human approved is what makes the trail auditable.</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A decline reassigns</a:t>
            </a:r>
          </a:p>
          <a:p>
            <a:pPr algn="l">
              <a:spcAft>
                <a:spcPts val="300"/>
              </a:spcAft>
            </a:pPr>
            <a:r>
              <a:rPr sz="1100" b="0">
                <a:solidFill>
                  <a:srgbClr val="5B6372"/>
                </a:solidFill>
                <a:latin typeface="Arial"/>
              </a:rPr>
              <a:t>A decline is a reassignment, not a deletion — someone must still owe the client an answer.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Retrieval-Augmented Generation (RAG)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Tokenization · Embeddings · Vector stores · Grounded answers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LO5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Retrieval-Augmented Generation (RAG)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is RAG</a:t>
            </a:r>
          </a:p>
          <a:p>
            <a:pPr algn="l">
              <a:spcAft>
                <a:spcPts val="300"/>
              </a:spcAft>
            </a:pPr>
            <a:r>
              <a:rPr sz="1100" b="0">
                <a:solidFill>
                  <a:srgbClr val="5B6372"/>
                </a:solidFill>
                <a:latin typeface="Arial"/>
              </a:rPr>
              <a:t>Retrieve the few documents that resemble the question, then let the LLM answer from those. The model reads what matters instead of everything.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not just paste everything</a:t>
            </a:r>
          </a:p>
          <a:p>
            <a:pPr algn="l">
              <a:spcAft>
                <a:spcPts val="300"/>
              </a:spcAft>
            </a:pPr>
            <a:r>
              <a:rPr sz="1100" b="0">
                <a:solidFill>
                  <a:srgbClr val="5B6372"/>
                </a:solidFill>
                <a:latin typeface="Arial"/>
              </a:rPr>
              <a:t>Prompts have limits and costs. Twenty brochures fit; two hundred do not, and the model starts ignoring the middle of a long prompt.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Tokenization and embeddings</a:t>
            </a:r>
          </a:p>
          <a:p>
            <a:pPr algn="l">
              <a:spcAft>
                <a:spcPts val="300"/>
              </a:spcAft>
            </a:pPr>
            <a:r>
              <a:rPr sz="1100" b="0">
                <a:solidFill>
                  <a:srgbClr val="5B6372"/>
                </a:solidFill>
                <a:latin typeface="Arial"/>
              </a:rPr>
              <a:t>Text is split into tokens, then an embedding model turns each chunk into a vector so that text about similar things lands close together.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Vector stores</a:t>
            </a:r>
          </a:p>
          <a:p>
            <a:pPr algn="l">
              <a:spcAft>
                <a:spcPts val="300"/>
              </a:spcAft>
            </a:pPr>
            <a:r>
              <a:rPr sz="1100" b="0">
                <a:solidFill>
                  <a:srgbClr val="5B6372"/>
                </a:solidFill>
                <a:latin typeface="Arial"/>
              </a:rPr>
              <a:t>A database that finds nearest neighbours fast. n8n's Simple Vector Store needs no setup — and is wiped whenever n8n restarts.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Chunking is the biggest lever</a:t>
            </a:r>
          </a:p>
          <a:p>
            <a:pPr algn="l">
              <a:spcAft>
                <a:spcPts val="300"/>
              </a:spcAft>
            </a:pPr>
            <a:r>
              <a:rPr sz="1100" b="0">
                <a:solidFill>
                  <a:srgbClr val="5B6372"/>
                </a:solidFill>
                <a:latin typeface="Arial"/>
              </a:rPr>
              <a:t>The right chunk is the smallest piece of text that still answers a question on its own. Split a brochure and the fee is separated from the course name.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Grounding against hallucination</a:t>
            </a:r>
          </a:p>
          <a:p>
            <a:pPr algn="l">
              <a:spcAft>
                <a:spcPts val="300"/>
              </a:spcAft>
            </a:pPr>
            <a:r>
              <a:rPr sz="1100" b="0">
                <a:solidFill>
                  <a:srgbClr val="5B6372"/>
                </a:solidFill>
                <a:latin typeface="Arial"/>
              </a:rPr>
              <a:t>Instruct the agent to answer only from what the tool returned, and to say 'I don't have that' otherwise. An ungrounded model invents a plausible, wrong fee.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CONCEPT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RAG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ag-concept.png"/>
          <p:cNvPicPr>
            <a:picLocks noChangeAspect="1"/>
          </p:cNvPicPr>
          <p:nvPr/>
        </p:nvPicPr>
        <p:blipFill>
          <a:blip r:embed="rId2"/>
          <a:stretch>
            <a:fillRect/>
          </a:stretch>
        </p:blipFill>
        <p:spPr>
          <a:xfrm>
            <a:off x="2218861" y="1755648"/>
            <a:ext cx="7753973" cy="3986784"/>
          </a:xfrm>
          <a:prstGeom prst="rect">
            <a:avLst/>
          </a:prstGeom>
        </p:spPr>
      </p:pic>
      <p:sp>
        <p:nvSpPr>
          <p:cNvPr id="8" name="TextBox 7"/>
          <p:cNvSpPr txBox="1"/>
          <p:nvPr/>
        </p:nvSpPr>
        <p:spPr>
          <a:xfrm>
            <a:off x="777240" y="5852160"/>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Retrieval finds the documents that resemble the question · Augmentation adds them to the prompt · Generation produces an answer grounded in what was retrieved.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CONCEPT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Tokenization and Text Embedding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xt-embedding.png"/>
          <p:cNvPicPr>
            <a:picLocks noChangeAspect="1"/>
          </p:cNvPicPr>
          <p:nvPr/>
        </p:nvPicPr>
        <p:blipFill>
          <a:blip r:embed="rId2"/>
          <a:stretch>
            <a:fillRect/>
          </a:stretch>
        </p:blipFill>
        <p:spPr>
          <a:xfrm>
            <a:off x="609447" y="2031861"/>
            <a:ext cx="10972800" cy="3434357"/>
          </a:xfrm>
          <a:prstGeom prst="rect">
            <a:avLst/>
          </a:prstGeom>
        </p:spPr>
      </p:pic>
      <p:sp>
        <p:nvSpPr>
          <p:cNvPr id="8" name="TextBox 7"/>
          <p:cNvSpPr txBox="1"/>
          <p:nvPr/>
        </p:nvSpPr>
        <p:spPr>
          <a:xfrm>
            <a:off x="777240" y="5575946"/>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Text is split into tokens, then an embedding model turns it into a vector — a list of numbers that places similar meanings close together.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CONCEPT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Vector Databases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ector-database.png"/>
          <p:cNvPicPr>
            <a:picLocks noChangeAspect="1"/>
          </p:cNvPicPr>
          <p:nvPr/>
        </p:nvPicPr>
        <p:blipFill>
          <a:blip r:embed="rId2"/>
          <a:stretch>
            <a:fillRect/>
          </a:stretch>
        </p:blipFill>
        <p:spPr>
          <a:xfrm>
            <a:off x="2552039" y="1755648"/>
            <a:ext cx="7087616" cy="3986784"/>
          </a:xfrm>
          <a:prstGeom prst="rect">
            <a:avLst/>
          </a:prstGeom>
        </p:spPr>
      </p:pic>
      <p:sp>
        <p:nvSpPr>
          <p:cNvPr id="8" name="TextBox 7"/>
          <p:cNvSpPr txBox="1"/>
          <p:nvPr/>
        </p:nvSpPr>
        <p:spPr>
          <a:xfrm>
            <a:off x="777240" y="5852160"/>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A vector store holds the embeddings and finds the nearest neighbours to a question, fast.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DESIGN QUESTION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Not Just Paste Everything Into the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For twenty short documents, pasting them all would actually work.</a:t>
            </a:r>
          </a:p>
          <a:p>
            <a:pPr>
              <a:spcAft>
                <a:spcPts val="1000"/>
              </a:spcAft>
            </a:pPr>
            <a:r>
              <a:rPr sz="2000" b="0">
                <a:solidFill>
                  <a:srgbClr val="161B26"/>
                </a:solidFill>
                <a:latin typeface="Arial"/>
              </a:rPr>
              <a:t>•  Add two hundred more and the prompt exceeds the model's context window.</a:t>
            </a:r>
          </a:p>
          <a:p>
            <a:pPr>
              <a:spcAft>
                <a:spcPts val="1000"/>
              </a:spcAft>
            </a:pPr>
            <a:r>
              <a:rPr sz="2000" b="0">
                <a:solidFill>
                  <a:srgbClr val="161B26"/>
                </a:solidFill>
                <a:latin typeface="Arial"/>
              </a:rPr>
              <a:t>•  Long prompts also degrade quality — models attend less well to the middle of a very long context.</a:t>
            </a:r>
          </a:p>
          <a:p>
            <a:pPr>
              <a:spcAft>
                <a:spcPts val="1000"/>
              </a:spcAft>
            </a:pPr>
            <a:r>
              <a:rPr sz="2000" b="0">
                <a:solidFill>
                  <a:srgbClr val="161B26"/>
                </a:solidFill>
                <a:latin typeface="Arial"/>
              </a:rPr>
              <a:t>•  And you pay for every token, on every single question, whether it was relevant or not.</a:t>
            </a:r>
          </a:p>
          <a:p>
            <a:pPr>
              <a:spcAft>
                <a:spcPts val="1000"/>
              </a:spcAft>
            </a:pPr>
            <a:r>
              <a:rPr sz="2000" b="0">
                <a:solidFill>
                  <a:srgbClr val="161B26"/>
                </a:solidFill>
                <a:latin typeface="Arial"/>
              </a:rPr>
              <a:t>•  RAG turns the problem around: retrieve the few documents that resemble the question, and send only those.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INGESTION THEN RETRIEVAL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RAG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Collect the source documents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Split them into chunks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Embed each chunk into a vector</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Store the vectors in a vector store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Embed the question and retrieve the nearest chunks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The LLM answers from what was retrieved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WHERE RAG PROJECTS FAIL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Chunking — the Biggest Lever on RAG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rule</a:t>
            </a:r>
          </a:p>
          <a:p>
            <a:pPr algn="l">
              <a:spcAft>
                <a:spcPts val="300"/>
              </a:spcAft>
            </a:pPr>
            <a:r>
              <a:rPr sz="1200" b="0">
                <a:solidFill>
                  <a:srgbClr val="5B6372"/>
                </a:solidFill>
                <a:latin typeface="Arial"/>
              </a:rPr>
              <a:t>The right chunk is the smallest piece of text that still answers a question on its own.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 small</a:t>
            </a:r>
          </a:p>
          <a:p>
            <a:pPr algn="l">
              <a:spcAft>
                <a:spcPts val="300"/>
              </a:spcAft>
            </a:pPr>
            <a:r>
              <a:rPr sz="1200" b="0">
                <a:solidFill>
                  <a:srgbClr val="5B6372"/>
                </a:solidFill>
                <a:latin typeface="Arial"/>
              </a:rPr>
              <a:t>A brochure sliced into thirds separates the course name from its fee — retrieval finds one without the other.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 large</a:t>
            </a:r>
          </a:p>
          <a:p>
            <a:pPr algn="l">
              <a:spcAft>
                <a:spcPts val="300"/>
              </a:spcAft>
            </a:pPr>
            <a:r>
              <a:rPr sz="1200" b="0">
                <a:solidFill>
                  <a:srgbClr val="5B6372"/>
                </a:solidFill>
                <a:latin typeface="Arial"/>
              </a:rPr>
              <a:t>Irrelevant text crowds the prompt and dilutes what actually matters.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Overlap</a:t>
            </a:r>
          </a:p>
          <a:p>
            <a:pPr algn="l">
              <a:spcAft>
                <a:spcPts val="300"/>
              </a:spcAft>
            </a:pPr>
            <a:r>
              <a:rPr sz="1200" b="0">
                <a:solidFill>
                  <a:srgbClr val="5B6372"/>
                </a:solidFill>
                <a:latin typeface="Arial"/>
              </a:rPr>
              <a:t>A small overlap between chunks stops a sentence being cut in half at a boundary.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 this lab</a:t>
            </a:r>
          </a:p>
          <a:p>
            <a:pPr algn="l">
              <a:spcAft>
                <a:spcPts val="300"/>
              </a:spcAft>
            </a:pPr>
            <a:r>
              <a:rPr sz="1200" b="0">
                <a:solidFill>
                  <a:srgbClr val="5B6372"/>
                </a:solidFill>
                <a:latin typeface="Arial"/>
              </a:rPr>
              <a:t>Chunk size 4000, overlap 0 — one brochure becomes exactly one vector.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lesson</a:t>
            </a:r>
          </a:p>
          <a:p>
            <a:pPr algn="l">
              <a:spcAft>
                <a:spcPts val="300"/>
              </a:spcAft>
            </a:pPr>
            <a:r>
              <a:rPr sz="1200" b="0">
                <a:solidFill>
                  <a:srgbClr val="5B6372"/>
                </a:solidFill>
                <a:latin typeface="Arial"/>
              </a:rPr>
              <a:t>Most RAG projects fail quietly at chunking, not at the model.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IN-MEMORY VS HOSTED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Choosing a Vector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Activity 5 uses this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What production needs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Simple Vector Store (built in)</a:t>
            </a:r>
          </a:p>
          <a:p>
            <a:pPr>
              <a:spcAft>
                <a:spcPts val="1000"/>
              </a:spcAft>
            </a:pPr>
            <a:r>
              <a:rPr sz="1400" b="0">
                <a:solidFill>
                  <a:srgbClr val="5B6372"/>
                </a:solidFill>
                <a:latin typeface="Arial"/>
              </a:rPr>
              <a:t>–  No account, key or index needed</a:t>
            </a:r>
          </a:p>
          <a:p>
            <a:pPr>
              <a:spcAft>
                <a:spcPts val="1000"/>
              </a:spcAft>
            </a:pPr>
            <a:r>
              <a:rPr sz="1400" b="0">
                <a:solidFill>
                  <a:srgbClr val="5B6372"/>
                </a:solidFill>
                <a:latin typeface="Arial"/>
              </a:rPr>
              <a:t>–  Running RAG in ten minutes</a:t>
            </a:r>
          </a:p>
          <a:p>
            <a:pPr>
              <a:spcAft>
                <a:spcPts val="1000"/>
              </a:spcAft>
            </a:pPr>
            <a:r>
              <a:rPr sz="1400" b="0">
                <a:solidFill>
                  <a:srgbClr val="5B6372"/>
                </a:solidFill>
                <a:latin typeface="Arial"/>
              </a:rPr>
              <a:t>–  WIPED when n8n restarts</a:t>
            </a:r>
          </a:p>
          <a:p>
            <a:pPr>
              <a:spcAft>
                <a:spcPts val="1000"/>
              </a:spcAft>
            </a:pPr>
            <a:r>
              <a:rPr sz="1400" b="0">
                <a:solidFill>
                  <a:srgbClr val="5B6372"/>
                </a:solidFill>
                <a:latin typeface="Arial"/>
              </a:rPr>
              <a:t>–  Good for: learning and prototypes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real vector database</a:t>
            </a:r>
          </a:p>
          <a:p>
            <a:pPr>
              <a:spcAft>
                <a:spcPts val="1000"/>
              </a:spcAft>
            </a:pPr>
            <a:r>
              <a:rPr sz="1400" b="0">
                <a:solidFill>
                  <a:srgbClr val="5B6372"/>
                </a:solidFill>
                <a:latin typeface="Arial"/>
              </a:rPr>
              <a:t>–  Pinecone, Supabase (pgvector), Qdrant</a:t>
            </a:r>
          </a:p>
          <a:p>
            <a:pPr>
              <a:spcAft>
                <a:spcPts val="1000"/>
              </a:spcAft>
            </a:pPr>
            <a:r>
              <a:rPr sz="1400" b="0">
                <a:solidFill>
                  <a:srgbClr val="5B6372"/>
                </a:solidFill>
                <a:latin typeface="Arial"/>
              </a:rPr>
              <a:t>–  Account, index and dimension to set up</a:t>
            </a:r>
          </a:p>
          <a:p>
            <a:pPr>
              <a:spcAft>
                <a:spcPts val="1000"/>
              </a:spcAft>
            </a:pPr>
            <a:r>
              <a:rPr sz="1400" b="0">
                <a:solidFill>
                  <a:srgbClr val="5B6372"/>
                </a:solidFill>
                <a:latin typeface="Arial"/>
              </a:rPr>
              <a:t>–  Persists and scales; shared across instances</a:t>
            </a:r>
          </a:p>
          <a:p>
            <a:pPr>
              <a:spcAft>
                <a:spcPts val="1000"/>
              </a:spcAft>
            </a:pPr>
            <a:r>
              <a:rPr sz="1400" b="0">
                <a:solidFill>
                  <a:srgbClr val="5B6372"/>
                </a:solidFill>
                <a:latin typeface="Arial"/>
              </a:rPr>
              <a:t>–  Good for: anything in production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COMMON FAILURES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Rules That Keep RAG Working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ingestion and retrieval embedding models must be IDENTICAL — the numbers mean different things otherwise.</a:t>
            </a:r>
          </a:p>
          <a:p>
            <a:pPr>
              <a:spcAft>
                <a:spcPts val="1000"/>
              </a:spcAft>
            </a:pPr>
            <a:r>
              <a:rPr sz="2000" b="0">
                <a:solidFill>
                  <a:srgbClr val="161B26"/>
                </a:solidFill>
                <a:latin typeface="Arial"/>
              </a:rPr>
              <a:t>•  The vector store's dimension must match the embedding model's output (Gemini embedding-001 = 3072).</a:t>
            </a:r>
          </a:p>
          <a:p>
            <a:pPr>
              <a:spcAft>
                <a:spcPts val="1000"/>
              </a:spcAft>
            </a:pPr>
            <a:r>
              <a:rPr sz="2000" b="0">
                <a:solidFill>
                  <a:srgbClr val="161B26"/>
                </a:solidFill>
                <a:latin typeface="Arial"/>
              </a:rPr>
              <a:t>•  The memory key or index name must match between ingestion and retrieval.</a:t>
            </a:r>
          </a:p>
          <a:p>
            <a:pPr>
              <a:spcAft>
                <a:spcPts val="1000"/>
              </a:spcAft>
            </a:pPr>
            <a:r>
              <a:rPr sz="2000" b="0">
                <a:solidFill>
                  <a:srgbClr val="161B26"/>
                </a:solidFill>
                <a:latin typeface="Arial"/>
              </a:rPr>
              <a:t>•  Turn Clear Store on when re-ingesting, or every document is stored — and retrieved — twice.</a:t>
            </a:r>
          </a:p>
          <a:p>
            <a:pPr>
              <a:spcAft>
                <a:spcPts val="1000"/>
              </a:spcAft>
            </a:pPr>
            <a:r>
              <a:rPr sz="2000" b="0">
                <a:solidFill>
                  <a:srgbClr val="161B26"/>
                </a:solidFill>
                <a:latin typeface="Arial"/>
              </a:rPr>
              <a:t>•  topK controls how many chunks are retrieved: too few misses the answer, too many dilutes the prompt.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INSTRUCTIONS THAT MATTER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Grounding an Agent Against Hallucination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Always call the tool first</a:t>
            </a:r>
          </a:p>
          <a:p>
            <a:pPr algn="l">
              <a:spcAft>
                <a:spcPts val="300"/>
              </a:spcAft>
            </a:pPr>
            <a:r>
              <a:rPr sz="1200" b="0">
                <a:solidFill>
                  <a:srgbClr val="5B6372"/>
                </a:solidFill>
                <a:latin typeface="Arial"/>
              </a:rPr>
              <a:t>Instruct the agent to search before answering any factual question.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Answer only from what came back</a:t>
            </a:r>
          </a:p>
          <a:p>
            <a:pPr algn="l">
              <a:spcAft>
                <a:spcPts val="300"/>
              </a:spcAft>
            </a:pPr>
            <a:r>
              <a:rPr sz="1200" b="0">
                <a:solidFill>
                  <a:srgbClr val="5B6372"/>
                </a:solidFill>
                <a:latin typeface="Arial"/>
              </a:rPr>
              <a:t>Every factual claim must trace to a retrieved document.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Give it permission to fail</a:t>
            </a:r>
          </a:p>
          <a:p>
            <a:pPr algn="l">
              <a:spcAft>
                <a:spcPts val="300"/>
              </a:spcAft>
            </a:pPr>
            <a:r>
              <a:rPr sz="1200" b="0">
                <a:solidFill>
                  <a:srgbClr val="5B6372"/>
                </a:solidFill>
                <a:latin typeface="Arial"/>
              </a:rPr>
              <a:t>'Say I don't have that in our course information' is a better answer than a confident invention.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 what it must never invent</a:t>
            </a:r>
          </a:p>
          <a:p>
            <a:pPr algn="l">
              <a:spcAft>
                <a:spcPts val="300"/>
              </a:spcAft>
            </a:pPr>
            <a:r>
              <a:rPr sz="1200" b="0">
                <a:solidFill>
                  <a:srgbClr val="5B6372"/>
                </a:solidFill>
                <a:latin typeface="Arial"/>
              </a:rPr>
              <a:t>A fee, a date, a duration, a course code, an instructor name, a discount.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Hide the machinery</a:t>
            </a:r>
          </a:p>
          <a:p>
            <a:pPr algn="l">
              <a:spcAft>
                <a:spcPts val="300"/>
              </a:spcAft>
            </a:pPr>
            <a:r>
              <a:rPr sz="1200" b="0">
                <a:solidFill>
                  <a:srgbClr val="5B6372"/>
                </a:solidFill>
                <a:latin typeface="Arial"/>
              </a:rPr>
              <a:t>Never mention the vector store or that it is searching documents — the customer does not care.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the traps</a:t>
            </a:r>
          </a:p>
          <a:p>
            <a:pPr algn="l">
              <a:spcAft>
                <a:spcPts val="300"/>
              </a:spcAft>
            </a:pPr>
            <a:r>
              <a:rPr sz="1200" b="0">
                <a:solidFill>
                  <a:srgbClr val="5B6372"/>
                </a:solidFill>
                <a:latin typeface="Arial"/>
              </a:rPr>
              <a:t>Ask about a course you do not run, a person who does not exist, and a discount never offered.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Retrieval-Augmented Generation (RAG)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3259836"/>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3259836"/>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3387852"/>
            <a:ext cx="9427464" cy="1234440"/>
          </a:xfrm>
          <a:prstGeom prst="rect">
            <a:avLst/>
          </a:prstGeom>
          <a:noFill/>
        </p:spPr>
        <p:txBody>
          <a:bodyPr wrap="square" anchor="ctr">
            <a:spAutoFit/>
          </a:bodyPr>
          <a:lstStyle/>
          <a:p>
            <a:pPr algn="l">
              <a:spcAft>
                <a:spcPts val="300"/>
              </a:spcAft>
            </a:pPr>
            <a:r>
              <a:rPr sz="1700" b="1">
                <a:solidFill>
                  <a:srgbClr val="161B26"/>
                </a:solidFill>
                <a:latin typeface="Arial"/>
              </a:rPr>
              <a:t>Lab 5 — RAG Customer Care Chatbot (Cook &amp; Bake Academy)</a:t>
            </a:r>
          </a:p>
          <a:p>
            <a:pPr algn="l">
              <a:spcAft>
                <a:spcPts val="300"/>
              </a:spcAft>
            </a:pPr>
            <a:r>
              <a:rPr sz="1300" b="0">
                <a:solidFill>
                  <a:srgbClr val="5B6372"/>
                </a:solidFill>
                <a:latin typeface="Arial"/>
              </a:rPr>
              <a:t>Ingestion: Drive → Split → Embed → Vector Store   ·   Answering: Webhook → Agent + Retriever → Respond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5 — RAG Customer Care Chatbot (Cook &amp; Bake Academy)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Cook &amp; Bake Academy runs 20 courses across two campuses, and its two-person customer care team retypes the same answers all day. Every answer is already written in the course brochures. You build the full RAG loop: an ingestion workflow that embeds all 20 brochures into a vector store, and a chatbot that retrieves only the brochures resembling each question and answers strictly from those.</a:t>
            </a:r>
          </a:p>
        </p:txBody>
      </p:sp>
      <p:sp>
        <p:nvSpPr>
          <p:cNvPr id="10" name="Rectangle 9"/>
          <p:cNvSpPr/>
          <p:nvPr/>
        </p:nvSpPr>
        <p:spPr>
          <a:xfrm>
            <a:off x="777240" y="4160520"/>
            <a:ext cx="1069848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15968"/>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663440"/>
            <a:ext cx="10241280" cy="640080"/>
          </a:xfrm>
          <a:prstGeom prst="rect">
            <a:avLst/>
          </a:prstGeom>
          <a:noFill/>
        </p:spPr>
        <p:txBody>
          <a:bodyPr wrap="square" anchor="t">
            <a:spAutoFit/>
          </a:bodyPr>
          <a:lstStyle/>
          <a:p>
            <a:pPr algn="l">
              <a:spcAft>
                <a:spcPts val="400"/>
              </a:spcAft>
            </a:pPr>
            <a:r>
              <a:rPr sz="1600" b="1">
                <a:solidFill>
                  <a:srgbClr val="161B26"/>
                </a:solidFill>
                <a:latin typeface="Arial"/>
              </a:rPr>
              <a:t>Ingestion: Drive → Split → Embed → Vector Store   ·   Answering: Webhook → Agent + Retriever → Respond</a:t>
            </a:r>
          </a:p>
        </p:txBody>
      </p:sp>
      <p:sp>
        <p:nvSpPr>
          <p:cNvPr id="13" name="TextBox 12"/>
          <p:cNvSpPr txBox="1"/>
          <p:nvPr/>
        </p:nvSpPr>
        <p:spPr>
          <a:xfrm>
            <a:off x="1005840" y="539496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n8n Simple Vector Store, Google Gemini Embeddings, Google Drive, AI Agent, Webhook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5 · THE APPLICATION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5 — RAG Customer Care Chatbot — What You'll Build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te-lab5.png"/>
          <p:cNvPicPr>
            <a:picLocks noChangeAspect="1"/>
          </p:cNvPicPr>
          <p:nvPr/>
        </p:nvPicPr>
        <p:blipFill>
          <a:blip r:embed="rId2"/>
          <a:stretch>
            <a:fillRect/>
          </a:stretch>
        </p:blipFill>
        <p:spPr>
          <a:xfrm>
            <a:off x="2906420" y="1755648"/>
            <a:ext cx="6378854" cy="3986784"/>
          </a:xfrm>
          <a:prstGeom prst="rect">
            <a:avLst/>
          </a:prstGeom>
        </p:spPr>
      </p:pic>
      <p:sp>
        <p:nvSpPr>
          <p:cNvPr id="8" name="TextBox 7"/>
          <p:cNvSpPr txBox="1"/>
          <p:nvPr/>
        </p:nvSpPr>
        <p:spPr>
          <a:xfrm>
            <a:off x="777240" y="5852160"/>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The Cook &amp; Bake Academy site with the course assistant open. Every answer it gives is grounded in the 20 brochures you ingested into the vector store.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THE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5 — RAG Customer Care Chatbot — Ingestion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lab5-ingest.png"/>
          <p:cNvPicPr>
            <a:picLocks noChangeAspect="1"/>
          </p:cNvPicPr>
          <p:nvPr/>
        </p:nvPicPr>
        <p:blipFill>
          <a:blip r:embed="rId2"/>
          <a:stretch>
            <a:fillRect/>
          </a:stretch>
        </p:blipFill>
        <p:spPr>
          <a:xfrm>
            <a:off x="609447" y="2810676"/>
            <a:ext cx="10972800" cy="1876727"/>
          </a:xfrm>
          <a:prstGeom prst="rect">
            <a:avLst/>
          </a:prstGeom>
        </p:spPr>
      </p:pic>
      <p:sp>
        <p:nvSpPr>
          <p:cNvPr id="8" name="TextBox 7"/>
          <p:cNvSpPr txBox="1"/>
          <p:nvPr/>
        </p:nvSpPr>
        <p:spPr>
          <a:xfrm>
            <a:off x="777240" y="4797131"/>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Ingestion — run once by hand. Twenty brochures are listed, downloaded, split (one brochure = one chunk), embedded into 3072-dimensional vectors and inserted into the store.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THE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5 — RAG Customer Care Chatbot — Answering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lab5-agent.png"/>
          <p:cNvPicPr>
            <a:picLocks noChangeAspect="1"/>
          </p:cNvPicPr>
          <p:nvPr/>
        </p:nvPicPr>
        <p:blipFill>
          <a:blip r:embed="rId2"/>
          <a:stretch>
            <a:fillRect/>
          </a:stretch>
        </p:blipFill>
        <p:spPr>
          <a:xfrm>
            <a:off x="609447" y="2660538"/>
            <a:ext cx="10972800" cy="2177003"/>
          </a:xfrm>
          <a:prstGeom prst="rect">
            <a:avLst/>
          </a:prstGeom>
        </p:spPr>
      </p:pic>
      <p:sp>
        <p:nvSpPr>
          <p:cNvPr id="8" name="TextBox 7"/>
          <p:cNvSpPr txBox="1"/>
          <p:nvPr/>
        </p:nvSpPr>
        <p:spPr>
          <a:xfrm>
            <a:off x="777240" y="4947269"/>
            <a:ext cx="10634472" cy="566928"/>
          </a:xfrm>
          <a:prstGeom prst="rect">
            <a:avLst/>
          </a:prstGeom>
          <a:noFill/>
        </p:spPr>
        <p:txBody>
          <a:bodyPr wrap="square" anchor="t">
            <a:spAutoFit/>
          </a:bodyPr>
          <a:lstStyle/>
          <a:p>
            <a:pPr algn="ctr">
              <a:spcAft>
                <a:spcPts val="400"/>
              </a:spcAft>
            </a:pPr>
            <a:r>
              <a:rPr sz="1300" b="0">
                <a:solidFill>
                  <a:srgbClr val="5B6372"/>
                </a:solidFill>
                <a:latin typeface="Arial"/>
              </a:rPr>
              <a:t>Answering — runs on every question. The agent embeds the question with the SAME model, retrieves the nearest brochures through the Query Data Tool, and answers only from those.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In Google Drive create a folder named 'brochures' and upload all 20 .txt files from the lab's brochures/ folder.</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That folder becomes the academy's single source of truth. When a fee changes, it changes here and nowhere else.</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one brochure and read it — everything the chatbot will ever say comes from files like this one.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If a fact is not in these files, a correctly-grounded chatbot cannot say it. That is the point of RAG.</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Import lab5-Ingest-Simple-Vector-Store.json — this is the ingestion workflow you run once.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Ingestion and answering are separate workflows: you ingest once, then answer thousands of questions.</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List Brochures in Folder, select YOUR brochures folder, and set your Google Drive credential.</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Point it at your own folder, or you will be answering questions from the author's copy of the documents.</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Simple Vector Store (Insert) and change the Memory Key from cookbake_brochures to cookbake_&lt;your-name&gt;, because the whole class shares one namespace.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memory key is a global namespace on a shared instance. Leave the default and you will be answering questions from each other's brochures.</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Confirm Clear Store is ON so that re-running replaces the 20 brochures instead of storing them twice.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Turn it off and run twice, and every search returns each brochure twice.</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Whole-Brochure Splitter and note chunk size 4000 with overlap 0 — one brochure becomes exactly one vector, so the fee is never separated from the course name.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default 1000-character splitter would slice a brochure into three: the fragment mentioning sourdough would not be the fragment with the price.</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Embeddings Google Gemini, select your credential, and note the model gemini-embedding-001 produces 3072-dimensional vectors.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Remember this number. The store's dimension must equal the embedding model's output, and a mismatch is the top cause of failed inserts.</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Click Execute workflow. Twenty files are listed, downloaded, embedded and stored in about thirty seconds.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Confirm exactly twenty vectors were inserted. More than twenty means Clear Store was off and you have duplicates.</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10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Import LU5-rag-chatbot.json — the answering agent.</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This is the half that runs on every question. It never sees nineteen of the twenty brochures.</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11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Query Data Tool and set its Memory Key to the SAME cookbake_&lt;your-name&gt; you used during ingestion. A mismatch here is the most common failure in this lab.</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If the keys differ, the agent searches an empty store and answers 'I don't have that' to everything — with no error anywhere.</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12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Confirm the retrieval Embeddings node uses the identical model to ingestion — a question embedded by one model cannot be compared against brochures embedded by another.</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numbers mean different things between models. The comparison silently returns nonsense rather than failing.</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13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AI Agent and read the grounding rules: always call the tool first, never invent a fee or an instructor, and say 'I don't have that in our course information' when the brochures are silent.</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An ungrounded model asked for a price will produce one. It will be plausible, it will be wrong, and the customer will quote it back to you.</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14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Save, Activate, copy the Production URL, then serve the website folder and paste the URL into Lab configuration.</a:t>
            </a:r>
          </a:p>
        </p:txBody>
      </p:sp>
      <p:sp>
        <p:nvSpPr>
          <p:cNvPr id="11" name="Rectangle 10"/>
          <p:cNvSpPr/>
          <p:nvPr/>
        </p:nvSpPr>
        <p:spPr>
          <a:xfrm>
            <a:off x="2331720" y="3886200"/>
            <a:ext cx="9235440" cy="822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95928"/>
            <a:ext cx="8869680" cy="603504"/>
          </a:xfrm>
          <a:prstGeom prst="rect">
            <a:avLst/>
          </a:prstGeom>
          <a:noFill/>
        </p:spPr>
        <p:txBody>
          <a:bodyPr wrap="square" anchor="ctr">
            <a:spAutoFit/>
          </a:bodyPr>
          <a:lstStyle/>
          <a:p>
            <a:pPr algn="l">
              <a:spcAft>
                <a:spcPts val="400"/>
              </a:spcAft>
            </a:pPr>
            <a:r>
              <a:rPr sz="1300" b="0">
                <a:solidFill>
                  <a:srgbClr val="9CDCFE"/>
                </a:solidFill>
                <a:latin typeface="Arial"/>
              </a:rPr>
              <a:t>$ python3 -m http.server 8000</a:t>
            </a:r>
          </a:p>
        </p:txBody>
      </p:sp>
      <p:sp>
        <p:nvSpPr>
          <p:cNvPr id="13" name="Rectangle 12"/>
          <p:cNvSpPr/>
          <p:nvPr/>
        </p:nvSpPr>
        <p:spPr>
          <a:xfrm>
            <a:off x="2331720" y="489204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9204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498348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If the webhook is unset the page silently falls back to a local keyword search and looks like it works — watch for the yellow warning banner.</a:t>
            </a:r>
          </a:p>
        </p:txBody>
      </p:sp>
      <p:sp>
        <p:nvSpPr>
          <p:cNvPr id="16" name="Rectangle 15"/>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89127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50696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2266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3836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35405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15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Click the chat button and ask 'How much is the sourdough course?', then work through all ten rows of sample-questions.csv.</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TC7, TC8 and TC9 each plant something false and invite the model to agree. Any confident answer is a failure, however fluent.</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700" b="0">
                <a:solidFill>
                  <a:srgbClr val="161B26"/>
                </a:solidFill>
                <a:latin typeface="Arial"/>
              </a:rPr>
              <a:t>TC1 must quote BAK-101's exact fee from the brochure. Then run the three hallucination probes: TC7 (a course that does not exist), TC8 (an instructor name no brochure contains) and TC9 (a discount that was never offered). Any confident answer to these is a failure, however fluent.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Learned — Lab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What RAG does</a:t>
            </a:r>
          </a:p>
          <a:p>
            <a:pPr algn="l">
              <a:spcAft>
                <a:spcPts val="300"/>
              </a:spcAft>
            </a:pPr>
            <a:r>
              <a:rPr sz="1300" b="0">
                <a:solidFill>
                  <a:srgbClr val="5B6372"/>
                </a:solidFill>
                <a:latin typeface="Arial"/>
              </a:rPr>
              <a:t>RAG retrieves the few documents that resemble the question instead of pasting everything into the prompt.</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Embeddings</a:t>
            </a:r>
          </a:p>
          <a:p>
            <a:pPr algn="l">
              <a:spcAft>
                <a:spcPts val="300"/>
              </a:spcAft>
            </a:pPr>
            <a:r>
              <a:rPr sz="1300" b="0">
                <a:solidFill>
                  <a:srgbClr val="5B6372"/>
                </a:solidFill>
                <a:latin typeface="Arial"/>
              </a:rPr>
              <a:t>An embedding places similar meanings close together, so retrieval works even when no words match.</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Chunking</a:t>
            </a:r>
          </a:p>
          <a:p>
            <a:pPr algn="l">
              <a:spcAft>
                <a:spcPts val="300"/>
              </a:spcAft>
            </a:pPr>
            <a:r>
              <a:rPr sz="1300" b="0">
                <a:solidFill>
                  <a:srgbClr val="5B6372"/>
                </a:solidFill>
                <a:latin typeface="Arial"/>
              </a:rPr>
              <a:t>Chunking is the single biggest lever on RAG quality — the right chunk answers a question on its own.</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Match model and key</a:t>
            </a:r>
          </a:p>
          <a:p>
            <a:pPr algn="l">
              <a:spcAft>
                <a:spcPts val="300"/>
              </a:spcAft>
            </a:pPr>
            <a:r>
              <a:rPr sz="1300" b="0">
                <a:solidFill>
                  <a:srgbClr val="5B6372"/>
                </a:solidFill>
                <a:latin typeface="Arial"/>
              </a:rPr>
              <a:t>The ingestion and retrieval embedding models must be identical, and the memory keys must match.</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In-memory is temporary</a:t>
            </a:r>
          </a:p>
          <a:p>
            <a:pPr algn="l">
              <a:spcAft>
                <a:spcPts val="300"/>
              </a:spcAft>
            </a:pPr>
            <a:r>
              <a:rPr sz="1300" b="0">
                <a:solidFill>
                  <a:srgbClr val="5B6372"/>
                </a:solidFill>
                <a:latin typeface="Arial"/>
              </a:rPr>
              <a:t>n8n's Simple Vector Store is wiped when n8n restarts — fine for learning, unacceptable in production.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Retrieval-Augmented Generation (RAG)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What RAG does</a:t>
            </a:r>
          </a:p>
          <a:p>
            <a:pPr algn="l">
              <a:spcAft>
                <a:spcPts val="300"/>
              </a:spcAft>
            </a:pPr>
            <a:r>
              <a:rPr sz="1100" b="0">
                <a:solidFill>
                  <a:srgbClr val="5B6372"/>
                </a:solidFill>
                <a:latin typeface="Arial"/>
              </a:rPr>
              <a:t>Lab 5 — you can now deploy a RAG application that grounds an agent in the organisation's own documents.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Embeddings</a:t>
            </a:r>
          </a:p>
          <a:p>
            <a:pPr algn="l">
              <a:spcAft>
                <a:spcPts val="300"/>
              </a:spcAft>
            </a:pPr>
            <a:r>
              <a:rPr sz="1100" b="0">
                <a:solidFill>
                  <a:srgbClr val="5B6372"/>
                </a:solidFill>
                <a:latin typeface="Arial"/>
              </a:rPr>
              <a:t>An embedding places similar meanings close together, so retrieval works even when no words match.</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Chunking</a:t>
            </a:r>
          </a:p>
          <a:p>
            <a:pPr algn="l">
              <a:spcAft>
                <a:spcPts val="300"/>
              </a:spcAft>
            </a:pPr>
            <a:r>
              <a:rPr sz="1100" b="0">
                <a:solidFill>
                  <a:srgbClr val="5B6372"/>
                </a:solidFill>
                <a:latin typeface="Arial"/>
              </a:rPr>
              <a:t>Chunking is the single biggest lever on RAG quality — the right chunk answers a question on its own.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LO1 · n8n and AI agents</a:t>
            </a:r>
          </a:p>
          <a:p>
            <a:pPr algn="l">
              <a:spcAft>
                <a:spcPts val="300"/>
              </a:spcAft>
            </a:pPr>
            <a:r>
              <a:rPr sz="1200" b="0">
                <a:solidFill>
                  <a:srgbClr val="5B6372"/>
                </a:solidFill>
                <a:latin typeface="Arial"/>
              </a:rPr>
              <a:t>Built a trigger-and-action workflow and explained how an LLM agent differs from generative AI.</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LO2 · Webhook-triggered agents</a:t>
            </a:r>
          </a:p>
          <a:p>
            <a:pPr algn="l">
              <a:spcAft>
                <a:spcPts val="300"/>
              </a:spcAft>
            </a:pPr>
            <a:r>
              <a:rPr sz="1200" b="0">
                <a:solidFill>
                  <a:srgbClr val="5B6372"/>
                </a:solidFill>
                <a:latin typeface="Arial"/>
              </a:rPr>
              <a:t>Put an AI agent behind a real website, with tools, structured output and an audit log.</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LO3 · Agentic chatbots</a:t>
            </a:r>
          </a:p>
          <a:p>
            <a:pPr algn="l">
              <a:spcAft>
                <a:spcPts val="300"/>
              </a:spcAft>
            </a:pPr>
            <a:r>
              <a:rPr sz="1200" b="0">
                <a:solidFill>
                  <a:srgbClr val="5B6372"/>
                </a:solidFill>
                <a:latin typeface="Arial"/>
              </a:rPr>
              <a:t>Designed a chatbot that collects contact details and refuses to give regulated advice.</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LO4 · Human in the loop</a:t>
            </a:r>
          </a:p>
          <a:p>
            <a:pPr algn="l">
              <a:spcAft>
                <a:spcPts val="300"/>
              </a:spcAft>
            </a:pPr>
            <a:r>
              <a:rPr sz="1200" b="0">
                <a:solidFill>
                  <a:srgbClr val="5B6372"/>
                </a:solidFill>
                <a:latin typeface="Arial"/>
              </a:rPr>
              <a:t>Paused a workflow on an approval gate so no drafted communication was sent unsupervised.</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LO5 · RAG</a:t>
            </a:r>
          </a:p>
          <a:p>
            <a:pPr algn="l">
              <a:spcAft>
                <a:spcPts val="300"/>
              </a:spcAft>
            </a:pPr>
            <a:r>
              <a:rPr sz="1200" b="0">
                <a:solidFill>
                  <a:srgbClr val="5B6372"/>
                </a:solidFill>
                <a:latin typeface="Arial"/>
              </a:rPr>
              <a:t>Ingested 20 documents into a vector store and grounded a chatbot so it stopped inventing answers.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Taking This Back to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Start with one painful process</a:t>
            </a:r>
          </a:p>
          <a:p>
            <a:pPr algn="l">
              <a:spcAft>
                <a:spcPts val="300"/>
              </a:spcAft>
            </a:pPr>
            <a:r>
              <a:rPr sz="1200" b="0">
                <a:solidFill>
                  <a:srgbClr val="5B6372"/>
                </a:solidFill>
                <a:latin typeface="Arial"/>
              </a:rPr>
              <a:t>Pick something repetitive, high-volume and low-risk. Automate that first.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Map it before you build it</a:t>
            </a:r>
          </a:p>
          <a:p>
            <a:pPr algn="l">
              <a:spcAft>
                <a:spcPts val="300"/>
              </a:spcAft>
            </a:pPr>
            <a:r>
              <a:rPr sz="1200" b="0">
                <a:solidFill>
                  <a:srgbClr val="5B6372"/>
                </a:solidFill>
                <a:latin typeface="Arial"/>
              </a:rPr>
              <a:t>Draw the trigger, the decisions and the actions on paper. The canvas comes second.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Decide where the human belongs</a:t>
            </a:r>
          </a:p>
          <a:p>
            <a:pPr algn="l">
              <a:spcAft>
                <a:spcPts val="300"/>
              </a:spcAft>
            </a:pPr>
            <a:r>
              <a:rPr sz="1200" b="0">
                <a:solidFill>
                  <a:srgbClr val="5B6372"/>
                </a:solidFill>
                <a:latin typeface="Arial"/>
              </a:rPr>
              <a:t>Anything irreversible, regulated or expensive keeps an approval gate.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 the agent in your own data</a:t>
            </a:r>
          </a:p>
          <a:p>
            <a:pPr algn="l">
              <a:spcAft>
                <a:spcPts val="300"/>
              </a:spcAft>
            </a:pPr>
            <a:r>
              <a:rPr sz="1200" b="0">
                <a:solidFill>
                  <a:srgbClr val="5B6372"/>
                </a:solidFill>
                <a:latin typeface="Arial"/>
              </a:rPr>
              <a:t>RAG over your policies and documents beats a general model every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 everything from day one</a:t>
            </a:r>
          </a:p>
          <a:p>
            <a:pPr algn="l">
              <a:spcAft>
                <a:spcPts val="300"/>
              </a:spcAft>
            </a:pPr>
            <a:r>
              <a:rPr sz="1200" b="0">
                <a:solidFill>
                  <a:srgbClr val="5B6372"/>
                </a:solidFill>
                <a:latin typeface="Arial"/>
              </a:rPr>
              <a:t>You will need the audit trail long before you think you will.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Iterate with real cases</a:t>
            </a:r>
          </a:p>
          <a:p>
            <a:pPr algn="l">
              <a:spcAft>
                <a:spcPts val="300"/>
              </a:spcAft>
            </a:pPr>
            <a:r>
              <a:rPr sz="1200" b="0">
                <a:solidFill>
                  <a:srgbClr val="5B6372"/>
                </a:solidFill>
                <a:latin typeface="Arial"/>
              </a:rPr>
              <a:t>Test with the questions you fear, not the ones you hope for.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432304"/>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86664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2560320"/>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300" b="0">
                <a:solidFill>
                  <a:srgbClr val="5B6372"/>
                </a:solidFill>
                <a:latin typeface="Arial"/>
              </a:rPr>
              <a:t>+65 6100 0613</a:t>
            </a:r>
          </a:p>
        </p:txBody>
      </p:sp>
      <p:sp>
        <p:nvSpPr>
          <p:cNvPr id="17" name="Rectangle 16"/>
          <p:cNvSpPr/>
          <p:nvPr/>
        </p:nvSpPr>
        <p:spPr>
          <a:xfrm>
            <a:off x="777240"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5217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52170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LMS / TMS portal</a:t>
            </a:r>
          </a:p>
          <a:p>
            <a:pPr algn="l">
              <a:spcAft>
                <a:spcPts val="300"/>
              </a:spcAft>
            </a:pPr>
            <a:r>
              <a:rPr sz="1300" b="0">
                <a:solidFill>
                  <a:srgbClr val="5B6372"/>
                </a:solidFill>
                <a:latin typeface="Arial"/>
              </a:rPr>
              <a:t>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 · 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(SAQ)</a:t>
            </a:r>
          </a:p>
          <a:p>
            <a:pPr algn="l">
              <a:spcAft>
                <a:spcPts val="300"/>
              </a:spcAft>
            </a:pPr>
            <a:r>
              <a:rPr sz="1200" b="0">
                <a:solidFill>
                  <a:srgbClr val="5B6372"/>
                </a:solidFill>
                <a:latin typeface="Arial"/>
              </a:rPr>
              <a:t>1 hour. Short-answer questions covering the course knowledge.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1 hour. Hands-on n8n build tasks drawn from the five labs.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Submit on the LMS</a:t>
            </a:r>
          </a:p>
          <a:p>
            <a:pPr algn="l">
              <a:spcAft>
                <a:spcPts val="300"/>
              </a:spcAft>
            </a:pPr>
            <a:r>
              <a:rPr sz="1200" b="0">
                <a:solidFill>
                  <a:srgbClr val="5B6372"/>
                </a:solidFill>
                <a:latin typeface="Arial"/>
              </a:rPr>
              <a:t>Upload your completed answers at 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Digital attendance</a:t>
            </a:r>
          </a:p>
          <a:p>
            <a:pPr algn="l">
              <a:spcAft>
                <a:spcPts val="300"/>
              </a:spcAft>
            </a:pPr>
            <a:r>
              <a:rPr sz="1200" b="0">
                <a:solidFill>
                  <a:srgbClr val="5B6372"/>
                </a:solidFill>
                <a:latin typeface="Arial"/>
              </a:rPr>
              <a:t>Remember to take the Assessment digital attendance (TRAQOM).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AM, PM and Assessment</a:t>
            </a:r>
          </a:p>
          <a:p>
            <a:pPr algn="l">
              <a:spcAft>
                <a:spcPts val="300"/>
              </a:spcAft>
            </a:pPr>
            <a:r>
              <a:rPr sz="1300" b="0">
                <a:solidFill>
                  <a:srgbClr val="5B6372"/>
                </a:solidFill>
                <a:latin typeface="Arial"/>
              </a:rPr>
              <a:t>It is mandatory to take all three digital attendances for WSQ-funded courses.</a:t>
            </a:r>
          </a:p>
        </p:txBody>
      </p:sp>
      <p:sp>
        <p:nvSpPr>
          <p:cNvPr id="12" name="Rectangle 11"/>
          <p:cNvSpPr/>
          <p:nvPr/>
        </p:nvSpPr>
        <p:spPr>
          <a:xfrm>
            <a:off x="6231636"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432304"/>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86664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2560320"/>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The QR code</a:t>
            </a:r>
          </a:p>
          <a:p>
            <a:pPr algn="l">
              <a:spcAft>
                <a:spcPts val="300"/>
              </a:spcAft>
            </a:pPr>
            <a:r>
              <a:rPr sz="1300" b="0">
                <a:solidFill>
                  <a:srgbClr val="5B6372"/>
                </a:solidFill>
                <a:latin typeface="Arial"/>
              </a:rPr>
              <a:t>The trainer or administrator displays the attendance QR code from the SSG portal.</a:t>
            </a:r>
          </a:p>
        </p:txBody>
      </p:sp>
      <p:sp>
        <p:nvSpPr>
          <p:cNvPr id="17" name="Rectangle 16"/>
          <p:cNvSpPr/>
          <p:nvPr/>
        </p:nvSpPr>
        <p:spPr>
          <a:xfrm>
            <a:off x="777240"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5217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it with your mobile phone camera and submit your attendance.</a:t>
            </a:r>
          </a:p>
        </p:txBody>
      </p:sp>
      <p:sp>
        <p:nvSpPr>
          <p:cNvPr id="22" name="Rectangle 21"/>
          <p:cNvSpPr/>
          <p:nvPr/>
        </p:nvSpPr>
        <p:spPr>
          <a:xfrm>
            <a:off x="6231636"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52170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AUTOMATING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Keep your n8n instance running and keep building. The next process you automate is the one you were dreading this morning.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