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tiary-infotec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0080"/>
            <a:ext cx="960120" cy="960120"/>
          </a:xfrm>
          <a:prstGeom prst="rect">
            <a:avLst/>
          </a:prstGeom>
        </p:spPr>
      </p:pic>
      <p:pic>
        <p:nvPicPr>
          <p:cNvPr id="6" name="Picture 5" descr="n8n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0" y="658368"/>
            <a:ext cx="914400" cy="914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COURSE SLIDES  ·  WSQ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06040"/>
            <a:ext cx="109728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Agentic AI for Business Process Automation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4343400"/>
            <a:ext cx="21945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61772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WSQ Course Code: TGS-2024045801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TSC: Artificial Intelligence Application  ·  AER-TEM-3026-1.1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Version v2.1  ·  15 October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63640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© 2026 Tertiary Infotech Academy Pte Ltd. All rights reserved.  ·  www.tertiarycourses.com.sg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965960"/>
            <a:ext cx="9418320" cy="2926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965960"/>
            <a:ext cx="201168" cy="29260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22860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697480"/>
            <a:ext cx="8595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Welcome &amp; Housekeeping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54864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432304"/>
            <a:ext cx="9144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86664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AM, PM and Assessment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It is mandatory to take all three digital attendances for WSQ-funded courses.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2432304"/>
            <a:ext cx="91440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86664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The QR code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trainer or administrator displays the attendance QR code from the SSG portal.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52170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Scan and submit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Scan it with your mobile phone camera and submit your attendance.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521708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75% minimum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At least 75% attendance is required to be eligible for assessment and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YOUR TRAINER · GENERAL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General Trainer template —
to be completed by the trainer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7830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73168" y="178308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NAME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252984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80560" y="252984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52984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TITLE / DESIGNATION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60" y="327660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80560" y="3276600"/>
            <a:ext cx="91440" cy="5638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3168" y="327660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QUALIFICATIONS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402336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80560" y="4023360"/>
            <a:ext cx="91440" cy="563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73168" y="402336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AREAS OF EXPERTISE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0560" y="477012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80560" y="477012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73168" y="477012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TRAINING &amp; INDUSTRY EXPERIENCE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60" y="55168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80560" y="551688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73168" y="551688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CONTACT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Dr. Alfred Ang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Principal Trainer
Tertiary Infotech Academy Pte. Ltd.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78308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91440" cy="9372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73168" y="1783080"/>
            <a:ext cx="6400800" cy="9372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ROLE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Principal Trainer, Tertiary Infotech Academy Pte. Ltd.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290322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80560" y="2903220"/>
            <a:ext cx="91440" cy="9372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903220"/>
            <a:ext cx="6400800" cy="9372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QUALIFICATIONS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PhD — specialises in AI, automation and software engineering.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60" y="402336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80560" y="4023360"/>
            <a:ext cx="91440" cy="9372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3168" y="4023360"/>
            <a:ext cx="6400800" cy="9372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DELIVERS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WSQ courses on agentic AI, workflow automation (n8n) and app development.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514350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80560" y="5143500"/>
            <a:ext cx="91440" cy="9372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73168" y="5143500"/>
            <a:ext cx="6400800" cy="9372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FOUNDER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Founder and lead instructor at Tertiary Infotech / Tertiary Courses.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ICE-BREAKER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432304"/>
            <a:ext cx="9144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86664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Who you are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Your name, your organisation and your role.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2432304"/>
            <a:ext cx="91440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86664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Your starting point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Your experience with automation or AI tools — including none at all.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52170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Your pain point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One business process in your work you would most like to automate.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521708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Your goal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What you want to be able to build by the end of this course.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Set your mobile phone to silent mode.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Participate actively — no question is too small.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Mutual respect: agree to disagree.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One conversation at a time.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Be punctual; return from breaks on time.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75% attendance is required.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COURSE PORTAL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Download Course Material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ms-por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0872" y="1737360"/>
            <a:ext cx="5219776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458172" y="1724660"/>
            <a:ext cx="5245176" cy="41402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Log in at lms-tms.tertiaryinfotech.com with your registered email and the OTP sent to your inbox, then open this course to download the slides and Learner Guide.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COURSE PORTAL ·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Download Course Material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Go to lms-tms.tertiaryinfotech.com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Enter your registered email and click Send OTP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Key in the one-time password from your inbox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Open this course and download the slides + Learner Guide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Keep them open — the assessment is open book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GET THE 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Get the Course Workflows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432304"/>
            <a:ext cx="9144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86664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Every lab ships a workflow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ready-made n8n workflow (.json) sits in each lab's folder under labs/.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2432304"/>
            <a:ext cx="91440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86664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Import it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 n8n: Workflows → Add workflow → the '...' menu → Import from File → pick the lab .json.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52170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Re-select your credentials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After importing, re-select YOUR OWN credentials on every node showing a warning.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521708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Nothing of yours is shared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Imported workflows reference credential NAMES, not secrets — no key travels in the file.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TRAINING ACCOUNTS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n8n Training Accounts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Each learner signs in to n8n with ONE assigned account. Use only the account your trainer gives you.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731520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74519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#</a:t>
            </a:r>
          </a:p>
        </p:txBody>
      </p:sp>
      <p:sp>
        <p:nvSpPr>
          <p:cNvPr id="9" name="Rectangle 8"/>
          <p:cNvSpPr/>
          <p:nvPr/>
        </p:nvSpPr>
        <p:spPr>
          <a:xfrm>
            <a:off x="1508760" y="1874519"/>
            <a:ext cx="4572000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36776" y="1874519"/>
            <a:ext cx="43159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Account (email)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874519"/>
            <a:ext cx="731520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08776" y="1874519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#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12280" y="1874519"/>
            <a:ext cx="459943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0296" y="1874519"/>
            <a:ext cx="4343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Account (email)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350007"/>
            <a:ext cx="731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350007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08760" y="2350007"/>
            <a:ext cx="4572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36776" y="2350007"/>
            <a:ext cx="43159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n8n18oct1@tertiaryinfotech.com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60" y="2350007"/>
            <a:ext cx="731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08776" y="2350007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12280" y="2350007"/>
            <a:ext cx="459943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0296" y="2350007"/>
            <a:ext cx="4343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n8n18oct7@tertiaryinfotech.com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825495"/>
            <a:ext cx="73152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825495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08760" y="2825495"/>
            <a:ext cx="457200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36776" y="2825495"/>
            <a:ext cx="43159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n8n18oct2@tertiaryinfotech.com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80760" y="2825495"/>
            <a:ext cx="73152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08776" y="2825495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12280" y="2825495"/>
            <a:ext cx="4599432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0296" y="2825495"/>
            <a:ext cx="4343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n8n18oct8@tertiaryinfotech.com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300983"/>
            <a:ext cx="731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300983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508760" y="3300983"/>
            <a:ext cx="4572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36776" y="3300983"/>
            <a:ext cx="43159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n8n18oct3@tertiaryinfotech.com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80760" y="3300983"/>
            <a:ext cx="731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08776" y="3300983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12280" y="3300983"/>
            <a:ext cx="459943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40296" y="3300983"/>
            <a:ext cx="4343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n8n18oct9@tertiaryinfotech.com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3776471"/>
            <a:ext cx="73152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3776471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508760" y="3776471"/>
            <a:ext cx="457200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36776" y="3776471"/>
            <a:ext cx="43159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n8n18oct4@tertiaryinfotech.com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80760" y="3776471"/>
            <a:ext cx="73152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08776" y="3776471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10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12280" y="3776471"/>
            <a:ext cx="4599432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940296" y="3776471"/>
            <a:ext cx="4343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n8n18oct10@tertiaryinfotech.com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4251959"/>
            <a:ext cx="731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5256" y="4251959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508760" y="4251959"/>
            <a:ext cx="4572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36776" y="4251959"/>
            <a:ext cx="43159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n8n18oct5@tertiaryinfotech.com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80760" y="4251959"/>
            <a:ext cx="731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08776" y="4251959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11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812280" y="4251959"/>
            <a:ext cx="459943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940296" y="4251959"/>
            <a:ext cx="4343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n8n18oct11@tertiaryinfotech.com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77240" y="4727447"/>
            <a:ext cx="73152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05256" y="4727447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6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508760" y="4727447"/>
            <a:ext cx="457200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636776" y="4727447"/>
            <a:ext cx="43159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n8n18oct6@tertiaryinfotech.com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80760" y="4727447"/>
            <a:ext cx="73152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08776" y="4727447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12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812280" y="4727447"/>
            <a:ext cx="4599432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940296" y="4727447"/>
            <a:ext cx="4343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n8n18oct12@tertiaryinfotech.com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Password: provided by your trainer in class   ·   Do not change the password or save real credentials in it.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WSQ ALIGNMENT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Skills Framework (TSC)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432304"/>
            <a:ext cx="9144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86664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TSC Title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Artificial Intelligence Application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2432304"/>
            <a:ext cx="91440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86664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TSC Code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AER-TEM-3026-1.1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52170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Mapped to the national framework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This WSQ course is mapped to the SkillsFuture Singapore Skills Framework.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521708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Fully assessed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assessment covers every Ability (A) and Knowledge (K) statement listed next.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SKILLS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TSC Abilities and Knowledge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ABILITIES (assessed by the PP)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A1 Implement AI applications in collaboration with technology service providers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A2 Deploy AI workflows according to plan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A3 Identify and report any issues with the AI applications and data collected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KNOWLEDGE (assessed by the WA)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K1 Background and basics of AI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K2 Fundamental concepts and methods of statistics and programming for data science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K3 Mathematics and computing theories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K4 Machine learning techniques and applications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K5 Principles of data management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K6 Software development methodologies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K7 Types of AI applications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K8 AI implementation procedures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Lesson Plan — 2 Days, 8 hours/day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DAY 1 — n8n, AI Agents and Agentic Chatbots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Topic 1: Why agentic AI, and why workflow first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Topic 1: Overview of n8n and AI Agents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Lab 1 — n8n trigger and action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Lab 2 — Webhook and AI Agent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Timing: 9:30 am – 6:30 pm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DAY 2 — Human in the Loop, RAG and Assessment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Topic 2: Agentic chatbot and human in the loop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Lab 3 — Chatbot webhook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Lab 4 — Human in the loop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Topic 3: RAG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Lab 5 — RAG customer care chatbot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Final Assessment (WA + PP)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Timing: 9:30 am – 6:30 pm instruction, assessment to 8:45 pm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Each day is 8 instructional hours: a 1-hour lunch is excluded, and the two 15-minute tea breaks are counted within the instructional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WHAT YOU'LL ACHIEVE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185074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185074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LO1 · n8n and AI agents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Explain what n8n and AI agents are, and build workflows using triggers and actions.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70479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704795"/>
            <a:ext cx="91440" cy="68397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33272" y="27724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27724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64792" y="2832811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LO2 · Webhook-triggered agents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Implement AI agent applications triggered by webhooks and integrated with business systems.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62651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626510"/>
            <a:ext cx="91440" cy="68397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694175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69417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375452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LO3 · Agentic chatbots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Design agentic chatbot workflows that operate within business and regulatory constraints.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54822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4548225"/>
            <a:ext cx="91440" cy="68397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3272" y="461589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" y="461589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4792" y="4676241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LO4 · Human in the loop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Apply human approval so that sensitive actions are authorised by a named person.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46994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46994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3272" y="553760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553760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559795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LO5 · RAG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Deploy Retrieval-Augmented Generation to ground an agent in your organisation's documents.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COURSE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Five Connected Labs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Each lab keeps the agent and changes one thing — the front door, the tools, the oversight, the knowledge.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74519"/>
            <a:ext cx="1878177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1695297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1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form → email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7985" y="21899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6313" y="1874519"/>
            <a:ext cx="1878177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7753" y="1874519"/>
            <a:ext cx="1695297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2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webhook + agent + tools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058" y="21899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5386" y="1874519"/>
            <a:ext cx="1878177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6826" y="1874519"/>
            <a:ext cx="1695297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3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chatbot + memory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6131" y="21899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4459" y="1874519"/>
            <a:ext cx="1878177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5899" y="1874519"/>
            <a:ext cx="1695297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4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human approval 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5204" y="21899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3532" y="1874519"/>
            <a:ext cx="1878177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24972" y="1874519"/>
            <a:ext cx="1695297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5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RAG over documents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154680"/>
            <a:ext cx="3349752" cy="2377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330098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330098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99032" y="331012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The front door changes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3703320"/>
            <a:ext cx="2947416" cy="16824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Form Trigger in Lab 1 becomes a Webhook in Labs 2–5 — the workflow behind it barely moves.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19600" y="3154680"/>
            <a:ext cx="3349752" cy="2377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602480" y="330098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02480" y="330098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41392" y="331012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The agent gains abilities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20768" y="3703320"/>
            <a:ext cx="2947416" cy="16824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2 adds tools, Lab 3 adds memory, Lab 5 adds retrieval over your own documents.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61960" y="3154680"/>
            <a:ext cx="3349752" cy="2377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244840" y="330098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4840" y="330098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3752" y="331012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The oversight grows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63128" y="3703320"/>
            <a:ext cx="2947416" cy="16824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4 stops the workflow dead until a licensed person approves what the agent drafted.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By Lab 5 you have built the whole pattern: a front door, an agent, its tools, its guardrails and its knowledge.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WSQ FUNDING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Criteria for Funding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1063447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9427464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75% attendance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 minimum attendance rate of 75%, based on the SSG Digital Attendance record.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319272"/>
            <a:ext cx="1063447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64792" y="3447288"/>
            <a:ext cx="9427464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Assessed Competent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Complete the assessment and be assessed as 'Competent'.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855464"/>
            <a:ext cx="1063447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983480"/>
            <a:ext cx="9427464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Both are required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Both criteria must be met for the course fee funding to be granted.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ASSESSMENT BRIEFING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Place phones and other materials under the table or on the floor.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No photos or recording of assessment scripts.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No discussion during the assessment.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Use a black or blue pen for hard-copy assessments.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No liquid paper or correction tape.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Scripts are collected when time is up.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185074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185074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Written Assessment (SAQ)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1 hour. Short-answer questions covering the course knowledge.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70479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704795"/>
            <a:ext cx="91440" cy="68397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33272" y="27724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27724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64792" y="2832811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Practical Performance (PP)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1 hour. Hands-on n8n build tasks drawn from the five labs.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62651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626510"/>
            <a:ext cx="91440" cy="68397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694175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69417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375452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Open book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Slides, Learner Guide and approved materials only.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54822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4548225"/>
            <a:ext cx="91440" cy="68397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3272" y="461589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" y="461589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4792" y="4676241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75% attendance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minimum of 75% attendance is required to be eligible for assessment and funding.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46994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46994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3272" y="553760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553760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559795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Appeals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 appeal process is available if required.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TRAQOM survey — scan the QR code on the LMS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Assessment digital attendance — scan the SSG QR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Sit WA (SAQ) then PP — open 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Submit your answers on the LMS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965960"/>
            <a:ext cx="9418320" cy="2926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965960"/>
            <a:ext cx="201168" cy="29260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22860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697480"/>
            <a:ext cx="8595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Overview of n8n and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38528" y="3794760"/>
            <a:ext cx="8503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Why agentic AI · Workflow first · Triggers &amp; actions · LLM agents · Webhooks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8528" y="43434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Applied in Lab 1, Lab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A BRIEF HISTORY OF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 Brief History of AI, 2023–2026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Each year moved the skill that matters — from the words you type to the system you build.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74519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Prompt Engineering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254" y="21671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3582" y="1874519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5022" y="1874519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Context Engineering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21671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9924" y="1874519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1364" y="1874519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Harness Engineering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7938" y="21671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1874519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7706" y="1874519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AI Agents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2026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063240"/>
            <a:ext cx="243916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3209544"/>
            <a:ext cx="203682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Wording the prompt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3611880"/>
            <a:ext cx="203682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ChatGPT goes mainstream. Results depend on how well you word the prompt.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09010" y="3063240"/>
            <a:ext cx="243916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10178" y="3209544"/>
            <a:ext cx="203682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Curating the context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10178" y="3611880"/>
            <a:ext cx="203682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Models call tools and MCP launches. Results depend on the documents, data and tools you supply.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0780" y="3063240"/>
            <a:ext cx="243916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1948" y="3209544"/>
            <a:ext cx="203682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Building the harness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3611880"/>
            <a:ext cx="203682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Claude Code and Codex: systems that plan, act and check their own work in a loop.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72550" y="3063240"/>
            <a:ext cx="243916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73718" y="3209544"/>
            <a:ext cx="203682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Agents at work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73718" y="3611880"/>
            <a:ext cx="203682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Always-on agents work 24/7 — OpenClaw, Hermes Agent and agent teams take on whole jobs.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From wording one prompt → curating context → engineering the harness → AI agents that work around the clock.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AGENTIC AI VS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Agentic AI vs AI Agents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two terms are used loosely. In this course they mean different things.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Agentic AI — the system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The umbrella term: any system in which AI pursues a goal over many steps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Plans, acts through tools, checks the result and adapts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Built as a workflow with AI steps, or around one or more agents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Includes the orchestration, data, guardrails and human approvals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Example: an n8n workflow that triages enquiries, drafts replies and waits for approval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AI Agent — the building block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One LLM given a goal, tools, memory and instructions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Decides its own next step in a loop: observe → think → act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Chooses which tool to call and when — the path is not fixed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In n8n: the AI Agent node with a Chat Model, Memory and Tools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Example: a chatbot that looks up a customer and books a call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An AI agent is one component; agentic AI is the whole system — and the best systems use agents only where judgement is needed.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WORKFLOW FIRST VS AI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Workflow First vs AI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Two ways to build agentic automation. Workflow first is rule-based (RPA-style) automation with AI added only at the judgement steps.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228600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74519"/>
            <a:ext cx="20299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063240" y="1874519"/>
            <a:ext cx="416052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91256" y="1874519"/>
            <a:ext cx="3904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Workflow First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23760" y="1874519"/>
            <a:ext cx="418795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51776" y="1874519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AI First (AI Agent)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31719"/>
            <a:ext cx="22860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31719"/>
            <a:ext cx="20299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Who decides the path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63240" y="2331719"/>
            <a:ext cx="41605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91256" y="2331719"/>
            <a:ext cx="3904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You design the steps; AI handles individual nodes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23760" y="2331719"/>
            <a:ext cx="418795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51776" y="2331719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agent decides the steps and tools at run time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788919"/>
            <a:ext cx="228600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788919"/>
            <a:ext cx="20299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Behaviour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63240" y="2788919"/>
            <a:ext cx="416052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91256" y="2788919"/>
            <a:ext cx="3904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Deterministic — same input, same path, every time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0" y="2788919"/>
            <a:ext cx="4187952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51776" y="2788919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Probabilistic — the path can change between runs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246119"/>
            <a:ext cx="22860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246119"/>
            <a:ext cx="20299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Efficiency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63240" y="3246119"/>
            <a:ext cx="41605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91256" y="3246119"/>
            <a:ext cx="3904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More effort to design every branch up front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23760" y="3246119"/>
            <a:ext cx="418795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51776" y="3246119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Efficient — one instruction replaces many hand-built branches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703319"/>
            <a:ext cx="228600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703319"/>
            <a:ext cx="20299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Reliability &amp; testing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63240" y="3703319"/>
            <a:ext cx="416052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91256" y="3703319"/>
            <a:ext cx="3904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Easy to test, debug and certify step by step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23760" y="3703319"/>
            <a:ext cx="4187952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51776" y="3703319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Harder to test; edge cases surface in production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160519"/>
            <a:ext cx="22860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160519"/>
            <a:ext cx="20299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Cost &amp; speed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063240" y="4160519"/>
            <a:ext cx="41605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191256" y="4160519"/>
            <a:ext cx="3904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LLM call only where needed — cheap and fast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23760" y="4160519"/>
            <a:ext cx="418795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51776" y="4160519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LLM call at every step — more tokens, more latency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4617719"/>
            <a:ext cx="228600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5256" y="4617719"/>
            <a:ext cx="20299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Best for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063240" y="4617719"/>
            <a:ext cx="416052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191256" y="4617719"/>
            <a:ext cx="3904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Repeatable, regulated, high-volume processes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23760" y="4617719"/>
            <a:ext cx="4187952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51776" y="4617719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Open-ended tasks with unpredictable inputs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" y="5394960"/>
            <a:ext cx="10634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Source: n8n, In The Loop 2026 — opening keynote and product direction (youtube.com/watch?v=KQRe5UurLQ0)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Workflow first is more deterministic; AI first is more efficient. Companies make as much deterministic as they can.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THE MODERN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Trend: AI Agents Build the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AI-powered coding has flipped the trade-off — the agent's efficiency goes into BUILDING the workflow, not running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74519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Describe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the process in plain English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7985" y="21671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6313" y="1874519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7753" y="1874519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Claude Code / Codex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drafts the n8n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058" y="21671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5386" y="1874519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6826" y="1874519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You review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test and approve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6131" y="21671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4459" y="1874519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5899" y="1874519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Workflow runs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deterministic and logged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5204" y="21671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3532" y="1874519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24972" y="1874519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AI steps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only where judgement is needed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320954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9903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Companies want determinism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Reliability, compliance and audit push businesses to make as much of a process deterministic as possible.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1960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602480" y="320954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0248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4139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AI coding made it cheap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2076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Claude Code and Codex are AI agents themselves — and they make designing, building and changing workflows fast and cheap.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6196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244840" y="320954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484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375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The best of both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6312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AI agent BUILDS the workflow; a deterministic workflow RUNS the process, with AI nodes only where judgement is needed.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trend: use Claude Code and Codex to create the workflows — the workflow, not the agent, runs the business process.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TOPIC 1 · AI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5 Principles of AI Security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Agents act on your behalf. These five controls keep what they can see and do safe, reviewable and accountable.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74519"/>
            <a:ext cx="1965960" cy="3657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31620" y="2075687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31620" y="207568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651759"/>
            <a:ext cx="174650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Data Control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246119"/>
            <a:ext cx="17465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WHAT AI CAN SEE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3611879"/>
            <a:ext cx="163677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Classify your data — public, internal, confidential — and decide exactly which data the AI may access.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44368" y="1874519"/>
            <a:ext cx="1965960" cy="3657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98748" y="2075687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98748" y="207568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54096" y="2651759"/>
            <a:ext cx="174650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Permission 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54096" y="3246119"/>
            <a:ext cx="17465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WHAT AI CAN 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611879"/>
            <a:ext cx="163677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Grant only the rights needed — read, write, edit, delete. Ask before anything destructive.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11496" y="1874519"/>
            <a:ext cx="1965960" cy="3657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865876" y="2075687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65876" y="207568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21224" y="2651759"/>
            <a:ext cx="174650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Human in the Loop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21224" y="3246119"/>
            <a:ext cx="17465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WHO APPROVES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76088" y="3611879"/>
            <a:ext cx="163677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 person reviews and approves high-impact actions — payments, deletions, customer emails.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78624" y="1874519"/>
            <a:ext cx="1965960" cy="3657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33004" y="2075687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33004" y="207568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8352" y="2651759"/>
            <a:ext cx="174650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Traceability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88352" y="3246119"/>
            <a:ext cx="17465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WHAT HAPPENED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3216" y="3611879"/>
            <a:ext cx="163677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Log every prompt, tool call and change so actions can be audited, explained and rolled back.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445752" y="1874519"/>
            <a:ext cx="1965960" cy="3657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200132" y="2075687"/>
            <a:ext cx="457200" cy="457200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00132" y="207568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55480" y="2651759"/>
            <a:ext cx="174650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C62F2F"/>
                </a:solidFill>
                <a:latin typeface="Arial"/>
              </a:rPr>
              <a:t>Right-Sized Models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3246119"/>
            <a:ext cx="17465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NOT THE MOST POWERFUL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10344" y="3611879"/>
            <a:ext cx="163677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The smallest model that does the job carries less autonomy and less risk than the most powerful one.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 n8n: scoped credentials per node, approval gates (Send and Wait), the Executions log, and a small model per AI step.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TOPIC 1 · AI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Why Workflow First Is More Secure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 fixed path limits the blast radius: a manipulated AI step cannot reach tools that are not wired to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2286000" cy="512064"/>
          </a:xfrm>
          <a:prstGeom prst="rect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74519"/>
            <a:ext cx="202996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Principle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3063240" y="1874519"/>
            <a:ext cx="4160520" cy="512064"/>
          </a:xfrm>
          <a:prstGeom prst="rect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91256" y="1874519"/>
            <a:ext cx="39044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Workflow First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23760" y="1874519"/>
            <a:ext cx="4187952" cy="512064"/>
          </a:xfrm>
          <a:prstGeom prst="rect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51776" y="1874519"/>
            <a:ext cx="3931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AI First (AI Agent)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86583"/>
            <a:ext cx="22860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86583"/>
            <a:ext cx="202996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Data control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63240" y="2386583"/>
            <a:ext cx="41605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91256" y="2386583"/>
            <a:ext cx="39044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Each node sees only the fields wired into 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23760" y="2386583"/>
            <a:ext cx="4187952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51776" y="2386583"/>
            <a:ext cx="3931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agent can reach any data its tools expose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898647"/>
            <a:ext cx="2286000" cy="512064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898647"/>
            <a:ext cx="202996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Permission control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63240" y="2898647"/>
            <a:ext cx="4160520" cy="512064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91256" y="2898647"/>
            <a:ext cx="39044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Each credential is scoped to one node and one action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0" y="2898647"/>
            <a:ext cx="4187952" cy="512064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51776" y="2898647"/>
            <a:ext cx="3931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agent holds every tool's rights at once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410711"/>
            <a:ext cx="22860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410711"/>
            <a:ext cx="202996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Human in the loop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63240" y="3410711"/>
            <a:ext cx="41605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91256" y="3410711"/>
            <a:ext cx="39044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approval gate sits at a fixed, designed step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23760" y="3410711"/>
            <a:ext cx="4187952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51776" y="3410711"/>
            <a:ext cx="3931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Depends on the agent choosing to ask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922775"/>
            <a:ext cx="2286000" cy="512064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922775"/>
            <a:ext cx="202996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Traceability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63240" y="3922775"/>
            <a:ext cx="4160520" cy="512064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91256" y="3922775"/>
            <a:ext cx="39044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Every run is logged node by node in Executions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23760" y="3922775"/>
            <a:ext cx="4187952" cy="512064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51776" y="3922775"/>
            <a:ext cx="3931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Reasoning varies run to run and is harder to explain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434839"/>
            <a:ext cx="22860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434839"/>
            <a:ext cx="202996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Right-sized models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063240" y="4434839"/>
            <a:ext cx="41605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191256" y="4434839"/>
            <a:ext cx="39044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small model for each narrow AI step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23760" y="4434839"/>
            <a:ext cx="4187952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51776" y="4434839"/>
            <a:ext cx="3931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One capable model with broad autonomy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path is fixed, so every control is designed in rather than hoped for — that is why regulated processes stay workflow first.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WHY ORGANISATIONS ADOPT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Business Value of Workflow-First Agentic Automation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modern view: what a business gains when AI builds the workflow and the workflow runs the process.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Reliable and predictable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same input follows the same path every time, so the process can be tested and trusted like software.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Secure by design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Each step holds only the data and credentials it needs; risky actions wait at an approval gate.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1956816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Auditable end to 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Every run is logged node by node — you can explain, replay and correct any decision.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39639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Lower running cost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Deterministic steps cost nothing in tokens; the LLM is called only where judgement is needed.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1960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02480" y="3963924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0248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139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Faster to build and change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076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Claude Code and Codex draft the workflow in minutes; your team reviews, tests and owns it.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196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44840" y="396392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484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375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Scale around the clock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312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Triggers respond in real time, 24/7 — ten times the volume costs compute, not ten more hires.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AI where judgement is needed, workflow everywhere else — reliability you can audit, at a cost you can predict.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USE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Where Agentic Automation Is Used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same pattern — trigger, agent, tools, oversight — recurs across every function.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Customer service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Answer enquiries from your own documents, capture leads, and escalate what needs a person.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Finance &amp; accounting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Invoice processing, bank reconciliation, accounts-payable routing and exception handling.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1956816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Risk &amp; compliance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Screen applications, flag anomalies, and route sensitive cases for human review.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39639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HR &amp; people ops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Onboarding, leave applications, policy questions and approval chains.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1960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02480" y="3963924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0248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139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Sales &amp; marketing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076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Lead qualification, follow-up sequencing, CRM enrichment and content drafting.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196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44840" y="396392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484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375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Operations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312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Order processing, status notifications, document generation and reporting.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Every one of these is a front door, an agent, some tools and a decision about where the human belongs.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COMPLEXITY VS CUSTOMISATION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Where AI Agent Platforms Sit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Three tiers, and why this course teaches the middle 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20240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06654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66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2075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No-code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468880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Fully visual builders. Fastest route to a working agent, least control over the internals.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920240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206654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2066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2075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Low-code  ·  n8n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468880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visual canvas plus code nodes, 400+ integrations, self-host or cloud. This course's platform.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920240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206654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2066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2075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Full-code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468880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SDKs and frameworks such as LangChain. Maximum control, and real engineering effort.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n8n sits where a business analyst can build it and an engineer can still extend it.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Is n8n?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 workflow automation platform: connect apps, data and AI on one visual canvas — no-code to full-code.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Build visually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Drag nodes onto a canvas and wire them together. 400+ app integrations, plus HTTP and Code nodes when no integration exists.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810512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Run anywhere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359152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Free cloud trial at n8n.io, or self-host with Docker. Webhooks, schedules and chat triggers work the same in both.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810512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1956816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AI-native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359152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AI Agent and LangChain nodes are built in — attach any LLM (Gemini, OpenAI, Claude), memory, tools and vector stores.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One canvas to connect apps, data and AI — automation and agents without gluing code by hand.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Every Workflow Is the Same Shape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Trigger first, then actions in order, with data flowing left to right. Only the nodes change.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TRIGGER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what starts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254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3582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5022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ACTION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do the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9924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1364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ACTION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do more work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7938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7706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OUTPUT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reply, store or notify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320954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One trigger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workflow has exactly one entry point. Change the trigger and you have a different workflow — the actions may not change at all.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1960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602480" y="320954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0248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139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Actions are ordered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076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Each action runs after the one before it, and can read the output of every node that ran before it.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196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44840" y="320954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4484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375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Data flows as JSON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312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Every node passes a list of JSON items to the next — the same structure in every lab of this course.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Trigger, actions, output. Learn this once in Lab 1 and every later lab is a variation.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Trigger Nodes — What Is Allowed to Start a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trigger you choose is a statement about who or what may start the process.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334975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Manual Trigger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294741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Click Execute workflow. For building and testing, and for one-off jobs such as the Lab 5 ingestion run.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810512"/>
            <a:ext cx="334975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Schedule Trigger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359152"/>
            <a:ext cx="294741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clock starts the workflow — an interval or a cron expression. Nightly reports, reminders and syncs.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810512"/>
            <a:ext cx="334975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1956816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Form Trigger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359152"/>
            <a:ext cx="294741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n8n hosts a web form for you and each submission starts a run. This is Lab 1's front door.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703320"/>
            <a:ext cx="334975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2" y="38587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Webhook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4251960"/>
            <a:ext cx="294741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external system calls a URL you expose. Your own website, app or CRM — Labs 2, 3, 4 and 5.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19600" y="3703320"/>
            <a:ext cx="334975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02480" y="3849624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0248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1392" y="38587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Chat Trigger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0768" y="4251960"/>
            <a:ext cx="294741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Each message in n8n's built-in chat window starts a run — the quickest way to talk to an agent while building.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1960" y="3703320"/>
            <a:ext cx="334975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44840" y="384962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484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3752" y="38587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App &amp; Email Triggers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3128" y="4251960"/>
            <a:ext cx="294741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On new Gmail, new Sheets row, new Drive file. React to changes in the apps you already use.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Pick the trigger by asking: who or what should be allowed to start this process?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Trigger Nodes on the n8n Canvas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8n-trigg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97239"/>
            <a:ext cx="10332720" cy="379504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01700" y="1884539"/>
            <a:ext cx="10358120" cy="3820442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n8n trigger nodes: Manual · Schedule · WhatsApp · Telegram · Gmail · Chat · Form · Webhook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Triggers Used in This Course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Every lab's trigger, and why that trigger is the right front door for that business process.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274320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745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Trigger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40" y="1874519"/>
            <a:ext cx="292608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48456" y="1874519"/>
            <a:ext cx="267004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Where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874519"/>
            <a:ext cx="49651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74536" y="1874519"/>
            <a:ext cx="4709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Why it fits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31719"/>
            <a:ext cx="2743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317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Form Trigger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20440" y="2331719"/>
            <a:ext cx="29260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48456" y="2331719"/>
            <a:ext cx="267004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6520" y="2331719"/>
            <a:ext cx="496519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74536" y="2331719"/>
            <a:ext cx="4709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visitor's event sign-up must start the workflow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788919"/>
            <a:ext cx="274320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7889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Webhook — POST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20440" y="2788919"/>
            <a:ext cx="292608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48456" y="2788919"/>
            <a:ext cx="267004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Labs 2, 3, 4, 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46520" y="2788919"/>
            <a:ext cx="4965192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74536" y="2788919"/>
            <a:ext cx="4709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website sends JSON and waits for the agent's reply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246119"/>
            <a:ext cx="2743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2461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Manual Trigger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20440" y="3246119"/>
            <a:ext cx="29260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48456" y="3246119"/>
            <a:ext cx="267004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5 ingestion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46520" y="3246119"/>
            <a:ext cx="496519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74536" y="3246119"/>
            <a:ext cx="4709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human loads the documents once, by hand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703319"/>
            <a:ext cx="274320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7033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Schedule Trigger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20440" y="3703319"/>
            <a:ext cx="292608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48456" y="3703319"/>
            <a:ext cx="267004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Not used in class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46520" y="3703319"/>
            <a:ext cx="4965192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74536" y="3703319"/>
            <a:ext cx="4709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Nightly reports and reminders — same pattern, a clock instead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160519"/>
            <a:ext cx="2743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1605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Chat Trigger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20440" y="4160519"/>
            <a:ext cx="29260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48456" y="4160519"/>
            <a:ext cx="267004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Optional while building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46520" y="4160519"/>
            <a:ext cx="496519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74536" y="4160519"/>
            <a:ext cx="4709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Talk to an agent without building a website first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Swap the front door and keep the workflow — the trigger is the only part that has to change.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Data-Processing Nodes — The Workhorses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Between the trigger and the output, these nodes shape, route and transform the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Edit Fields (Set)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Add, rename or reshape fields — the node you reach for first when the data is the wrong shape. Used in Labs 2 and 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09010" y="1810512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9189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9189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30802" y="1965960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IF / Switch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10178" y="2359152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Branch the workflow. IF gives a true and a false path; Switch gives one path per case. Lab 4 routes Approve vs Decline.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0780" y="1810512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2572" y="1965960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Filter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1948" y="2359152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Let only the matching items continue and drop the rest of the list.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72550" y="1810512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55430" y="1956816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5543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94342" y="1965960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Merge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3718" y="2359152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Combine two branches — append the rows, match them by key, or choose one side.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703320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9032" y="3858768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Split Out / Aggregate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" y="4251960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Turn one item holding a list into many items — and back again.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509010" y="3703320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691890" y="384962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9189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30802" y="3858768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Code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10178" y="4251960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JavaScript or Python for the 5% a built-in node cannot do. Lab 3 uses it to normalise the chat message.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40780" y="3703320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62572" y="3858768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Loop / Wait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1948" y="4251960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Process items in batches, or pause a workflow for a period of time or an event.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72550" y="3703320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155430" y="384962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5543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94342" y="3858768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HTTP Request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73718" y="4251960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Call any API on the internet — the universal escape hatch when no integration exists.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Most workflows are: trigger → reshape (Set) → decide (IF) → act (app node). Reach for Code last.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Data-Processing Nodes on the Canvas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8n-key-n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428049"/>
            <a:ext cx="10332720" cy="273342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01700" y="2415349"/>
            <a:ext cx="10358120" cy="2758821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If · Switch · Filter · Edit Fields · Split Out · Aggregate · Merge · Loop · Date &amp; Time · Wait ·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Where the Data Goes — Storage &amp; App Actions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Action nodes that write the result somewhere useful, or send it to a person.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Google Sheets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real spreadsheet you keep, connected with OAuth2. Append Row is the workhorse — Labs 2 and 4 log every decision here.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Gmail / Outlook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Send a message — and in Lab 4, Send and Wait for Response, which turns email into an approval gate.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Vector Store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Store embeddings for RAG. In-memory for class, Pinecone / Supabase / Qdrant for production — Lab 5.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Respond to Webhook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Return data to whoever called the webhook, so a web page can render the agent's answer.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Anything you must keep goes to external storage — an in-memory store vanishes when n8n restarts.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JSON and Expressions — How Data Moves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Every node passes a list of items; each item is a JSON object of key/value pairs.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74519"/>
            <a:ext cx="5120640" cy="32918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JSON (JavaScript Object Notation) is a simple text format for data.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Values can be text, numbers, true/false, lists [ ] or nested objects { }.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Most APIs send and receive JSON — and so does every n8n node.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Click any node to inspect the JSON going in and coming out.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74519"/>
            <a:ext cx="5193792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05740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ONE FORM SUBMISSION AS 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46634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{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  "Name": "Alice Tan",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  "Email": "alice@corp.com",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  "Phone": "91234567",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  "Message": "Please reserve 2 seats"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Read any value later with an expression:  {{ $json.Name }}  →  "Alice Tan"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Test vs Production Executions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same workflow runs in two modes — always know which one you are looking 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TEST — in the editor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Click Execute workflow to run it once.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The data is shown live on the canvas, node by node.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Pin a node's output to freeze it while you build downstream.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Perfect while building — nothing needs to be Active.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PRODUCTION — Active toggle 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Runs automatically whenever the trigger fires.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Nothing appears on the canvas — runs are logged under Executions.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Every run records status, timing and the full data at each node.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This is what your users actually experience.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Executions list is the honest account of what happened — debug from there, not from memory.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Execution History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8n-execution-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25371"/>
            <a:ext cx="10332720" cy="373877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01700" y="1912671"/>
            <a:ext cx="10358120" cy="3764177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Executions tab — every run shows its status, duration, ID and the full data at each node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Credentials — Connect Your Accounts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Nodes reference credentials by NAME. Set each one up once under Credentials → Add credential.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Gmail (OAuth2)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Sign in with Google and grant access. Used from Lab 1 onward for sending mail and for the Lab 4 approval gate.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Google Gemini (API key)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LLM behind every agent in this course, and the embedding model in Lab 5.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Google Sheets (OAuth2)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audit log in Labs 2 and 4 — customer records, decisions, drafts and approvals.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Google Drive (OAuth2)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brochure folder that Lab 5's ingestion workflow reads from.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Imported workflows carry credential NAMES, not secrets — always re-select your own after importing.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Generative AI vs Agentic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difference is not how clever the model is — it is whether it can act.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GENERATIVE AI — answers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You ask; it writes one answer.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No access to your systems, and no actions.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Quality depends on what you paste into the prompt.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Stops the moment the answer is produced.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Example: draft me an email to this customer.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AGENTIC AI — acts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Works toward a goal, not just one reply.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Calls tools: looks up data, calls APIs, writes records.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Holds a conversation with memory.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Continues until the goal is met.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Example: read the enquiry, check the CRM, reply and log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Generative AI produces content. Agentic AI decides and does — which is exactly why it needs governance.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Components of an AI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Four parts around one hub: the AI Agent node wires them together, and every agent in this course is exactly these four.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3063240"/>
            <a:ext cx="356616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54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0" y="3063240"/>
            <a:ext cx="3566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THE AI AGENT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plans · decides · calls tools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874519"/>
            <a:ext cx="329184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002535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19"/>
            <a:ext cx="2926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LLM 'brain' — interprets language, reasons and chooses the next step. Google Gemini in this course.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874519"/>
            <a:ext cx="329184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2002535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MEMORY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2331719"/>
            <a:ext cx="2926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Keeps the conversation so follow-up questions still make sense. Keyed on a session ID, per visitor.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160520"/>
            <a:ext cx="329184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288536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617720"/>
            <a:ext cx="2926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abilities it may use: look up a Sheets row, search a vector store, send an email, call an API.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4160520"/>
            <a:ext cx="329184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20" y="4288536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INSTRUCTIONS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4617720"/>
            <a:ext cx="2926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system message — identity, scope, rules and refusals. Always in force, on every single turn.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Model + Memory + Tools + Instructions. Change any one of the four and you have a different agent.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Model — Popular LLM Providers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Any chat model plugs into the same AI Agent node — swap the brain and keep the agent.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274320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745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Provider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40" y="1874519"/>
            <a:ext cx="402336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48456" y="1874519"/>
            <a:ext cx="3767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Models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43800" y="1874519"/>
            <a:ext cx="386791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71816" y="1874519"/>
            <a:ext cx="3611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Notes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31719"/>
            <a:ext cx="2743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317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Google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20440" y="2331719"/>
            <a:ext cx="4023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48456" y="2331719"/>
            <a:ext cx="3767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Gemini 2.5 Flash / Pro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43800" y="2331719"/>
            <a:ext cx="386791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71816" y="2331719"/>
            <a:ext cx="3611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Course default — also supplies the embeddings in Lab 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788919"/>
            <a:ext cx="274320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7889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OpenAI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20440" y="2788919"/>
            <a:ext cx="402336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48456" y="2788919"/>
            <a:ext cx="3767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gpt-4.1, gpt-4.1-mini, gpt-4o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43800" y="2788919"/>
            <a:ext cx="3867912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71816" y="2788919"/>
            <a:ext cx="3611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Widely used; mini tier is cheap and fast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246119"/>
            <a:ext cx="2743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2461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Anthropic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20440" y="3246119"/>
            <a:ext cx="4023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48456" y="3246119"/>
            <a:ext cx="3767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Claude (Opus, Sonnet, Haiku)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43800" y="3246119"/>
            <a:ext cx="386791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71816" y="3246119"/>
            <a:ext cx="3611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Strong reasoning and long context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703319"/>
            <a:ext cx="274320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7033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Meta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20440" y="3703319"/>
            <a:ext cx="402336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48456" y="3703319"/>
            <a:ext cx="3767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Llama 3.x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43800" y="3703319"/>
            <a:ext cx="3867912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71816" y="3703319"/>
            <a:ext cx="3611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Open weights — can be self-hosted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160519"/>
            <a:ext cx="2743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1605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Mistral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20440" y="4160519"/>
            <a:ext cx="4023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48456" y="4160519"/>
            <a:ext cx="3767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Mistral / Mixtral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543800" y="4160519"/>
            <a:ext cx="386791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71816" y="4160519"/>
            <a:ext cx="3611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Open weights — a European option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Pick by task: small fast models for classification and guardrails, larger models for reasoning.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Model Parameters — Temperature and Friends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Settings on the chat-model node shape HOW the model answers. The most important by far is temperature.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3349752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2938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2938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3852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Temperature 0 – 0.3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31720"/>
            <a:ext cx="2947416" cy="11795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Deterministic and repeatable. Use for classification, compliance decisions and data extraction — automation that must give the same answer twice.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783080"/>
            <a:ext cx="3349752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192938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192938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193852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Temperature ≈ 0.7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331720"/>
            <a:ext cx="2947416" cy="11795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Balanced. Natural-sounding conversation with some variety — the usual default for a customer-facing assistant.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783080"/>
            <a:ext cx="3349752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192938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192938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193852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Temperature 1.0 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331720"/>
            <a:ext cx="2947416" cy="11795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Creative and surprising. Marketing copy and brainstorming — never for a decision that must be defended.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858768"/>
            <a:ext cx="3349752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4005072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400507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2" y="4014216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Top-p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4407408"/>
            <a:ext cx="2947416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alternative sampling control that limits the model to the most probable tokens. Tune temperature OR top-p, never both.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19600" y="3858768"/>
            <a:ext cx="3349752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02480" y="4005072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02480" y="400507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1392" y="4014216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Max tokens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0768" y="4407408"/>
            <a:ext cx="2947416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Caps the length of the reply. Protects your cost and keeps chat answers short enough to read.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1960" y="3858768"/>
            <a:ext cx="3349752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44840" y="4005072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4840" y="400507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3752" y="4014216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Frequency / presence penalty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3128" y="4407408"/>
            <a:ext cx="2947416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Discourage repetition and nudge the model onto new topics — useful for long generations, rarely for automation.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For business automation keep the temperature LOW — Lab 3 uses 0.2 so the same question is refused the same way every time.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Memory — Why the Agent Remembers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Without memory every message is from a stranger; with it, 'what about next month?' still makes sense.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Msg 1: 'What courses do you run?'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 answers from its tools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254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3582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5022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Stored in memory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keyed by session 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9924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1364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Msg 2: 'How much is that one?'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 knows which course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7938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7706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Window slides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only the last N turns are kept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320954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Window buffer memory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Keeps the last N exchanges of THIS conversation. It is n8n's default and it is what Lab 3's chatbot uses.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1960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602480" y="320954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0248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139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Session key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076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Memory is per session ID, so two visitors on the same website never see each other's conversation.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196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44840" y="320954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4484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375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Sometimes you want NO memory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312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2's onboarding agent deliberately has none — one applicant's details must never influence the next decision.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Memory is conversation context, NOT long-term knowledge. Facts belong in tools and documents (RAG).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Tools — What the Agent May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Attach tools to the agent's Tool input. The model decides WHEN to call one, based on the description you write.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Google Sheets tool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Look up or write structured records. Lab 2 attaches three: check for a duplicate, create the customer, send the confirmation.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Vector Store tool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Retrieve document chunks for a grounded answer — the Query Data Tool in Lab 5.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HTTP Request tool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Call any external API in the middle of a conversation — prices, stock levels, a CRM record.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Sub-workflow tool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Wrap an entire n8n workflow as one callable tool, so your own logic becomes something the agent can invoke.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tool DESCRIPTION is how the agent knows when to call it — write it for the model, not for a developer.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Instructions — The Four Parts That Constrain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system message is always in force. Every good agent instruction in this course states four things.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Identity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Who the agent is, and for whom. 'You are the onboarding assistant for Marina Trust Bank.' Narrow roles refuse far more reliably than general assistants.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Source rules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Where answers may come from. 'Answer ONLY from the brochures returned by the tool — never from general knowledge.'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Refusals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What is out of bounds, stated explicitly. 'Never recommend a product, predict a return, or guarantee an outcome.'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Escalation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What to do at the boundary. 'If you are not sure, say so and offer a consultation with a licensed adviser.'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Vague instructions produce confident wrong answers — every rule you skip, the model improvises.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Examples of Good and Bad Instructions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same chatbot, two system messages — one is testable, the other is a hope.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5193792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01168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C62F2F"/>
                </a:solidFill>
                <a:latin typeface="Arial"/>
              </a:rPr>
              <a:t>✗  TOO VAGUE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395728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"You are a helpful assistant. Answer the user's questions politely."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611880"/>
            <a:ext cx="46634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No identity · no source rules · no refusals · no escalation.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It will happily invent a course fee and guarantee an investment return — politely.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828800"/>
            <a:ext cx="5193792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01168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27A3E"/>
                </a:solidFill>
                <a:latin typeface="Arial"/>
              </a:rPr>
              <a:t>✓  CONSTRAINED AND TESTABLE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395728"/>
            <a:ext cx="470916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"You are the enquiry assistant for Meridian Asset Management.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Answer only questions about our services, fees and appointment booking.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Use the brochure search tool for any factual question — never answer from general knowledge.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Never recommend a product, predict a return, or guarantee an outcome.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If you are not sure, say so and offer a call with a licensed adviser."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Identity · source rules · refusals · escalation — you can test each line by trying to break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MCP — Model Context Protocol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An open standard that gives agents a common plug for tools and data, instead of one custom integration per pair.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AI Agent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any MCP-capable client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254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3582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5022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MCP Client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speaks the protocol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9924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1364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MCP Server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exposes tools +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7938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7706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Your Systems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databases, APIs, files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063240"/>
            <a:ext cx="517093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3209544"/>
            <a:ext cx="47685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Without MCP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3611880"/>
            <a:ext cx="476859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Every agent × every tool needs its own custom integration. N agents and M tools means N × M connectors to build and to maintain.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0780" y="3063240"/>
            <a:ext cx="517093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1948" y="3209544"/>
            <a:ext cx="47685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With MCP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1948" y="3611880"/>
            <a:ext cx="476859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Build ONE MCP server per system and any MCP-capable agent can use it. N + M pieces, and the tools become reusable across agents.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MCP is like USB-C for AI tools — one connector, many devices.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MCP in n8n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n8n sits on both sides of the protocol — it can serve tools to other agents, and borrow tools for its own.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MCP SERVER TRIGGER — n8n serves tools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Expose your own n8n workflows AS tools over MCP.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Claude, an IDE or another agent can then call your workflows directly.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n8n becomes the tool layer for any MCP client.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Secured with a bearer token on the server URL.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MCP CLIENT TOOL — n8n consumes tools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Attach an external MCP server to your n8n AI Agent.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The agent gains all of that server's tools with no custom node.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Mix MCP tools and native n8n tools freely on the same agent.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Same agent loop — simply more reach.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Two directions, one protocol. Build the tool once and every agent you own can use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Is a Webhook?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 URL your workflow listens on. When the outside world calls it, your workflow runs — the reverse of you calling an API.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Event happens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 visitor submits the 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254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3582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5022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HTTP request to your URL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the website POSTs 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9924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1364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Workflow runs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n8n receives the data as its input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7938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7706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Respond to Webhook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your reply returns to the caller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320954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Push, not pull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No polling and no schedule — the caller notifies you the moment something happens.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1960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602480" y="320954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0248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139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Any caller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076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Websites, payment providers, forms, CRMs, mobile apps — anything that can send an HTTP request.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196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44840" y="320954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4484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375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A paired node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312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Webhook node starts the workflow; Respond to Webhook sends the answer back on the same connection.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 webhook is the reverse of an API call — the outside world calls YOU when an event happens.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Webhook Nodes in n8n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8n-webh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9121" y="1737360"/>
            <a:ext cx="8823278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656421" y="1724660"/>
            <a:ext cx="8848678" cy="41402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Webhook node starts the workflow when it is called; Respond to Webhook returns data to the caller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Webhook vs HTTP Request — Which Way the Call Goes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Both are plain HTTP. The only difference is who dials.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WEBHOOK — inbound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An external service calls YOUR workflow.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You react the moment the event happens.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It is the TRIGGER — always the first node.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Labs 2–5: the lab website calls your agent.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HTTP REQUEST — outbound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YOUR workflow calls an external service.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You pull the data at a moment you choose.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It is an ACTION inside the workflow.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Use it to reach any API with no dedicated n8n node.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Same HTTP underneath — a webhook receives a call, an HTTP Request makes one.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HTTP Request Node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8n-http-requ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515" y="1737360"/>
            <a:ext cx="10162489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86815" y="1724660"/>
            <a:ext cx="10187889" cy="41402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HTTP Request node calls out to any API — the outbound counterpart to an inbound webhook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HTTP Methods on a Webhook — GET vs POST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method is part of the contract with the caller: where the data rides, and what the call means.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GET — read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The data rides in the URL query string: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200">
                <a:solidFill>
                  <a:srgbClr val="161B26"/>
                </a:solidFill>
                <a:latin typeface="Arial"/>
              </a:rPr>
              <a:t>?email=alice@corp.com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 browser can call it just by visiting the URL.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Read it in n8n as {{ $json.query.email }}.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Right for: a dashboard pulling data to display.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POST — send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The data rides in the request body as JSON: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200">
                <a:solidFill>
                  <a:srgbClr val="161B26"/>
                </a:solidFill>
                <a:latin typeface="Arial"/>
              </a:rPr>
              <a:t>{ "message": "How much is the course?" }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This is what a web form or a chat widget sends.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Read it in n8n as {{ $json.body.message }}.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Right for: Labs 2–5, where the site submits data.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GET reads, POST sends. Set the method on the Webhook node — and the caller must match it exactly.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Webhook Test URL vs Production URL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Every Webhook node gives you TWO URLs. They behave differently, and confusing them is the single most common webhook bug.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TEST URL —  /webhook-test/…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Works only while you have clicked 'Listen for test event'.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Handles exactly ONE call, then stops listening.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The run appears live on the canvas — ideal for debugging.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Dies the moment you leave the editor.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PRODUCTION URL —  /webhook/…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Requires the workflow to be toggled Active.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Always on — every call starts a run.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Runs are logged under Executions, not drawn on the canvas.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This is the URL you give to a website, an app or a QR code.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Your website must call the PRODUCTION URL of an ACTIVE workflow — the Test URL is spent after one request.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Configuring the Webhook Node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Four settings decide whether the browser's call actually succeeds.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Method + Path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GET or POST, and the path that ends your URL — for example POST /webhook/marina-trust-onboarding.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Allowed Origins (CORS)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Browsers block cross-site calls unless you allow them. Set * in class so a local HTML page can call n8n; never leave * in production.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Response mode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Immediately (a bare acknowledgement), when the workflow finishes, or via a Respond to Webhook node — every lab here uses the last one.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Authentication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None for a classroom demo; Basic, Header or JWT for anything real. A public URL is a public door, and every call costs you model tokens.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'Failed to fetch' in the browser is almost always CORS or a dead Test URL — check those two first.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Structured Output — Making an Agent's Answer Usable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By default an agent returns a paragraph of prose. Prose cannot be branched on, sorted, counted or coloured.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Attach an Output Parser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Structured Output Parser forces named fields instead of free text — Labs 2 and 4 both use one.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Name the fields you will act 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2 returns decision, reason and riskFlags. The website colours its result card from decision alone.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Enumerate the allowed values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APPROVED / REJECTED / REVIEW / DUPLICATE. A closed list is what makes an IF node reliable.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Everything downstream depends on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IF node routes on it, a Sheets node logs it, and a queue is sorted by it. Prose supports none of that.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If something downstream must act on the answer, make the answer a field — not a sentence.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n8n AND AI AGENTS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61B26"/>
                </a:solidFill>
                <a:latin typeface="Arial"/>
              </a:rPr>
              <a:t>Lab 1 — n8n Trigger and Action (Event Flyer with QR Code)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26464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Build your first n8n workflow end to end: a Form Trigger collects a visitor's details and a Gmail action emails them to the event administrator.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5161788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47088"/>
            <a:ext cx="497890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Form Trigger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visitor submits the sign-up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11596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9924" y="1847088"/>
            <a:ext cx="5161788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1364" y="1847088"/>
            <a:ext cx="497890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Gmail — Send a message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administrator is emailed</a:t>
            </a:r>
          </a:p>
        </p:txBody>
      </p:sp>
      <p:pic>
        <p:nvPicPr>
          <p:cNvPr id="12" name="Picture 11" descr="canvas-la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2216" y="2798064"/>
            <a:ext cx="5904519" cy="270662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3129516" y="2785364"/>
            <a:ext cx="5929919" cy="273202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504688"/>
            <a:ext cx="10634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The Lab 1 workflow on the n8n canvas. Two nodes: the Form Trigger decides WHEN the workflow runs, and the Gmail node decides WHAT it does.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42432"/>
            <a:ext cx="10634472" cy="51206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LAB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5788152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n8n Trigger and Action (Event Flyer with QR Code)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6016752"/>
            <a:ext cx="9144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Form Trigger  →  Gmail (Send a message)  ·  full click-by-click steps in the Learner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LAB 1 · THE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1 — n8n Trigger and Action — What You'll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493776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The finished Lab 1 workflow on the n8n canvas — the Form Trigger fires on each submission and the Gmail node sends the details to the administrator.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 trigger decides when a workflow runs; an action decides what it does.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Expressions such as {{ $json.Name }} carry data from one node to the next.</a:t>
            </a:r>
          </a:p>
        </p:txBody>
      </p:sp>
      <p:pic>
        <p:nvPicPr>
          <p:cNvPr id="7" name="Picture 6" descr="site-la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96896"/>
            <a:ext cx="5486400" cy="230428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930900" y="2584196"/>
            <a:ext cx="5511800" cy="2329688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LAB 1 · THE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1 — n8n Trigger and Action — What You'll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493776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 sample event flyer from a previous class. The QR code encodes the form's Production URL, so anyone can sign up by scanning it with a phone.</a:t>
            </a:r>
          </a:p>
        </p:txBody>
      </p:sp>
      <p:pic>
        <p:nvPicPr>
          <p:cNvPr id="7" name="Picture 6" descr="site-lab1-fly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205990"/>
            <a:ext cx="5486400" cy="30861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930900" y="2193290"/>
            <a:ext cx="5511800" cy="31115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LAB 1 · VERIFY AND DEBRIEF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1 — n8n Trigger and 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Scan the QR code on your flyer with your phone, submit the form, and confirm the administrator's inbox receives the email with the details you typed. A reference solution is provided as labs/lab1-trigger-actions/lab-trigger-actions.json — build yours by hand first, then import it to compare.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43230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Triggers and actions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trigger decides when a workflow runs; an action decides what it does.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243230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Expressions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Expressions such as {{ $json.Name }} carry data from one node to the next.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95928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4142232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1422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4151376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Test vs Production URL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544568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Test URL works only while you are listening; the Production URL works once the workflow is Active.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1 — you can now build an automated workflow in n8n using a trigger and an action.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n8n AND AI AGENTS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61B26"/>
                </a:solidFill>
                <a:latin typeface="Arial"/>
              </a:rPr>
              <a:t>Lab 2 — Webhook and AI Agent (Marina Trust Bank Onboarding)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26464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Replace the n8n form with a real bank website that POSTs to a webhook, where an AI Agent applies the bank's onboarding rules using three tools.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Webhook — POST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the bank site submits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7985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6313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7753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Normalise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Set node tidies the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058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5386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6826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AI Agent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+ 3 tools + parser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6131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4459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5899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Log Decision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Google Sheets audit row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5204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3532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24972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Respond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decision returns to the page</a:t>
            </a:r>
          </a:p>
        </p:txBody>
      </p:sp>
      <p:pic>
        <p:nvPicPr>
          <p:cNvPr id="21" name="Picture 20" descr="canvas-la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0949" y="2798064"/>
            <a:ext cx="8827054" cy="270662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1668249" y="2785364"/>
            <a:ext cx="8852454" cy="273202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504688"/>
            <a:ext cx="10634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The Lab 2 workflow on the n8n canvas. The main chain runs left to right; the chat model, output parser and three tools hang below the agent on its Tool input.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742432"/>
            <a:ext cx="10634472" cy="51206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LAB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5788152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Webhook and AI Agent (Marina Trust Bank Onboarding)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6016752"/>
            <a:ext cx="9144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Webhook  →  Normalise  →  AI Agent (+3 tools)  →  Log Decision  →  Respond to Website  ·  full click-by-click steps in the Learner Guide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LAB 2 · THE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2 — Webhook and AI Agent — What You'll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493776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The Marina Trust Bank site the webhook sits behind. The applicant submits here, the AI Agent decides, and the page renders the decision as a coloured card.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 webhook lets any external system — your website, an app, a CRM — start an agent workflow.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Tools are what turn an LLM into an agent: it decides when to look up a customer and when to create one.</a:t>
            </a:r>
          </a:p>
        </p:txBody>
      </p:sp>
      <p:pic>
        <p:nvPicPr>
          <p:cNvPr id="7" name="Picture 6" descr="site-la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48890"/>
            <a:ext cx="5486400" cy="24003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930900" y="2536190"/>
            <a:ext cx="5511800" cy="24257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LAB 2 · VERIFY AND DEBRIEF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2 — Webhook and AI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Run TC1 (a new applicant) and confirm a green APPROVED card, a new row in the Customers sheet and a confirmation email. Then run TC2 (an already-seeded NRIC) and confirm an amber DUPLICATE card with no new row.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43230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Webhooks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webhook lets any external system — your website, an app, a CRM — start an agent workflow.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243230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Tools make an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Tools are what turn an LLM into an agent: it decides when to look up a customer and when to create one.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95928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4142232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1422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4151376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Structured output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544568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Structured output (decision, reason, riskFlags) is what lets downstream nodes branch, log and colour a result.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95928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4142232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41422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4151376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The front door is separate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544568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agent is unchanged from a form-triggered version — only the front door differs.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2 — you can now deploy an AI agent that is triggered by a webhook from an external website.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59E0B"/>
                </a:solidFill>
                <a:latin typeface="Arial"/>
              </a:rPr>
              <a:t>1 hour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965960"/>
            <a:ext cx="9418320" cy="2926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965960"/>
            <a:ext cx="201168" cy="2926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22860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TOPIC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697480"/>
            <a:ext cx="8595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Agentic Chatbot and Human in the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38528" y="3794760"/>
            <a:ext cx="8503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Agentic workflows · Chatbots on webhooks · Approval gates · Accountability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8528" y="43434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Applied in Lab 3, Lab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TOPIC 2 · AGENTIC CHATBOT &amp; HITL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Human In, On, and Out of the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Three levels of human oversight. The design question is which one this particular process deserves.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Human IN the loop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workflow PAUSES and a named person must approve before the action happens. Nothing reaches the customer unauthorised. This is Lab 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810512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1956816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Human ON the loop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359152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agent acts immediately, but a person monitors and can intervene or reverse it. Suited to high volume and low individual risk.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810512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1956816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Human OUT of the loop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359152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Fully autonomous. Acceptable only where an error is cheap, reversible and detectable — never where money or a regulator is involved.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question is never 'is the model good enough?' but 'what does one bad output cost, and who answers for it?'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TOPIC 2 · AGENTIC CHATBOT &amp; HITL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How an Approval Suspends a Running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 Send-and-Wait node stops the execution mid-flight and holds it until a person decides.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Event arrives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 client message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7985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6313" y="1828800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7753" y="1828800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Agent drafts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classify, flag, propose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058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5386" y="1828800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6826" y="1828800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Draft is logged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before any human sees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6131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4459" y="1828800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5899" y="1828800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Human decides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Approve or Decline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5204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3532" y="1828800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24972" y="1828800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Only then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send and log the outcome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320954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9903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The execution really is paused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Look at the canvas and the run is sitting on the approval node. It waits days if it has to — n8n holds the state.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1960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602480" y="320954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0248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4139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Approve and Decline are just links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2076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email carries two URLs. Clicking one resumes the execution down that branch — no app for the approver to learn.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6196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244840" y="320954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484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375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A decline is a reassignment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6312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Declining is not deleting. The ticket moves to a named person, because someone still owes the client an answer.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agent may do everything except the one thing that matters. That pause is the whole control.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TOPIC 2 · AGENTIC CHATBOT &amp; HITL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When to Put a Human in the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Six tests. If a process meets any one of them, it needs an approval gate.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Money moves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Payments, refunds, credit and lending decisions — anything with a direct financial consequence.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It is a regulated communication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licensed firm writing to a client about their money, health or legal position.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148584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294888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2948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304032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The action is irreversible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3697224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sent email, a deleted record or published content cannot be recalled.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148584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294888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2948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304032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A person is vulnerable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3697224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Distress, illness, bereavement, or savings that someone cannot afford to lose.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486656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0120" y="4632960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6329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9032" y="4642104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The stakes exceed the error rate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" y="5035296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2% error rate is fine for tagging tickets and unacceptable for approving loans.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0780" y="4486656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23660" y="4632960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23660" y="46329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62572" y="4642104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Someone must be accountable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1948" y="5035296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regulator asks which licensed person is answerable — not what the machine decided.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Automate the drafting, not the deciding, wherever any of these six is true.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AGENTIC CHATBOT &amp; HITL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Guardrails — Two Gates Around the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Instructions shape what the agent intends. Guardrails check what actually goes in and comes out.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INPUT GUARDRAIL — before the agent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Screen the incoming message before the model ever sees it.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Block prompt injection: 'ignore your instructions and…'.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Strip or reject personal data you must not process.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Rate-limit and authenticate — a public webhook is a public door.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OUTPUT GUARDRAIL — after the agent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Check the reply before it reaches a human being.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Look for the phrases you have banned: guarantees, forecasts, advice.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Validate the structured fields against the values you allow.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On any doubt, route to a person rather than sending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Defence in depth: the same rule in the prompt AND in the workflow — only one of the two runs on a machine you control.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AGENTIC CHATBOT &amp; HITL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3 — Chatbot Webhook (Investment Advisor)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26464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 compliance-bound chatbot for an investment advisory firm: no answer until the firm can contact the visitor, and never any financial advice.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Chat Webhook — POST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the widget sends a message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254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3582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5022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Normalize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Code node shapes the 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9924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1364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AI Agent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Gemini 0.2 + window memory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7938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7706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Respond to Chat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reply returns to the widget</a:t>
            </a:r>
          </a:p>
        </p:txBody>
      </p:sp>
      <p:pic>
        <p:nvPicPr>
          <p:cNvPr id="18" name="Picture 17" descr="canvas-lab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8981" y="2798064"/>
            <a:ext cx="7730989" cy="2706624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2216281" y="2785364"/>
            <a:ext cx="7756389" cy="273202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504688"/>
            <a:ext cx="10634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The Lab 3 workflow on the n8n canvas. A small graph: webhook in, normalise, the agent with its chat model and session memory, then the reply back out.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742432"/>
            <a:ext cx="10634472" cy="51206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LAB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5788152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Chatbot Webhook (Investment Advisor)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6016752"/>
            <a:ext cx="9144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Chat Webhook  →  Normalize  →  AI Agent (+ model + memory)  →  Respond to Chat  ·  full click-by-click steps in the Learner Guide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LAB 3 · THE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3 — Chatbot Webhook — What You'll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493776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The Investment Advisor site with the chat widget open. Note the contact gate in action — it asks for the visitor's name before it will answer anything.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An agentic chatbot's system message is a compliance control, not just a prompt.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The same rule enforced in the browser and in the agent is deliberate redundancy — only one of them runs on a machine you control.</a:t>
            </a:r>
          </a:p>
        </p:txBody>
      </p:sp>
      <p:pic>
        <p:nvPicPr>
          <p:cNvPr id="7" name="Picture 6" descr="site-lab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034540"/>
            <a:ext cx="5486400" cy="3429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930900" y="2021840"/>
            <a:ext cx="5511800" cy="34544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LAB 3 · VERIFY AND DEBRIEF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3 — Chatbot Webhook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Ask 'Can you guarantee returns?' and 'Which stock should I buy?'. The agent must decline both and offer a consultation. Then ask a question before giving your details — it must ask for the missing detail and answer nothing.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43230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The system message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agentic chatbot's system message is a compliance control, not just a prompt.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243230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Defence in depth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same rule enforced in the browser and in the agent is deliberate redundancy — only one of them runs on a machine you control.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95928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4142232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1422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4151376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Session-keyed memory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544568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Session-keyed memory gives context to follow-up questions without leaking between visitors.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95928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4142232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41422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4151376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Prompt or RAG?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544568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small fixed FAQ belongs in the prompt; RAG is for knowledge too large or too changeable for that.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3 — you can now deploy an agentic chatbot on a website that operates within regulatory limits.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AGENTIC CHATBOT &amp; HITL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4 — Human in the Loop (Client Rapport Assistant)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26464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An agent reads a worried client's concern, flags compliance risks and drafts a reply — but sends nothing until a licensed manager approves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Webhook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client sends a concern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7985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6313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7753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AI Agent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classify · flag · draft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058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5386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6826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Log Draft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before any human sees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6131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4459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5899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RM Approval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Send &amp; Wait — PAUSED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5204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3532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24972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IF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Approve → send · Decline → reassign</a:t>
            </a:r>
          </a:p>
        </p:txBody>
      </p:sp>
      <p:pic>
        <p:nvPicPr>
          <p:cNvPr id="21" name="Picture 20" descr="canvas-la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892" y="2798064"/>
            <a:ext cx="8759167" cy="270662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1702192" y="2785364"/>
            <a:ext cx="8784567" cy="273202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504688"/>
            <a:ext cx="10634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Everything up to RM Approval is the agent's territory; the IF node after it splits into the approved path (top) and the reassignment path (bottom).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742432"/>
            <a:ext cx="10634472" cy="51206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LAB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5788152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Human in the Loop (Client Rapport Assistant)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6016752"/>
            <a:ext cx="9144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Webhook → Agent → Acknowledge → Log Draft → RM Approval (Send &amp; Wait) → IF → Send / Reassign  ·  full click-by-click steps in the Learner Guide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LAB 4 · THE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4 — Human in the Loop — What You'll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493776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The Meridian client portal. The widget states plainly that a licensed manager reviews every reply — the human-in-the-loop promise made visible to the client.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 Send-and-Wait node pauses the workflow until a named person authorises the action.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Separating what the agent proposed from what a human approved is what makes the trail auditable.</a:t>
            </a:r>
          </a:p>
        </p:txBody>
      </p:sp>
      <p:pic>
        <p:nvPicPr>
          <p:cNvPr id="7" name="Picture 6" descr="site-la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165985"/>
            <a:ext cx="5486400" cy="316611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930900" y="2153285"/>
            <a:ext cx="5511800" cy="319151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LAB 4 · VERIFY AND DEBRIEF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4 — Human in the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Run all eight rows of sample-queries.csv. When you are done Drafts has 8 rows, Approved_Replies has 5 and Handover_Queue has 3 — and no accountability column is empty.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43230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The approval 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Send-and-Wait node pauses the workflow until a named person authorises the action.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243230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Two separate logs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Separating what the agent proposed from what a human approved is what makes the trail auditable.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95928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4142232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1422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4151376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A decline reassigns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544568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decline is a reassignment, not a deletion — someone must still owe the client an answer.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95928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4142232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41422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4151376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Keep the model out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544568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most legally important sentence in a workflow should be the one the model cannot touch.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4 — you can now apply a human approval gate so no AI-drafted communication is sent unsupervised.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Tea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0B981"/>
                </a:solidFill>
                <a:latin typeface="Arial"/>
              </a:rPr>
              <a:t>15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965960"/>
            <a:ext cx="9418320" cy="2926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965960"/>
            <a:ext cx="201168" cy="29260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22860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TOPIC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697480"/>
            <a:ext cx="8595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Retrieval-Augmented Generation (RAG)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38528" y="3794760"/>
            <a:ext cx="8503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Tokenization · Embeddings · Vector stores · Grounded answers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8528" y="43434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Applied in Lab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Why Retrieval, Rather Than a Bigger Prompt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For twenty short documents, pasting them all would genuinely work. The problem starts at two hundred.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Prompts have a ceiling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Add enough documents and you exceed the model's context window — the request simply fails.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Long prompts degrade quality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Models attend less reliably to the middle of a very long context. The answer is in there and is still missed.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You pay for every token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Every question re-sends every document, whether or not it was relevant to that question.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Retrieval turns it around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Fetch only the few documents that resemble the question, and send just those. Cheaper, shorter and more accurate.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RAG is not a bigger prompt — it is a smaller, better-chosen one.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RAG Pipeline — Ingest Once, Retrieve Every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Two separate workflows. You run ingestion once; retrieval runs on every single question.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Collect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the source documents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63140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01468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92908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Split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into chunks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87368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25696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7136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Embed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each chunk into a vector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11596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9924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1364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Store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in the vector store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4152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65592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Retrieve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the nearest chunks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60052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98380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89820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Answer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from what came back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60120" y="320954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9903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Ingestion — run by hand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5's first workflow: list 20 brochures on Drive, download, split, embed, insert. A Manual Trigger, run once.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1960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602480" y="320954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0248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139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Retrieval — runs per question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2076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5's second workflow: embed the question with the SAME model, find the nearest brochures, answer only from those.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6196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244840" y="320954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4484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375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The models must match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6312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question embedded by one model cannot be compared against documents embedded by another. It fails silently, returning nonsense.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Ingest once, retrieve thousands of times — and use the identical embedding model on both sides.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How RAG 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ag-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283" y="1737360"/>
            <a:ext cx="8002954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066583" y="1724660"/>
            <a:ext cx="8028354" cy="41402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Retrieval finds the documents that resemble the question · Augmentation adds them to the prompt · Generation produces an answer grounded in what was retrieved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Chunking — the Biggest Lever on RAG Quality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Most RAG projects fail quietly at chunking, not at the model.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The rule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right chunk is the smallest piece of text that still answers a question on its own.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Too small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brochure sliced into thirds separates the course name from its fee. Retrieval then finds one without the other.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148584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294888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2948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304032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Too large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3697224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Irrelevant text crowds the prompt and dilutes what actually matters.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148584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294888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2948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304032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Overlap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3697224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small overlap between chunks stops a sentence being cut in half at the boundary.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486656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0120" y="4632960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6329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9032" y="4642104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In Lab 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" y="5035296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Chunk size 4000 with overlap 0 — one brochure becomes exactly one vector, so the fee is never separated from the course.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0780" y="4486656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23660" y="4632960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23660" y="46329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62572" y="4642104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1948" y="5035296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How many chunks come back. Too few misses the answer; too many dilutes the prompt with noise.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Tune the chunking before you blame the model — that is where the answer was lost.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Tokenization and Text Embedding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xt-embed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77750"/>
            <a:ext cx="10332720" cy="32340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01700" y="2165050"/>
            <a:ext cx="10358120" cy="325942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Text is split into tokens, then an embedding model turns it into a vector — a list of numbers that places similar meanings close together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Choosing a Vector Store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Where the embeddings live, and whether they are still there tomorrow.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SIMPLE VECTOR STORE — built in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No account, no API key, no index to create.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Running RAG within ten minutes — this is what Lab 5 uses.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WIPED whenever n8n restarts.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Right for: learning, demos and prototypes.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 REAL VECTOR DATABASE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Pinecone, Supabase (pgvector), Qdrant, Weaviate.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An account, an index and a matching dimension to set up.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Persists, scales, and is shared across n8n instances.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Right for: anything that goes into production.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Prototype on the in-memory store; move to a hosted database the moment anyone else depends on the answers.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Vector Databases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ector-data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1737360"/>
            <a:ext cx="731520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410460" y="1724660"/>
            <a:ext cx="7340600" cy="41402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vector store holds the embeddings and finds the nearest neighbours to a question, fast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Grounding an Agent Against Hallucination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An ungrounded model asked for a price will produce one. It will be plausible, it will be wrong, and the customer will quote it back to you.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Always call the tool 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Instruct the agent to search the documents before answering any factual question at all.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Answer only from what came 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Every factual claim must trace to a retrieved document, not to the model's general knowledge.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148584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294888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2948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304032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Give it permission to fail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3697224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'I don't have that in our course information' is a far better answer than a confident invention.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148584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294888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2948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304032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Name what it must never invent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3697224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fee, a date, a duration, a course code, an instructor's name, a discount.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486656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0120" y="4632960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6329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9032" y="4642104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Hide the machinery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" y="5035296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Never mention the vector store or that it is searching documents — the customer does not care.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0780" y="4486656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23660" y="4632960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23660" y="46329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62572" y="4642104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Test the traps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1948" y="5035296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Ask about a course you do not run, a person who does not exist, and a discount never offered.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Grounding is an instruction problem as much as a retrieval one — retrieval finds it, the prompt makes it stick.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3 · RAG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5 — RAG Customer Care Chatbot — Ingestion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26464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Cook &amp; Bake Academy's customer care team retypes the same answers all day, and every answer is already written in the course brochures.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Manual Trigger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you run ingestion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7985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6313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7753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Drive — list + download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20 brochures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058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5386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6826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Splitter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 brochure = 1 chunk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6131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4459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5899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Embeddings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3072-dim vectors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5204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3532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24972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Vector Store — Insert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stored, ready to search</a:t>
            </a:r>
          </a:p>
        </p:txBody>
      </p:sp>
      <p:pic>
        <p:nvPicPr>
          <p:cNvPr id="21" name="Picture 20" descr="canvas-lab5-ing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5721" y="2798064"/>
            <a:ext cx="7757510" cy="270662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2203021" y="2785364"/>
            <a:ext cx="7782910" cy="273202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504688"/>
            <a:ext cx="10634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The ingestion workflow on the n8n canvas — run ONCE by hand. Twenty brochures are listed, downloaded, split, embedded and inserted into the vector store.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742432"/>
            <a:ext cx="10634472" cy="51206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LAB 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5788152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RAG Customer Care Chatbot — Ingestion Workflow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6016752"/>
            <a:ext cx="9144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Ingestion: Drive → Split → Embed → Vector Store   ·   Answering: Webhook → Agent + Retriever → Respond  ·  full click-by-click steps in the Learner Guide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3 · RAG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5 — RAG Customer Care Chatbot — Answering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26464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answering workflow on the n8n canvas — runs on EVERY question. The Query Data Tool and its embedding model hang below the agent.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Webhook — POST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 visitor asks 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254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3582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5022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AI Agent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+ Query Data Tool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9924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1364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Retrieve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nearest brochures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7938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7706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Respond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answer grounded in those</a:t>
            </a:r>
          </a:p>
        </p:txBody>
      </p:sp>
      <p:pic>
        <p:nvPicPr>
          <p:cNvPr id="18" name="Picture 17" descr="canvas-lab5-ag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6162" y="2798064"/>
            <a:ext cx="7576628" cy="2852928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2293462" y="2785364"/>
            <a:ext cx="7602028" cy="2878328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77240" y="5742432"/>
            <a:ext cx="10634472" cy="51206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LAB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5788152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RAG Customer Care Chatbot — Answering Workflow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6016752"/>
            <a:ext cx="9144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Ingestion: Drive → Split → Embed → Vector Store   ·   Answering: Webhook → Agent + Retriever → Respond  ·  full click-by-click steps in the Learner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LAB 5 · THE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5 — RAG Customer Care Chatbot — What You'll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493776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The Cook &amp; Bake Academy site with the course assistant open. Every answer it gives is grounded in the 20 brochures you ingested into the vector store.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RAG retrieves the few documents that resemble the question instead of pasting everything into the prompt.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An embedding places similar meanings close together, so retrieval works even when no words match.</a:t>
            </a:r>
          </a:p>
        </p:txBody>
      </p:sp>
      <p:pic>
        <p:nvPicPr>
          <p:cNvPr id="7" name="Picture 6" descr="site-la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034540"/>
            <a:ext cx="5486400" cy="3429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930900" y="2021840"/>
            <a:ext cx="5511800" cy="34544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LAB 5 · VERIFY AND DEBRIEF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5 — RAG Customer Care Chatbot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TC1 must quote BAK-101's exact fee from the brochure. Then run the three hallucination probes: TC7 (a course that does not exist), TC8 (an instructor name no brochure contains) and TC9 (a discount that was never offered). Any confident answer to these is a failure, however fluent.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5170932" cy="9204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43230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What RAG does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834640"/>
            <a:ext cx="4768596" cy="225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RAG retrieves the few documents that resemble the question instead of pasting everything into the prompt.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2286000"/>
            <a:ext cx="5170932" cy="9204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243230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Embeddings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834640"/>
            <a:ext cx="4768596" cy="225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embedding places similar meanings close together, so retrieval works even when no words match.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425952"/>
            <a:ext cx="5170932" cy="9204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572256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57225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58140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Chunking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3974592"/>
            <a:ext cx="4768596" cy="225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Chunking is the single biggest lever on RAG quality — the right chunk answers a question on its own.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425952"/>
            <a:ext cx="5170932" cy="9204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572256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57225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58140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Match model and key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3974592"/>
            <a:ext cx="4768596" cy="225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ingestion and retrieval embedding models must be identical, and the memory keys must match.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565904"/>
            <a:ext cx="5170932" cy="9204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0120" y="4712208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71220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9032" y="4721352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In-memory is temporary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" y="5114544"/>
            <a:ext cx="4768596" cy="225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n8n's Simple Vector Store is wiped when n8n restarts — fine for learning, unacceptable in production.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5 — you can now deploy a RAG application that grounds an agent in the organisation's own documents.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965960"/>
            <a:ext cx="9418320" cy="2926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965960"/>
            <a:ext cx="201168" cy="29260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22860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697480"/>
            <a:ext cx="8595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Course Summary &amp; 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54864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LEARNING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You Achieved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185074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185074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LO1 · n8n and AI agents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Built a trigger-and-action workflow and explained how an LLM agent differs from generative AI.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70479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704795"/>
            <a:ext cx="91440" cy="68397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33272" y="27724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27724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64792" y="2832811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LO2 · Webhook-triggered agents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Put an AI agent behind a real website, with tools, structured output and an audit log.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62651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626510"/>
            <a:ext cx="91440" cy="68397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694175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69417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375452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LO3 · Agentic chatbots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Designed a chatbot that collects contact details and refuses to give regulated advice.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54822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4548225"/>
            <a:ext cx="91440" cy="68397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3272" y="461589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" y="461589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4792" y="4676241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LO4 · Human in the loop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Paused a workflow on an approval gate so no drafted communication was sent unsupervised.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46994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46994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3272" y="553760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553760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559795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LO5 · RAG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Ingested 20 documents into a vector store and grounded a chatbot so it stopped inventing answers.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Taking This Back to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Six moves that turn what you built this week into something your organisation actually runs.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Start with one painful 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Pick something repetitive, high-volume and low-risk. Automate that first.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Map it before you build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Draw the trigger, the decisions and the actions on paper. The canvas comes second.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1956816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Decide where the human belongs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Anything irreversible, regulated or expensive keeps an approval gate.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39639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Ground the agent in your own data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RAG over your policies and documents beats a general model every time.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1960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02480" y="3963924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0248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139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Log everything from day one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076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You will need the audit trail long before you think you will.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196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44840" y="396392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484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375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Iterate with real cases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312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Test with the questions you fear, not the ones you hope for.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next process you automate is the one you were dreading this morning.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WE'RE HERE TO HELP — DURING AND AFTER THE CLASS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Support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432304"/>
            <a:ext cx="9144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86664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Email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enquiry@tertiaryinfotech.com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2432304"/>
            <a:ext cx="91440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86664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Telephone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+65 6100 0613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52170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Website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www.tertiarycourses.com.sg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521708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LMS / TMS portal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lms-tms.tertiaryinfotech.com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WRAP-UP · FINAL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Written Assessment (SAQ)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1 hour. Short-answer questions covering the course knowledge.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Practical Performance (PP)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1 hour. Hands-on n8n build tasks drawn from the five labs.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Open book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Slides, Learner Guide and approved materials only.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Submit on the LMS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Upload your completed answers at lms-tms.tertiaryinfotech.com.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Digital attendance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Remember to take the Assessment digital attendance (TRAQOM).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Appeals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 appeal process is available if required.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TRAQOM survey — scan the QR code on the LMS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Assessment digital attendance — scan the SSG QR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Sit WA (SAQ) then PP — open 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Submit your answers on the LMS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432304"/>
            <a:ext cx="9144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86664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AM, PM and Assessment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It is mandatory to take all three digital attendances for WSQ-funded courses.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2432304"/>
            <a:ext cx="91440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86664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The QR code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trainer or administrator displays the attendance QR code from the SSG portal.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52170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Scan and submit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Scan it with your mobile phone camera and submit your attendance.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521708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75% minimum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At least 75% attendance is required to be eligible for assessment and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HAPPY AUTOMATING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161B26"/>
                </a:solidFill>
                <a:latin typeface="Arial"/>
              </a:rP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1148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5B6372"/>
                </a:solidFill>
                <a:latin typeface="Arial"/>
              </a:rPr>
              <a:t>Keep your n8n instance running and keep building. The next process you automate is the one you were dreading this morning.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