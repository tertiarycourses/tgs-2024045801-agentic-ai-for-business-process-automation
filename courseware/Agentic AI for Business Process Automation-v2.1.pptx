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Agentic AI for Business Process Automation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TGS-2024045801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TSC: Artificial Intelligence Application  ·  AER-TEM-3026-1.1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Version v2.1  ·  15 October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specialises in AI, automation and software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agentic AI, workflow automation (n8n) and app development.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name, your organisation and your role.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starting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Your experience with automation or AI tools — including none at 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pain point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business process in your work you would most like to automate.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What you want to be able to build by the end of this course.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ms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0872" y="1737360"/>
            <a:ext cx="5219776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58172" y="1724660"/>
            <a:ext cx="5245176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 ·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Go to lms-tms.tertiaryinfotech.com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Enter your registered email and click Send OTP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Key in the one-time password from your inbox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this course and download the slides +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THE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Get the Course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 lab ships a workflow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ready-made n8n workflow (.json) sits in each lab's folder under labs/.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Import 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 n8n: Workflows → Add workflow → the '...' menu → Import from File → pick the lab .json.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Re-select your credentials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After importing, re-select YOUR OWN credentials on every node showing a warning.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Nothing of yours is shared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Imported workflows reference credential NAMES, not secrets — no key travels in the file.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TRAINING ACCOUNTS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Training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learner signs in to n8n with ONE assigned account. Use only the account your trainer gives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1874519"/>
            <a:ext cx="457200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36776" y="187451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874519"/>
            <a:ext cx="73152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87451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874519"/>
            <a:ext cx="459943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0296" y="187451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Account (email)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350007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6776" y="235000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n8n18oct1@tertiaryinfotech.com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50007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08776" y="235000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350007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235000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n8n18oct7@tertiaryinfotech.com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08760" y="2825495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36776" y="2825495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n8n18oct2@tertiaryinfotech.com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2825495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2825495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2825495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0296" y="2825495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n8n18oct8@tertiaryinfotech.com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300983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36776" y="3300983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n8n18oct3@tertiaryinfotech.com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300983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08776" y="3300983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3300983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0296" y="3300983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n8n18oct9@tertiaryinfotech.com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508760" y="3776471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36776" y="3776471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n8n18oct4@tertiaryinfotech.com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3776471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08776" y="3776471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12280" y="3776471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0296" y="3776471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n8n18oct10@tertiaryinfotech.com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4251959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636776" y="4251959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n8n18oct5@tertiaryinfotech.com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4251959"/>
            <a:ext cx="731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08776" y="4251959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12280" y="4251959"/>
            <a:ext cx="45994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940296" y="4251959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n8n18oct11@tertiaryinfotech.com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508760" y="4727447"/>
            <a:ext cx="457200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36776" y="4727447"/>
            <a:ext cx="431596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n8n18oct6@tertiaryinfotech.com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727447"/>
            <a:ext cx="731520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08776" y="4727447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12280" y="4727447"/>
            <a:ext cx="4599432" cy="47548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0296" y="4727447"/>
            <a:ext cx="4343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n8n18oct12@tertiaryinfotech.com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Password: provided by your trainer in class   ·   Do not change the password or save real credentials in it.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(TSC)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AER-TEM-3026-1.1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Mapped to the national framework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This WSQ course is mapped to the SkillsFuture Singapore Skills Framework.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Fully assessed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assessment covers every Ability (A) and Knowledge (K) statement listed next.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SKILLS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TSC Abilities and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ABILITIES (assessed by the 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A1 Implement AI applications in collaboration with technology service providers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A2 Deploy AI workflows according to plan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A3 Identify and report any issues with the AI applications and data collected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KNOWLEDGE (assessed by the WA)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K1 Background and basics of AI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K2 Fundamental concepts and methods of statistics and programming for data science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K3 Mathematics and computing theories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K4 Machine learning techniques and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K5 Principles of data management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K6 Software development methodologies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K7 Types of AI applications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K8 AI implementation procedures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1 — n8n, AI Agents and Agentic Chatbots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Why agentic AI, and why workflow first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1: Overview of n8n and AI Agents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1 — n8n trigger and action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2 — Webhook and AI Agent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DAY 2 — Human in the Loop, RAG and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2: Agentic chatbot and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3 — Chatbot webhook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4 — Human in the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Topic 3: RAG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Final Assessment (WA + PP)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Timing: 9:30 am – 6:30 pm instruction, assessment to 8:45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Each day is 8 instructional hours: a 1-hour lunch is excluded, and the two 15-minute tea breaks are counted within the instructional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Explain what n8n and AI agents are, and build workflows using triggers and actions.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Implement AI agent applications triggered by webhooks and integrated with business systems.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Design agentic chatbot workflows that operate within business and regulatory constraints.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human approval so that sensitive actions are authorised by a named person.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Deploy Retrieval-Augmented Generation to ground an agent in your organisation's documents.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Five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lab keeps the agent and changes one thing — the front door, the tools, the oversight, the knowledge.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form →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webhook + agent +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chatbot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human approval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899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RAG over documents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3009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front door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Form Trigger in Lab 1 becomes a Webhook in Labs 2–5 — the workflow behind it barely moves.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3009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agent gains 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adds tools, Lab 3 adds memory, Lab 5 adds retrieval over your own documents.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154680"/>
            <a:ext cx="3349752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3009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3009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3101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oversight grows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703320"/>
            <a:ext cx="2947416" cy="1682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4 stops the workflow dead until a licensed person approves what the agent drafted.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By Lab 5 you have built the whole pattern: a front door, an agent, its tools, its guardrails and its knowledge.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319272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3447288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Assessed Competent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Complete the assessment and be assessed as 'Competent'.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855464"/>
            <a:ext cx="10634472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983480"/>
            <a:ext cx="9427464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Both are required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Both criteria must be met for the course fee funding to be granted.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75%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Overview of n8n and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Why agentic AI · Workflow first · Triggers &amp; actions · LLM agents · Webhooks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Applied in Lab 1, 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 BRIEF HISTORY OF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Brief History of AI, 2023–2026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Each year moved the skill that matters — from the words you type to the system you build.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Prompt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Context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Harness Engineering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74519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74519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Wording the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ChatGPT goes mainstream. Results depend on how well you word the prompt.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0901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Curating the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17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Models call tools and MCP launches. Results depend on the documents, data and tools you supply.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078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194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Building the harness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Claude Code and Codex: systems that plan, act and check their own work in a loop.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2550" y="3063240"/>
            <a:ext cx="243916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73718" y="3209544"/>
            <a:ext cx="203682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Agents at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718" y="3611880"/>
            <a:ext cx="203682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Always-on agents work 24/7 — OpenClaw, Hermes Agent and agent teams take on whole jobs.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From wording one prompt → curating context → engineering the harness → AI agents that work around the clock.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AGENTIC AI VS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Agentic AI vs AI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 agents are a special type of agentic AI system — the kind that never switches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the broad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Any AI system that pursues a goal over many steps: plans, acts through tools, checks the result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started by a person or a trigger, and stops when the task is done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Built as a workflow with AI steps, or around an LLM loop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Includes the orchestration, guardrails and human approvals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a Claude Code or Codex session; an n8n workflow with AI steps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AI Agents — always-on agentic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special type of agentic AI system that exists 24/7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Usually installed in the cloud, so it serves all the time — no laptop needs to be open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Waits for events — messages, emails, webhooks, schedules — and acts on them around the clock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Keeps its memory across conversations and days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Examples: OpenClaw, Hermes Agent, an n8n agent on a cloud instance behind a webhook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AI agent is agentic AI, but not every agentic AI is an AI agent — an AI agent is always on, serving 24/7 from the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WORKFLOW FIRST VS AGENT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Workflow First vs Agent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Workflow first evolves rule-based (RPA) automation: the workflow owns the path, and its steps can be AI or AI agents, as in n8n.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Who decides the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317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31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— steps may be AI nodes or AI Agent nodes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317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31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decides the steps and tools at run time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Behaviour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7889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7889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— same input, same path,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7889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7889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Probabilistic — the path can change between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Efficiency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2461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2461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More effort to design every branch up front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2461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2461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Efficient — one instruction replaces many hand-built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Reliability &amp; testing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7033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7033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Easy to test, debug and certify step by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7033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7033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Harder to test; edge cases surface in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Cost &amp;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160519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1605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only where needed — cheap and fast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160519"/>
            <a:ext cx="418795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1605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LLM call at every step — more tokens, more latency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4617719"/>
            <a:ext cx="22860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4617719"/>
            <a:ext cx="20299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63240" y="4617719"/>
            <a:ext cx="416052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4617719"/>
            <a:ext cx="3904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Repeatable, regulated, high-volume processes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17719"/>
            <a:ext cx="418795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51776" y="4617719"/>
            <a:ext cx="3931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Open-ended tasks with unpredictable inputs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394960"/>
            <a:ext cx="10634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Source: n8n, In The Loop 2026 — opening keynote and product direction (youtube.com/watch?v=KQRe5UurLQ0)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first is more deterministic; agent first is more efficient. Companies make as much deterministic as they can.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THE MODERN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Trend: AI-Assisted Workflow Creation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AI-powered coding has flipped the trade-off — the agent's efficiency goes into BUILDING the workflow, not running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Describe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process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n8n Assistant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or Claude Code / Codex drafts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You review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test and approve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deterministic and logged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6712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74519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74519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AI and agent nodes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where judgement is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Companies want determinism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Reliability, compliance and audit push businesses to make as much of a process deterministic as possible.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 coding made it cheap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Assistant, Claude Code and Codex are AI agents themselves — they make designing, building and changing workflows fast and cheap.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The best of both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AI agent BUILDS the workflow; a deterministic workflow RUNS the process, with AI and AI Agent nodes where judgement is needed.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trend: AI-assisted workflow creation — the AI builds the workflow, and the workflow runs the business process.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AI-ASSISTED WORKFLOW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n8n Assistant — Describe It, n8n Builds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271" y="1737360"/>
            <a:ext cx="8572977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781571" y="1724660"/>
            <a:ext cx="8598377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Open Assistant in the left sidebar and answer "What do you want to automate?". It plans, builds and tests a normal n8n workflow you can inspect, edit and publish. Assistant chats use the plan's monthly Assistant credits.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FREE AI CREDITS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Claim Your Free AI Credits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in to n8n Cloud with your training account — the free trial includes Gateway credits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a workflow and add an AI node, e.g. AI Agent → Gemini or OpenAI Chat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the node's Credential field, choose Use Gateway credits — your balance shows beside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Pick a supported model and run the node — no provider account or API key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Track the balance on the node, or in Admin Panel → Gateway credits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red "Free AI credits — Enable to claim credits" toast is the legacy OpenAI offer: Gateway instances don't get it. Use Gateway credits.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Demo: Build a Social Media Campaign Workflow with n8n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Give n8n Assistant one clear prompt — it plans and builds the workflow below, with a human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enter a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Research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Agent + web 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AI writes the copy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in the loop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email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9854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Schedule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wait, then publish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880360"/>
            <a:ext cx="6583680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2990088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THE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291840"/>
            <a:ext cx="6217920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Create a workflow for a social media marketing campaign: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1. Start from a form where I enter a campaign topic.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2. Research the topic on the web and summarise 3 key points.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3. Draft a LinkedIn post under 150 words from the research.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4. Email me the draft and wait for my approval before posting.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5. If approved, schedule the post for 9am the next weekday;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    if rejected, log my feedback in a Google Sheet.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Use Gateway credits for the AI model. Ask me before publishing.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0" y="2880360"/>
            <a:ext cx="3822191" cy="26974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99008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THEN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310128"/>
            <a:ext cx="342900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Review the plan before it builds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Connect Gmail and the social account when it asks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Test with a real topic and approve the draft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0B981"/>
                </a:solidFill>
                <a:latin typeface="Arial"/>
              </a:rPr>
              <a:t>•  </a:t>
            </a:r>
            <a:r>
              <a:rPr sz="1150">
                <a:solidFill>
                  <a:srgbClr val="161B26"/>
                </a:solidFill>
                <a:latin typeface="Arial"/>
              </a:rPr>
              <a:t>Publish only when the run looks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AI built it; the workflow runs it — and nothing is posted until a person approves the draft.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5 Principles of AI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Agents act on your behalf. These five controls keep what they can see and do safe, reviewable and accountable.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31620" y="2075687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1620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F6FEB"/>
                </a:solidFill>
                <a:latin typeface="Arial"/>
              </a:rPr>
              <a:t>Data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SEE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Classify your data — public, internal, confidential — and decide exactly which data the AI may access.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98748" y="2075687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8748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0B981"/>
                </a:solidFill>
                <a:latin typeface="Arial"/>
              </a:rPr>
              <a:t>Permission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AI CAN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Grant only the rights needed — read, write, edit, delete. Ask before anything destructive.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11496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65876" y="2075687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65876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C3AED"/>
                </a:solidFill>
                <a:latin typeface="Arial"/>
              </a:rPr>
              <a:t>Human in the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WHO APPROVES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person reviews and approves high-impact actions — payments, deletions, customer emails.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78624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33004" y="2075687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33004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59E0B"/>
                </a:solidFill>
                <a:latin typeface="Arial"/>
              </a:rPr>
              <a:t>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88352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WHAT HAPPENED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3216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 every prompt, tool call and change so actions can be audited, explained and rolled back.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5752" y="1874519"/>
            <a:ext cx="1965960" cy="3657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200132" y="2075687"/>
            <a:ext cx="457200" cy="457200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00132" y="207568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651759"/>
            <a:ext cx="174650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C62F2F"/>
                </a:solidFill>
                <a:latin typeface="Arial"/>
              </a:rPr>
              <a:t>Right-Sized Models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246119"/>
            <a:ext cx="17465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NOT THE MOST POWERFUL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10344" y="3611879"/>
            <a:ext cx="163677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smallest model that does the job carries less autonomy and less risk than the most powerful one.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n8n: scoped credentials per node, approval gates (Send and Wait), the Executions log, and a small model per AI step.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TOPIC 1 ·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Workflow First Is More Secure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fixed path limits the blast radius: a manipulated AI step cannot reach tools that are not wired to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28600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Principle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1874519"/>
            <a:ext cx="4160520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91256" y="187451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Workflow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74519"/>
            <a:ext cx="4187952" cy="512064"/>
          </a:xfrm>
          <a:prstGeom prst="rect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51776" y="187451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Agent 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86583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86583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386583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91256" y="2386583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node sees only the fields wired into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386583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1776" y="2386583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can reach any data its tools expose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898647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898647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Permission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63240" y="2898647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91256" y="2898647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credential is scoped to one node and one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98647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2898647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holds every tool's rights at once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10711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10711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410711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3410711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approval gate sits at a fixed, designed step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3410711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51776" y="3410711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Depends on the agent choosing to 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22775"/>
            <a:ext cx="228600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22775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Traceability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63240" y="3922775"/>
            <a:ext cx="4160520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1256" y="3922775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in Executions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922775"/>
            <a:ext cx="4187952" cy="512064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51776" y="3922775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Reasoning varies run to run and is harder to explain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434839"/>
            <a:ext cx="22860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434839"/>
            <a:ext cx="202996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Right-sized models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434839"/>
            <a:ext cx="41605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91256" y="4434839"/>
            <a:ext cx="39044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model for each narrow AI step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434839"/>
            <a:ext cx="4187952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51776" y="4434839"/>
            <a:ext cx="393192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One capable model with broad autonomy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path is fixed, so every control is designed in rather than hoped for — that is why regulated processes stay workflow first.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WHY ORGANISATIONS ADOPT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Value of Workflow-First Agentic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modern view: what a business gains when AI builds the workflow and the workflow runs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Reliable and predictable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input follows the same path every time, so the process can be tested and trusted like software.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Secure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step holds only the data and credentials it needs; risky actions wait at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run is logged node by node — you can explain, replay and correct any decision.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Lower running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steps cost nothing in tokens; the LLM is called only where judgement is needed.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Faster to build and 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Code and Codex draft the workflow in minutes; your team reviews, tests and owns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Scale around the clock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Triggers respond in real time, 24/7 — ten times the volume costs compute, not ten more hires.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where judgement is needed, workflow everywhere else — reliability you can audit, at a cost you can predict.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Agentic Automation Is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pattern — trigger, agent, tools, oversight — recurs across every function.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Customer 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Answer enquiries from your own documents, capture leads, and escalate what needs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Finance &amp; accounting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Invoice processing, bank reconciliation, accounts-payable routing and exception handling.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Risk &amp; 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Screen applications, flag anomalies, and route sensitive cases for human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HR &amp; people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Onboarding, leave applications, policy questions and approval chains.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Sales &amp; marketing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Lead qualification, follow-up sequencing, CRM enrichment and content drafting.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Operations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Order processing, status notifications, document generation and reporting.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Every one of these is a front door, an agent, some tools and a decision about where the human belongs.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COMPLEXITY VS CUSTOMISATION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AI Agent Platforms 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tiers, and why this course teaches the middle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066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No-code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visual builders. Fastest route to a working agent, least control over the internals.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2066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Low-code  ·  n8n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visual canvas plus code nodes, 400+ integrations, self-host or cloud. This course's platform.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920240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2066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2066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2075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Full-code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468880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SDKs and frameworks such as LangChain. Maximum control, and real engineering effort.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n8n sits where a business analyst can build it and an engineer can still extend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workflow automation platform: connect apps, data and AI on one visual canvas — no-code to full-code.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Build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Drag nodes onto a canvas and wire them together. 400+ app integrations, plus HTTP and Code nodes when no integration exists.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Run anywhere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Free cloud trial at n8n.io, or self-host with Docker. Webhooks, schedules and chat triggers work the same in both.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AI-native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AI Agent and LangChain nodes are built in — attach any LLM (Gemini, OpenAI, Claude), memory, tools and vector stores.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One canvas to connect apps, data and AI — automation and agents without gluing code by hand.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Every Workflow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Trigger first, then actions in order, with data flowing left to right. Only the nodes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what starts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the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do more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reply, store or notify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workflow has exactly one entry point. Change the trigger and you have a different workflow — the actions may not change at all.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Actions are ordered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action runs after the one before it, and can read the output of every node that ran before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Data flows as 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node passes a list of JSON items to the next — the same structure in every lab of this course.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Trigger, actions, output. Learn this once in Lab 1 and every later lab is a variation.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— What Is Allowed to Start a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trigger you choose is a statement about who or what may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Manual Trigger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Click Execute workflow. For building and testing, and for one-off jobs such as the Lab 5 ingestion run.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Schedule Trigger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clock starts the workflow — an interval or a cron expression. Nightly reports, reminders and syncs.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Form Trigger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 hosts a web form for you and each submission starts a run. This is Lab 1's front door.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external system calls a URL you expose. Your own website, app or CRM — Labs 2, 3, 4 and 5.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Chat Trigger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Each message in n8n's built-in chat window starts a run — the quickest way to talk to an agent while building.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703320"/>
            <a:ext cx="334975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8587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App &amp; Email Triggers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251960"/>
            <a:ext cx="294741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On new Gmail, new Sheets row, new Drive file. React to changes in the apps you already use.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the trigger by asking: who or what should be allowed to start this process?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 Nodes on the n8n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trigg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97239"/>
            <a:ext cx="10332720" cy="37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884539"/>
            <a:ext cx="10358120" cy="3820442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n8n trigger nodes: Manual · Schedule · WhatsApp · Telegram · Gmail · Chat · Form ·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Triggers Used in This Course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lab's trigger, and why that trigger is the right front door for that business process.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Trigger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292608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49651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1874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Why it fits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Form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23317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3317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visitor's event sign-up must start the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Webhook —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Labs 2, 3, 4, 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889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74536" y="27889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website sends JSON and waits for the agent's reply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Manual Trigger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 ingestion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2461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32461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human loads the documents once, by hand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Schedule Trigger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292608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Not used in class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3703319"/>
            <a:ext cx="496519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74536" y="37033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Nightly reports and reminders — same pattern, a clock instead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Chat Trigger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29260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267004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Optional while building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4160519"/>
            <a:ext cx="496519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74536" y="4160519"/>
            <a:ext cx="4709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Talk to an agent without building a website first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Swap the front door and keep the workflow — the trigger is the only part that has to change.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— The Workhorses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Between the trigger and the output, these nodes shape, route and transform the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Edit Fields (Set)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Add, rename or reshape fields — the node you reach for first when the data is the wrong shape. Used in Labs 2 and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901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9189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189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080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IF / Switch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017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Branch the workflow. IF gives a true and a false path; Switch gives one path per case. Lab 4 routes Approve vs Decline.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078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257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Filter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Let only the matching items continue and drop the rest of the list.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72550" y="1810512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5543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5543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4342" y="1965960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Merge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3718" y="2359152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Combine two branches — append the rows, match them by key, or choose one side.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Split Out / Aggregate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Turn one item holding a list into many items — and back again.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0901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9189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9189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080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017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JavaScript or Python for the 5% a built-in node cannot do. Lab 3 uses it to normalise the chat message.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078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6257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Loop / Wait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94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Process items in batches, or pause a workflow for a period of time or an event.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2550" y="3703320"/>
            <a:ext cx="243916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55430" y="384962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543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94342" y="3858768"/>
            <a:ext cx="161620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HTTP 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3718" y="4251960"/>
            <a:ext cx="203682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Call any API on the internet — the universal escape hatch when no integration exists.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Most workflows are: trigger → reshape (Set) → decide (IF) → act (app node). Reach for Code last.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Data-Processing Nodes on the Canvas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key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28049"/>
            <a:ext cx="10332720" cy="27334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415349"/>
            <a:ext cx="10358120" cy="2758821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If · Switch · Filter · Edit Fields · Split Out · Aggregate · Merge · Loop · Date &amp; Time · Wait ·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Where the Data Goes — Storage &amp; App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Action nodes that write the result somewhere useful, or send it to a person.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real spreadsheet you keep, connected with OAuth2. Append Row is the workhorse — Labs 2 and 4 log every decision here.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Gmail / Outlook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Send a message — and in Lab 4, Send and Wait for Response, which turns email into an approval gate.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Vector 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Store embeddings for RAG. In-memory for class, Pinecone / Supabase / Qdrant for production — Lab 5.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Respond to Webhook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Return data to whoever called the webhook, so a web page can render the agent's answer.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Anything you must keep goes to external storage — an in-memory store vanishes when n8n restarts.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and Expressions — How Data 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node passes a list of items; each item is a JSON object of key/value pairs.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12064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JSON (JavaScript Object Notation) is a simple text format for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Values can be text, numbers, true/false, lists [ ] or nested objects { 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Most APIs send and receive JSON — and so does every n8n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Click any node to inspect the JSON going in and coming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93792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ONE FORM SUBMISSION AS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23160"/>
            <a:ext cx="4663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{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"Name": "Alice Tan",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"Email": "alice@corp.com",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"Phone": "91234567",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  "Message": "Please reserve 2 seats"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any value later with an expression:  {{ $json.Name }}  →  "Alice Tan"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vs Production Executions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workflow runs in two modes — always know which one you are looking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— in the editor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Click Execute workflow to run it once.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is shown live on the canvas, node by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 a node's output to freeze it while you build downstream.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Perfect while building — nothing needs to be 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— Active toggle 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automatically whenever the trigger fires.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Nothing appears on the canvas — runs are logged under Executions.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Every run records status, timing and the full data at each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your users actually experience.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Executions list is the honest account of what happened — debug from there, not from memory.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Execution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execu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25371"/>
            <a:ext cx="10332720" cy="373877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1912671"/>
            <a:ext cx="10358120" cy="376417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Executions tab — every run shows its status, duration, ID and the full data at each node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Credentials — Connect Your Accounts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Nodes reference credentials by NAME. Set each one up once under Credentials → Add credential.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Gmail (OAuth2)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Sign in with Google and grant access. Used from Lab 1 onward for sending mail and for the Lab 4 approval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Google Gemini (API key)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behind every agent in this course, and the embedding model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Google Sheets (OAuth2)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audit log in Labs 2 and 4 — customer records, decisions, drafts and approvals.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Google Drive (OAuth2)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brochure folder that Lab 5's ingestion workflow reads from.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Imported workflows carry credential NAMES, not secrets — always re-select your own after importing.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Generative AI vs Agentic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difference is not how clever the model is — it is whether it can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GENERATIVE AI —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ask; it writes one answer.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access to your systems, and no actions.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Quality depends on what you paste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Stops the moment the answer is produced.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draft me an email to this customer.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AGENTIC AI — acts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toward a goal, not just one reply.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Calls tools: looks up data, calls APIs, writes records.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Holds a conversation with memory.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Continues until the goal is met.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Example: read the enquiry, check the CRM, reply and log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Generative AI produces content. Agentic AI decides and does — which is exactly why it needs governance.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Components of an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parts around one hub: the AI Agent node wires them together, and every agent in this course is exactly these four.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3063240"/>
            <a:ext cx="356616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3063240"/>
            <a:ext cx="3566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THE 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plans · decides · calls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LLM 'brain' — interprets language, reasons and chooses the next step. Google Gemini in this course.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874519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002535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331719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conversation so follow-up questions still make sense. Keyed on a session ID, per visitor.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abilities it may use: look up a Sheets row, search a vector store, send an email, call an API.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160520"/>
            <a:ext cx="329184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42885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INSTRUCTIONS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617720"/>
            <a:ext cx="2926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system message — identity, scope, rules and refusals. Always in force, on every single turn.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Model + Memory + Tools + Instructions. Change any one of the four and you have a different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Model — Popular LLM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Any chat model plugs into the same AI Agent node — swap the brain and keep the agent.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274320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74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Provider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74519"/>
            <a:ext cx="40233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48456" y="1874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Models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386791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71816" y="1874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317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317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Google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8456" y="23317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Gemini 2.5 Flash / Pro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23317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71816" y="23317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Course default — also supplies the embeddings in Lab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7889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7889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OpenAI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20440" y="27889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48456" y="27889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gpt-4.1, gpt-4.1-mini, gpt-4o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7889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71816" y="27889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Widely used; mini tier is cheap and fast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2461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2461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Anthropic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32461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2461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Claude (Opus, Sonnet, Haiku)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32461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71816" y="32461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Strong reasoning and long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703319"/>
            <a:ext cx="274320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7033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3703319"/>
            <a:ext cx="4023360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48456" y="37033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Llama 3.x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3703319"/>
            <a:ext cx="3867912" cy="45720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71816" y="37033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can be self-hosted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160519"/>
            <a:ext cx="2743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160519"/>
            <a:ext cx="24871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Mistral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20440" y="4160519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48456" y="4160519"/>
            <a:ext cx="37673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Mistral / Mixtral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43800" y="4160519"/>
            <a:ext cx="386791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71816" y="4160519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Open weights — a European option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Pick by task: small fast models for classification and guardrails, larger models for reasoning.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Model Parameters — Temperature and Friends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Settings on the chat-model node shape HOW the model answers. The most important by far is temperature.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2938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Temperature 0 – 0.3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Deterministic and repeatable. Use for classification, compliance decisions and data extraction — automation that must give the same answer twice.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2938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Temperature ≈ 0.7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Balanced. Natural-sounding conversation with some variety — the usual default for a customer-facing assistant.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783080"/>
            <a:ext cx="3349752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2938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2938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3852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Temperature 1.0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31720"/>
            <a:ext cx="2947416" cy="11795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Creative and surprising. Marketing copy and brainstorming — never for a decision that must be defended.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400507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Top-p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alternative sampling control that limits the model to the most probable tokens. Tune temperature OR top-p, never both.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4005072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Max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Caps the length of the reply. Protects your cost and keeps chat answers short enough to read.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58768"/>
            <a:ext cx="3349752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4005072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400507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4014216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Frequency / presence penalty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407408"/>
            <a:ext cx="294741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Discourage repetition and nudge the model onto new topics — useful for long generations, rarely for automation.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For business automation keep the temperature LOW — Lab 3 uses 0.2 so the same question is refused the same way every time.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Memory — Why the Agent Remembers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Without memory every message is from a stranger; with it, 'what about next month?' still makes sense.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1: 'What courses do you run?'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answers from its tools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Stored in memory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keyed by session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Msg 2: 'How much is that one?'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 knows which course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Window slides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only the last N turns are kept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Window buffer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Keeps the last N exchanges of THIS conversation. It is n8n's default and it is what Lab 3's chatbot uses.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Session key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Memory is per session ID, so two visitors on the same website never see each other's conversation.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Sometimes you want NO memory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2's onboarding agent deliberately has none — one applicant's details must never influence the next decision.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Memory is conversation context, NOT long-term knowledge. Facts belong in tools and documents (RAG).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Tools — What the Agent May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Attach tools to the agent's Tool input. The model decides WHEN to call one, based on the description you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Google Sheets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up or write structured records. Lab 2 attaches three: check for a duplicate, create the customer, send the confirmation.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Vector Store 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Retrieve document chunks for a grounded answer — the Query Data Tool in Lab 5.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HTTP Request tool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Call any external API in the middle of a conversation — prices, stock levels, a CRM record.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Sub-workflow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Wrap an entire n8n workflow as one callable tool, so your own logic becomes something the agent can invoke.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Instructions — The Four Parts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system message is always in force. Every good agent instruction in this course states four things.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Who the agent is, and for whom. 'You are the onboarding assistant for Marina Trust Bank.' Narrow roles refuse far more reliably than general assistants.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Source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Where answers may come from. 'Answer ONLY from the brochures returned by the tool — never from general knowledge.'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Refusals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is out of bounds, stated explicitly. 'Never recommend a product, predict a return, or guarantee an outcome.'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Escalation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What to do at the boundary. 'If you are not sure, say so and offer a consultation with a licensed adviser.'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Vague instructions produce confident wrong answers — every rule you skip, the model improvises.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Examples of Good and Bad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same chatbot, two system messages — one is testable, the other is a hope.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62F2F"/>
                </a:solidFill>
                <a:latin typeface="Arial"/>
              </a:rPr>
              <a:t>✗  TOO VAGUE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95728"/>
            <a:ext cx="4663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"You are a helpful assistant. Answer the user's questions politely."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4663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identity · no source rules · no refusals · no escalation.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It will happily invent a course fee and guarantee an investment return — politely.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193792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0116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27A3E"/>
                </a:solidFill>
                <a:latin typeface="Arial"/>
              </a:rPr>
              <a:t>✓  CONSTRAINED AND 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95728"/>
            <a:ext cx="470916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"You are the enquiry assistant for Meridian Asset Management.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Answer only questions about our services, fees and appointment booking.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the brochure search tool for any factual question — never answer from general knowledge.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Never recommend a product, predict a return, or guarantee an outcome.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If you are not sure, say so and offer a call with a licensed adviser."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· source rules · refusals · escalation — you can test each line by trying to break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— Model Context Protocol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open standard that gives agents a common plug for tools and data, instead of one custom integration per pair.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any MCP-capable client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Client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speaks the 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Server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exposes tools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Systems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databases, APIs,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Without 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agent × every tool needs its own custom integration. N agents and M tools means N × M connectors to build and to maintain.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3063240"/>
            <a:ext cx="517093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1948" y="3209544"/>
            <a:ext cx="47685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With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1948" y="3611880"/>
            <a:ext cx="476859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Build ONE MCP server per system and any MCP-capable agent can use it. N + M pieces, and the tools become reusable across agents.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MCP is like USB-C for AI tools — one connector, many devices.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MCP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n8n sits on both sides of the protocol — it can serve tools to other agents, and borrow tools for its own.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SERVER TRIGGER — n8n serves tools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Expose your own n8n workflows AS tools over MCP.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Claude, an IDE or another agent can then call your workflows directly.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n8n becomes the tool layer for any MCP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Secured with a bearer token on the server URL.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MCP CLIENT TOOL — n8n consumes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Attach an external MCP server to your n8n AI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agent gains all of that server's tools with no custom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Mix MCP tools and native n8n tools freely on the same agent.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Same agent loop — simply more reach.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Two directions, one protocol. Build the tool once and every agent you own can use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URL your workflow listens on. When the outside world calls it, your workflow runs — the reverse of you calling an 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Event happens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submits the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HTTP request to your URL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website POSTs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Workflow runs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n8n receives the data as its 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28800"/>
            <a:ext cx="242544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28800"/>
            <a:ext cx="2242566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Respond to 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your reply returns to the caller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Push, not pull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 polling and no schedule — the caller notifies you the moment something happens.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Any caller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Websites, payment providers, forms, CRMs, mobile apps — anything that can send an HTTP request.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paired node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Webhook node starts the workflow; Respond to Webhook sends the answer back on the same connection.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 webhook is the reverse of an API call — the outside world calls YOU when an event happens.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Nodes in n8n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web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121" y="1737360"/>
            <a:ext cx="8823278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6421" y="1724660"/>
            <a:ext cx="8848678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Webhook node starts the workflow when it is called; Respond to Webhook returns data to the caller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vs HTTP Request — Which Way the Call Goes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Both are plain HTTP. The only difference is who dials.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WEBHOOK — inbound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external service calls YOUR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react the moment the event happens.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the TRIGGER — always the first node.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Labs 2–5: the lab website calls your agent.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HTTP REQUEST — outbound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YOUR workflow calls an external service.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You pull the data at a moment you choose.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It is an ACTION inside the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Use it to reach any API with no dedicated n8n node.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Same HTTP underneath — a webhook receives a call, an HTTP Request makes 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HTTP Request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8n-http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15" y="1737360"/>
            <a:ext cx="1016248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86815" y="1724660"/>
            <a:ext cx="10187889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HTTP Request node calls out to any API — the outbound counterpart to an inbound webhook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Methods on a Webhook — GET vs POST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method is part of the contract with the caller: where the data rides, and what the call means.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GET — read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URL query string: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?email=alice@corp.com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 browser can call it just by visiting the URL.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$json.query.email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 dashboard pulling data to display.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POST — send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data rides in the request body as JSON: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200">
                <a:solidFill>
                  <a:srgbClr val="161B26"/>
                </a:solidFill>
                <a:latin typeface="Arial"/>
              </a:rPr>
              <a:t>{ "message": "How much is the course?" }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what a web form or a chat widget sends.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Read it in n8n as {{ $json.body.message }}.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Labs 2–5, where the site submits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 reads, POST sends. Set the method on the Webhook node — and the caller must match it exactly.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Webhook Test URL vs Production URL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Every Webhook node gives you TWO URLs. They behave differently, and confusing them is the single most common webhook bug.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TEST URL —  /webhook-test/…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Works only while you have clicked 'Listen for test event'.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Handles exactly ONE call, then stops listening.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The run appears live on the canvas — ideal for debugging.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Dies the moment you leave the editor.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PRODUCTION URL —  /webhook/…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Requires the workflow to be toggled Active.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Always on — every call starts a run.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Runs are logged under Executions, not drawn on the canvas.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This is the URL you give to a website, an app or a QR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Your website must call the PRODUCTION URL of an ACTIVE workflow — the Test URL is spent after one request.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Configuring the Webhook 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Four settings decide whether the browser's call actually succeeds.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Method +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GET or POST, and the path that ends your URL — for example POST /webhook/marina-trust-onboarding.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Allowed Origins (CORS)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Browsers block cross-site calls unless you allow them. Set * in class so a local HTML page can call n8n; never leave * in production.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Response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Immediately (a bare acknowledgement), when the workflow finishes, or via a Respond to Webhook node — every lab here uses the last 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Authentication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None for a classroom demo; Basic, Header or JWT for anything real. A public URL is a public door, and every call costs you model tokens.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'Failed to fetch' in the browser is almost always CORS or a dead Test URL — check those two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1 · n8n AND AI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Structured Output — Making an Agent's Answer Usable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By default an agent returns a paragraph of prose. Prose cannot be branched on, sorted, counted or coloured.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Attach an Output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Structured Output Parser forces named fields instead of free text — Labs 2 and 4 both use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Name the fields you will act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2 returns decision, reason and riskFlags. The website colours its result card from decision 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Enumerate the allowed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APPROVED / REJECTED / REVIEW / DUPLICATE. A closed list is what makes an IF node reliable.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Everything downstream depends on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IF node routes on it, a Sheets node logs it, and a queue is sorted by it. Prose supports none of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If something downstream must act on the answer, make the answer a field — not a sentence.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1 — n8n Trigger and Action (Event Flyer with QR Code)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Build your first n8n workflow end to end: a Form Trigger collects a visitor's details and a Gmail action emails them to the event administrator.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Form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visitor submits the sign-up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1847088"/>
            <a:ext cx="5161788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1364" y="1847088"/>
            <a:ext cx="497890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Gmail — Send a message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administrator is emailed</a:t>
            </a:r>
          </a:p>
        </p:txBody>
      </p:sp>
      <p:pic>
        <p:nvPicPr>
          <p:cNvPr id="12" name="Picture 11" descr="canvas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6" y="2798064"/>
            <a:ext cx="5904519" cy="2706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29516" y="2785364"/>
            <a:ext cx="592991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1 workflow on the n8n canvas. Two nodes: the Form Trigger decides WHEN the workflow runs, and the Gmail node decides WHAT it does.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n8n Trigger and Action (Event Flyer with QR Code)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Form Trigger  →  Gmail (Send a message)  ·  full click-by-click steps in the Learner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finished Lab 1 workflow on the n8n canvas — the Form Trigger fires on each submission and the Gmail node sends the details to the administrator.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pic>
        <p:nvPicPr>
          <p:cNvPr id="7" name="Picture 6" descr="site-la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96896"/>
            <a:ext cx="5486400" cy="23042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84196"/>
            <a:ext cx="5511800" cy="232968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1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sample event flyer from a previous class. The QR code encodes the form's Production URL, so anyone can sign up by scanning it with a phone.</a:t>
            </a:r>
          </a:p>
        </p:txBody>
      </p:sp>
      <p:pic>
        <p:nvPicPr>
          <p:cNvPr id="7" name="Picture 6" descr="site-lab1-fly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205990"/>
            <a:ext cx="5486400" cy="3086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93290"/>
            <a:ext cx="5511800" cy="31115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1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 — n8n Trigger and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Scan the QR code on your flyer with your phone, submit the form, and confirm the administrator's inbox receives the email with the details you typed. A reference solution is provided as labs/lab1-trigger-actions/lab-trigger-actions.json — build yours by hand first, then import it to compare.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Triggers and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trigger decides when a workflow runs; an action decides what it does.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Expressions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Expressions such as {{ $json.Name }} carry data from one node to the next.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Test vs Production URL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Test URL works only while you are listening; the Production URL works once the workflow is Active.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1 — you can now build an automated workflow in n8n using a trigger and an 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n8n AND AI AGENTS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Lab 2 — Webhook and AI Agent (Marina Trust Bank Onboarding)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Replace the n8n form with a real bank website that POSTs to a webhook, where an AI Agent applies the bank's onboarding rules using three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bank site submits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Set node tidies the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+ 3 tools + parser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Decision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Google Sheets audit 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decision returns to the page</a:t>
            </a:r>
          </a:p>
        </p:txBody>
      </p:sp>
      <p:pic>
        <p:nvPicPr>
          <p:cNvPr id="21" name="Picture 20" descr="canvas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49" y="2798064"/>
            <a:ext cx="8827054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68249" y="2785364"/>
            <a:ext cx="8852454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2 workflow on the n8n canvas. The main chain runs left to right; the chat model, output parser and three tools hang below the agent on its Tool input.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Webhook and AI Agent (Marina Trust Bank Onboarding)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 →  Normalise  →  AI Agent (+3 tools)  →  Log Decision  →  Respond to Website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2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Marina Trust Bank site the webhook sits behind. The applicant submits here, the AI Agent decides, and the page renders the decision as a coloured card.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pic>
        <p:nvPicPr>
          <p:cNvPr id="7" name="Picture 6" descr="site-la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548890"/>
            <a:ext cx="5486400" cy="2400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536190"/>
            <a:ext cx="5511800" cy="24257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2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 — Webhook and AI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TC1 (a new applicant) and confirm a green APPROVED card, a new row in the Customers sheet and a confirmation email. Then run TC2 (an already-seeded NRIC) and confirm an amber DUPLICATE card with no new row.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Webhooks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webhook lets any external system — your website, an app, a CRM — start an agent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Tools make an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Tools are what turn an LLM into an agent: it decides when to look up a customer and when to create 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Structured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Structured output (decision, reason, riskFlags) is what lets downstream nodes branch, log and colour a result.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The front door is separate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is unchanged from a form-triggered version — only the front door differs.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2 — you can now deploy an AI agent that is triggered by a webhook from an external website.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Agentic Chatbot and Human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Agentic workflows · Chatbots on webhooks · Approval gates ·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Applied in Lab 3, 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Three levels of human oversight. The design question is which one this particular process deserves.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Human IN the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workflow PAUSES and a named person must approve before the action happens. Nothing reaches the customer unauthorised. This is Lab 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Human ON the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agent acts immediately, but a person monitors and can intervene or reverse it. Suited to high volume and low individual risk.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Human OUT of the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287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Fully autonomous. Acceptable only where an error is cheap, reversible and detectable — never where money or a regulator is involved.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question is never 'is the model good enough?' but 'what does one bad output cost, and who answers for it?'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an Approval Suspends a Running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Send-and-Wait node stops the execution mid-flight and holds it until a person decides.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Event arrives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client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Agent drafts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classify, flag, propose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Draft is logged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Human decides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or Decline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28800"/>
            <a:ext cx="1878177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28800"/>
            <a:ext cx="1695297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Only then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and log the 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execution really is paused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Look at the canvas and the run is sitting on the approval node. It waits days if it has to — n8n holds the state.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Approve and Decline are just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email carries two URLs. Clicking one resumes the execution down that branch — no app for the approver to learn.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decline is a reassignment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Declining is not deleting. The ticket moves to a named person, because someone still owes the client an answer.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agent may do everything except the one thing that matters. That pause is the whole control.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Put a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tests. If a process meets any one of them, it needs an approval gate.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Money moves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Payments, refunds, credit and lending decisions — anything with a direct financial consequence.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It is a regulated communication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licensed firm writing to a client about their money, health or legal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The action is irreversible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sent email, a deleted record or published content cannot be recalled.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A person is vulnerable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Distress, illness, bereavement, or savings that someone cannot afford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stakes exceed the error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2% error rate is fine for tagging tickets and unacceptable for approving loans.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Someone must be accountable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regulator asks which licensed person is answerable — not what the machine decided.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Automate the drafting, not the deciding, wherever any of these six is true.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TOPIC 2 · AGENTIC CHATBOT &amp; HITL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— Two Gates Around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Instructions shape what the agent intends. Guardrails check what actually goes in and comes 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INPUT GUARDRAIL — before the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Screen the incoming message before the model ever sees it.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Block prompt injection: 'ignore your instructions and…'.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Strip or reject personal data you must not process.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Rate-limit and authenticate — a public webhook is a public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OUTPUT GUARDRAIL — after the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Check the reply before it reaches a human being.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Look for the phrases you have banned: guarantees, forecasts, advice.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Validate the structured fields against the values you allow.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On any doubt, route to a person rather than sending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Defence in depth: the same rule in the prompt AND in the workflow — only one of the two runs on a machine you control.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(Investment Advisor)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 compliance-bound chatbot for an investment advisory firm: no answer until the firm can contact the visitor, and never any financial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Chat 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widget sends a message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Normalize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Code node shapes the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Gemini 2.5 Flash, temp 0.2 + memory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 to Chat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reply returns to the widget</a:t>
            </a:r>
          </a:p>
        </p:txBody>
      </p:sp>
      <p:pic>
        <p:nvPicPr>
          <p:cNvPr id="18" name="Picture 17" descr="canvas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981" y="2798064"/>
            <a:ext cx="7730989" cy="2706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16281" y="2785364"/>
            <a:ext cx="7756389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Lab 3 workflow on the n8n canvas. A small graph: webhook in, normalise, the agent with its chat model and session memory, then the reply back 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Chatbot Webhook (Investment Advisor)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Chat Webhook  →  Normalize  →  AI Agent (+ model + memory)  →  Respond to Chat  ·  full click-by-click steps in the Learner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3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Investment Advisor site with the chat widget open. Note the contact gate in action — it asks for the visitor's name before it will answer anything.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pic>
        <p:nvPicPr>
          <p:cNvPr id="7" name="Picture 6" descr="site-la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3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— Chatbot Webhook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Ask 'Can you guarantee returns?' and 'Which stock should I buy?'. The agent must decline both and offer a consultation. Then ask a question before giving your details — it must ask for the missing detail and answer nothing.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system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agentic chatbot's system message is a compliance control, not just a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Defence in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same rule enforced in the browser and in the agent is deliberate redundancy — only one of them runs on a machine you control.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Session-keyed memory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Session-keyed memory gives context to follow-up questions without leaking between visitors.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Prompt or RAG?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fixed FAQ belongs in the prompt; RAG is for knowledge too large or too changeable for that.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3 — you can now deploy an agentic chatbot on a website that operates within regulatory limits.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AGENTIC CHATBOT &amp; HITL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(Client Rapport Assistant)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agent reads a worried client's concern, flags compliance risks and drafts a reply — but sends nothing until a licensed manager approves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client sends a 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classify · flag · draft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Log Draft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before any human sees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RM Approval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Send &amp; Wait — PAUSED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IF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Approve → send · Decline → reassign</a:t>
            </a:r>
          </a:p>
        </p:txBody>
      </p:sp>
      <p:pic>
        <p:nvPicPr>
          <p:cNvPr id="21" name="Picture 20" descr="canvas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892" y="2798064"/>
            <a:ext cx="8759167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702192" y="2785364"/>
            <a:ext cx="8784567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Everything up to RM Approval is the agent's territory; the IF node after it splits into the approved path (top) and the reassignment path (bottom).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Human in the Loop (Client Rapport Assistant)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Webhook → Agent → Acknowledge → Log Draft → RM Approval (Send &amp; Wait) → IF → Send / Reassign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4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Meridian client portal. The widget states plainly that a licensed manager reviews every reply — the human-in-the-loop promise made visible to the client.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pic>
        <p:nvPicPr>
          <p:cNvPr id="7" name="Picture 6" descr="site-l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165985"/>
            <a:ext cx="5486400" cy="316611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153285"/>
            <a:ext cx="5511800" cy="319151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4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Run all eight rows of sample-queries.csv. When you are done Drafts has 8 rows, Approved_Replies has 5 and Handover_Queue has 3 — and no accountability column is empty.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approval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Send-and-Wait node pauses the workflow until a named person authorises the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Two separate 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Separating what the agent proposed from what a human approved is what makes the trail auditable.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142232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A decline reassigns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decline is a reassignment, not a deletion — someone must still owe the client an answer.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995928"/>
            <a:ext cx="5170932" cy="14904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4142232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41422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4151376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Keep the model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544568"/>
            <a:ext cx="4768596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most legally important sentence in a workflow should be the one the model cannot touch.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4 — you can now apply a human approval gate so no AI-drafted communication is sent unsupervised.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3794760"/>
            <a:ext cx="8503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Tokenization · Embeddings · Vector stores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8528" y="43434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Applied in 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For twenty short documents, pasting them all would genuinely work. The problem starts at two hundred.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Prompts have a ceiling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Add enough documents and you exceed the model's context window — the request simply fails.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Long prompts degrade quality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Models attend less reliably to the middle of a very long context. The answer is in there and is still missed.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849624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You pay for every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question re-sends every document, whether or not it was relevant to that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703320"/>
            <a:ext cx="5170932" cy="16733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8496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85876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Retrieval turns it around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4251960"/>
            <a:ext cx="4768596" cy="97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Fetch only the few documents that resemble the question, and send just those. Cheaper, shorter and more accurate.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RAG is not a bigger prompt — it is a smaller, better-chosen one.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RAG Pipeline — Ingest Once, Retrieve Every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Two separate workflows. You run ingestion once; retrieval runs on every single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Collect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source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3140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1468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2908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Split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into chunks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Embed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each chunk into a vector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11596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9924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 the vector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5592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the nearest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60052" y="212140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8380" y="1828800"/>
            <a:ext cx="1513332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89820" y="1828800"/>
            <a:ext cx="133045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Answer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from what came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320954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9903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Ingestion — run by hand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first workflow: list 20 brochures on Drive, download, split, embed, insert. A Manual Trigger, run once.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1960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02480" y="320954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248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139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Retrieval — runs per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076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Lab 5's second workflow: embed the question with the SAME model, find the nearest brochures, answer only from those.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1960" y="3063240"/>
            <a:ext cx="3349752" cy="2468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44840" y="320954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4840" y="320954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3752" y="321868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The models must 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3128" y="3611880"/>
            <a:ext cx="2947416" cy="1773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question embedded by one model cannot be compared against documents embedded by another. It fails silently, returning nonsense.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Ingest once, retrieve thousands of times — and use the identical embedding model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RAG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ag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283" y="1737360"/>
            <a:ext cx="8002954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66583" y="1724660"/>
            <a:ext cx="8028354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Retrieval finds the documents that resemble the question · Augmentation adds them to the prompt · Generation produces an answer grounded in what was retrieved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Chunking — the Biggest Lever on RAG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Most RAG projects fail quietly at chunking, not at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The 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right chunk is the smallest piece of text that still answers a question on its 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Too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brochure sliced into thirds separates the course name from its fee. Retrieval then finds one without the other.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Too large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Irrelevant text crowds the prompt and dilutes what actually matters.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Overlap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small overlap between chunks stops a sentence being cut in half at the boundary.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In Lab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 size 4000 with overlap 0 — one brochure becomes exactly one vector, so the fee is never separated from the course.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How many chunks come back. Too few misses the answer; too many dilutes the prompt with noise.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Tune the chunking before you blame the model — that is where the answer was lost.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Tokenization and Text Embedding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t-embed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77750"/>
            <a:ext cx="10332720" cy="32340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01700" y="2165050"/>
            <a:ext cx="10358120" cy="325942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Text is split into tokens, then an embedding model turns it into a vector — a list of numbers that places similar meanings close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Where the embeddings live, and whether they are still there tomorrow.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SIMPLE VECTOR STORE — built 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No account, no API key, no index to create.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Running RAG within ten minutes — this is what Lab 5 uses.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WIPED whenever n8n restarts.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learning, demos and prototypes.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1937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A REAL VECTOR DATABASE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40280"/>
            <a:ext cx="5193792" cy="3383280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441448"/>
            <a:ext cx="4645152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Pinecone, Supabase (pgvector), Qdrant, Weaviate.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An account, an index and a matching dimension to set up.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Persists, scales, and is shared across n8n instances.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•  </a:t>
            </a:r>
            <a:r>
              <a:rPr sz="1300">
                <a:solidFill>
                  <a:srgbClr val="161B26"/>
                </a:solidFill>
                <a:latin typeface="Arial"/>
              </a:rPr>
              <a:t>Right for: anything that goes into production.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Prototype on the in-memory store; move to a hosted database the moment anyone else depends on the answers.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Databases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ector-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1737360"/>
            <a:ext cx="7315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410460" y="1724660"/>
            <a:ext cx="7340600" cy="41402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 vector store holds the embeddings and finds the nearest neighbours to a question,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TOPIC 3 ·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Grounding an Agent Against Hallucination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An ungrounded model asked for a price will produce one. It will be plausible, it will be wrong, and the customer will quote it back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Always call the tool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Instruct the agent to search the documents before answering any factual question at 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10512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196596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Answer only from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359152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Every factual claim must trace to a retrieved document, not to the model's general knowledge.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294888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Give it permission to fail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'I don't have that in our course information' is a far better answer than a confident invention.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148584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294888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2948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30403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Name what it must never invent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697224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 fee, a date, a duration, a course code, an instructor's name, a discount.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632960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Hide the machinery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Never mention the vector store or that it is searching documents — the customer does not care.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486656"/>
            <a:ext cx="5170932" cy="11186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23660" y="4632960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463296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62572" y="4642104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Test the traps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1948" y="5035296"/>
            <a:ext cx="4768596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Ask about a course you do not run, a person who does not exist, and a discount never offered.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Grounding is an instruction problem as much as a retrieval one — retrieval finds it, the prompt makes it stick.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Ingestion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Cook &amp; Bake Academy's customer care team retypes the same answers all day, and every answer is already written in the course brochures.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Manual Trigger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you run ingestion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27985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6313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7753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Drive — list + download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 brochures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05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55386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6826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Splitter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 brochure = 1 chunk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6131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4459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5899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Embeddings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3072-dim vectors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520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3532" y="1847088"/>
            <a:ext cx="1878177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24972" y="1847088"/>
            <a:ext cx="169529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Vector Store — Insert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stored, ready to search</a:t>
            </a:r>
          </a:p>
        </p:txBody>
      </p:sp>
      <p:pic>
        <p:nvPicPr>
          <p:cNvPr id="21" name="Picture 20" descr="canvas-lab5-in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721" y="2798064"/>
            <a:ext cx="7757510" cy="2706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203021" y="2785364"/>
            <a:ext cx="7782910" cy="27320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04688"/>
            <a:ext cx="106344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ingestion workflow on the n8n canvas — run ONCE by hand. Twenty brochures are listed, downloaded, split, embedded and inserted into the vector store.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Ingestion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RAG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Answering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26464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The answering workflow on the n8n canvas — runs on EVERY question. The Query Data Tool and its embedding model hang below the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Webhook — POST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 visitor asks 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254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13582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5022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AI Agent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+ Query Data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11596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9924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1364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Retrieve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nearest brochures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7938" y="20482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86266" y="1847088"/>
            <a:ext cx="2425446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7706" y="1847088"/>
            <a:ext cx="224256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Respond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answer grounded in those</a:t>
            </a:r>
          </a:p>
        </p:txBody>
      </p:sp>
      <p:pic>
        <p:nvPicPr>
          <p:cNvPr id="18" name="Picture 17" descr="canvas-lab5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6162" y="2798064"/>
            <a:ext cx="7576628" cy="285292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293462" y="2785364"/>
            <a:ext cx="7602028" cy="2878328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5742432"/>
            <a:ext cx="10634472" cy="51206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4301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788152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RAG Customer Care Chatbot — Answering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6016752"/>
            <a:ext cx="9144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Ingestion: Drive → Split → Embed → Vector Store   ·   Answering: Webhook → Agent + Retriever → Respond  ·  full click-by-click steps in the Learner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LAB 5 ·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 — What You'll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93776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The Cook &amp; Bake Academy site with the course assistant open. Every answer it gives is grounded in the 20 brochures you ingested into the vector store.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•  </a:t>
            </a:r>
            <a:r>
              <a:rPr sz="140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pic>
        <p:nvPicPr>
          <p:cNvPr id="7" name="Picture 6" descr="site-la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034540"/>
            <a:ext cx="5486400" cy="3429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930900" y="2021840"/>
            <a:ext cx="5511800" cy="34544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 5 · VERIFY AND DEBRIEF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— RAG Customer Care Chatbot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TC1 must quote BAK-101's exact fee from the brochure. Then run the three hallucination probes: TC7 (a course that does not exist), TC8 (an instructor name no brochure contains) and TC9 (a discount that was never offered). Any confident answer to these is a failure, however fluent.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24323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RAG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retrieves the few documents that resemble the question instead of pasting everything into the prompt.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2286000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23660" y="24323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3660" y="243230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62572" y="2441448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Embeddings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1948" y="2834640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 embedding places similar meanings close together, so retrieval works even when no words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357225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Chunking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Chunking is the single biggest lever on RAG quality — the right chunk answers a question on its own.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425952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23660" y="3572256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3660" y="3572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2572" y="3581400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Match model and key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1948" y="3974592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The ingestion and retrieval embedding models must be identical, and the memory keys must match.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565904"/>
            <a:ext cx="5170932" cy="9204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471220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1220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4721352"/>
            <a:ext cx="4347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In-memory is temporary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" y="5114544"/>
            <a:ext cx="4768596" cy="22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n8n's Simple Vector Store is wiped when n8n restarts — fine for learning, unacceptable in production.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Lab 5 — you can now deploy a RAG application that grounds an agent in the organisation's own documents.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965960"/>
            <a:ext cx="9418320" cy="2926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965960"/>
            <a:ext cx="201168" cy="2926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2286000"/>
            <a:ext cx="8503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69748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5486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n8n and AI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trigger-and-action workflow and explained how an LLM agent differs from generative 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Webhook-triggered agents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Put an AI agent behind a real website, with tools, structured output and an audit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Agentic chatbots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a chatbot that collects contact details and refuses to give regulated advice.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Human in the loop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Paused a workflow on an approval gate so no drafted communication was sent unsupervised.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LO5 · RAG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Ingested 20 documents into a vector store and grounded a chatbot so it stopped inventing answers.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10607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Six moves that turn what you built this week into something your organisation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95681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Start with one painful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Pick something repetitive, high-volume and low-risk. Automate that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02480" y="195681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248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139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Map it before you build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Draw the trigger, the decisions and the actions on paper. The canvas comes second.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1960" y="1810512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44840" y="1956816"/>
            <a:ext cx="310896" cy="3108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4840" y="195681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3752" y="1965960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C3AED"/>
                </a:solidFill>
                <a:latin typeface="Arial"/>
              </a:rPr>
              <a:t>Decide where the human belongs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3128" y="2359152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Anything irreversible, regulated or expensive keeps an approval gate.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3963924"/>
            <a:ext cx="310896" cy="31089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59E0B"/>
                </a:solidFill>
                <a:latin typeface="Arial"/>
              </a:rPr>
              <a:t>Ground the agent in your own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RAG over your policies and documents beats a general model every time.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60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2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02480" y="3963924"/>
            <a:ext cx="310896" cy="310896"/>
          </a:xfrm>
          <a:prstGeom prst="ellipse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248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139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27A3E"/>
                </a:solidFill>
                <a:latin typeface="Arial"/>
              </a:rPr>
              <a:t>Log everything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076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You will need the audit trail long before you think you will.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61960" y="3817620"/>
            <a:ext cx="3349752" cy="17876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C6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44840" y="3963924"/>
            <a:ext cx="310896" cy="310896"/>
          </a:xfrm>
          <a:prstGeom prst="ellipse">
            <a:avLst/>
          </a:prstGeom>
          <a:solidFill>
            <a:srgbClr val="C6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4840" y="39639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3752" y="3973068"/>
            <a:ext cx="2526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62F2F"/>
                </a:solidFill>
                <a:latin typeface="Arial"/>
              </a:rPr>
              <a:t>Iterate with real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3128" y="4366260"/>
            <a:ext cx="2947416" cy="10927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61B26"/>
                </a:solidFill>
                <a:latin typeface="Arial"/>
              </a:rPr>
              <a:t>Test with the questions you fear, not the ones you hope for.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5779008"/>
            <a:ext cx="10634472" cy="42062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779008"/>
            <a:ext cx="1017727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The next process you automate is the one you were dreading this morning.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WE'RE HERE TO HELP — DURING AND AFTER THE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 portal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Short-answer questions covering the course knowledge.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1 hour. Hands-on n8n build tasks drawn from the five labs.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your completed answers at lms-tms.tertiaryinfotech.com.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432304"/>
            <a:ext cx="9144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86664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4792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is mandatory to take all three digital attendances for WSQ-funded courses.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1636" y="2432304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1636" y="2432304"/>
            <a:ext cx="91440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87668" y="286664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7668" y="286664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19188" y="2560320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QR code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91440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452170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64792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it with your mobile phone camera and submit your attendance.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31636" y="4087368"/>
            <a:ext cx="5180076" cy="141732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9144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87668" y="4521708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7668" y="452170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19188" y="4215384"/>
            <a:ext cx="397306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At least 75% attendance is required to be eligible for assessment and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AUTOMATING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1148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n8n instance running and keep building. The next process you automate is the one you were dreading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for Business Process Automation  ·  TGS-2024045801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